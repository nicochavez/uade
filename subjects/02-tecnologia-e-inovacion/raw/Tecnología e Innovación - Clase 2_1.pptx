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4" r:id="rId3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A62F07-F2CF-ED35-FD65-92D8D417E514}" v="1" dt="2026-08-18T19:03:05.60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-294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IOS MARIO RUBEN" userId="S::mariobarrios@uade.edu.ar::fc098f47-674c-4f01-a6db-213ca245e104" providerId="AD" clId="Web-{CFA62F07-F2CF-ED35-FD65-92D8D417E514}"/>
    <pc:docChg chg="delSld">
      <pc:chgData name="BARRIOS MARIO RUBEN" userId="S::mariobarrios@uade.edu.ar::fc098f47-674c-4f01-a6db-213ca245e104" providerId="AD" clId="Web-{CFA62F07-F2CF-ED35-FD65-92D8D417E514}" dt="2026-08-18T19:03:05.600" v="0"/>
      <pc:docMkLst>
        <pc:docMk/>
      </pc:docMkLst>
      <pc:sldChg chg="del">
        <pc:chgData name="BARRIOS MARIO RUBEN" userId="S::mariobarrios@uade.edu.ar::fc098f47-674c-4f01-a6db-213ca245e104" providerId="AD" clId="Web-{CFA62F07-F2CF-ED35-FD65-92D8D417E514}" dt="2026-08-18T19:03:05.600" v="0"/>
        <pc:sldMkLst>
          <pc:docMk/>
          <pc:sldMk cId="0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  <p:grpSp>
        <p:nvGrpSpPr>
          <p:cNvPr id="8" name="Group 7"/>
          <p:cNvGrpSpPr/>
          <p:nvPr/>
        </p:nvGrpSpPr>
        <p:grpSpPr>
          <a:xfrm>
            <a:off x="2388202" y="4331295"/>
            <a:ext cx="13558220" cy="1569660"/>
            <a:chOff x="1172584" y="1381459"/>
            <a:chExt cx="6779110" cy="104644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707886" cy="1046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6682" y="2081606"/>
            <a:ext cx="13554636" cy="2597973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651793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2345168" y="2088326"/>
            <a:ext cx="13558220" cy="1569660"/>
            <a:chOff x="1172584" y="1381459"/>
            <a:chExt cx="6779110" cy="104644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707886" cy="1046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345168" y="4331369"/>
            <a:ext cx="13558220" cy="1569660"/>
            <a:chOff x="1172584" y="1381459"/>
            <a:chExt cx="6779110" cy="104644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707886" cy="1046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0081" y="1807286"/>
            <a:ext cx="15509426" cy="2866074"/>
          </a:xfrm>
        </p:spPr>
        <p:txBody>
          <a:bodyPr anchor="b"/>
          <a:lstStyle>
            <a:lvl1pPr algn="ctr">
              <a:defRPr sz="96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8497" y="5650975"/>
            <a:ext cx="15469494" cy="2250281"/>
          </a:xfrm>
        </p:spPr>
        <p:txBody>
          <a:bodyPr anchor="t"/>
          <a:lstStyle>
            <a:lvl1pPr marL="0" indent="0" algn="ctr">
              <a:buNone/>
              <a:defRPr sz="3600">
                <a:solidFill>
                  <a:schemeClr val="tx2"/>
                </a:solidFill>
              </a:defRPr>
            </a:lvl1pPr>
            <a:lvl2pPr marL="81642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32844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 marL="244926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 marL="326568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lvl6pPr marL="408211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6pPr>
            <a:lvl7pPr marL="4898532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7pPr>
            <a:lvl8pPr marL="5714954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8pPr>
            <a:lvl9pPr marL="653137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2345168" y="2088326"/>
            <a:ext cx="13558220" cy="1569660"/>
            <a:chOff x="1172584" y="1381459"/>
            <a:chExt cx="6779110" cy="104644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707886" cy="1046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371600" y="3360420"/>
            <a:ext cx="7607808" cy="58155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9290302" y="3360420"/>
            <a:ext cx="7607808" cy="58155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3120" y="3360420"/>
            <a:ext cx="6884892" cy="987552"/>
          </a:xfrm>
        </p:spPr>
        <p:txBody>
          <a:bodyPr anchor="b"/>
          <a:lstStyle>
            <a:lvl1pPr marL="0" indent="0" algn="ctr">
              <a:buNone/>
              <a:defRPr sz="4300" b="0">
                <a:solidFill>
                  <a:schemeClr val="tx2"/>
                </a:solidFill>
              </a:defRPr>
            </a:lvl1pPr>
            <a:lvl2pPr marL="816422" indent="0">
              <a:buNone/>
              <a:defRPr sz="3600" b="1"/>
            </a:lvl2pPr>
            <a:lvl3pPr marL="1632844" indent="0">
              <a:buNone/>
              <a:defRPr sz="3200" b="1"/>
            </a:lvl3pPr>
            <a:lvl4pPr marL="2449266" indent="0">
              <a:buNone/>
              <a:defRPr sz="2900" b="1"/>
            </a:lvl4pPr>
            <a:lvl5pPr marL="3265688" indent="0">
              <a:buNone/>
              <a:defRPr sz="2900" b="1"/>
            </a:lvl5pPr>
            <a:lvl6pPr marL="4082110" indent="0">
              <a:buNone/>
              <a:defRPr sz="2900" b="1"/>
            </a:lvl6pPr>
            <a:lvl7pPr marL="4898532" indent="0">
              <a:buNone/>
              <a:defRPr sz="2900" b="1"/>
            </a:lvl7pPr>
            <a:lvl8pPr marL="5714954" indent="0">
              <a:buNone/>
              <a:defRPr sz="2900" b="1"/>
            </a:lvl8pPr>
            <a:lvl9pPr marL="6531376" indent="0">
              <a:buNone/>
              <a:defRPr sz="29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976" y="4421393"/>
            <a:ext cx="7607808" cy="4759452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04612" y="3360420"/>
            <a:ext cx="6894576" cy="987552"/>
          </a:xfrm>
        </p:spPr>
        <p:txBody>
          <a:bodyPr anchor="b"/>
          <a:lstStyle>
            <a:lvl1pPr marL="0" indent="0" algn="ctr">
              <a:buNone/>
              <a:defRPr sz="4300" b="0">
                <a:solidFill>
                  <a:schemeClr val="tx2"/>
                </a:solidFill>
              </a:defRPr>
            </a:lvl1pPr>
            <a:lvl2pPr marL="816422" indent="0">
              <a:buNone/>
              <a:defRPr sz="3600" b="1"/>
            </a:lvl2pPr>
            <a:lvl3pPr marL="1632844" indent="0">
              <a:buNone/>
              <a:defRPr sz="3200" b="1"/>
            </a:lvl3pPr>
            <a:lvl4pPr marL="2449266" indent="0">
              <a:buNone/>
              <a:defRPr sz="2900" b="1"/>
            </a:lvl4pPr>
            <a:lvl5pPr marL="3265688" indent="0">
              <a:buNone/>
              <a:defRPr sz="2900" b="1"/>
            </a:lvl5pPr>
            <a:lvl6pPr marL="4082110" indent="0">
              <a:buNone/>
              <a:defRPr sz="2900" b="1"/>
            </a:lvl6pPr>
            <a:lvl7pPr marL="4898532" indent="0">
              <a:buNone/>
              <a:defRPr sz="2900" b="1"/>
            </a:lvl7pPr>
            <a:lvl8pPr marL="5714954" indent="0">
              <a:buNone/>
              <a:defRPr sz="2900" b="1"/>
            </a:lvl8pPr>
            <a:lvl9pPr marL="6531376" indent="0">
              <a:buNone/>
              <a:defRPr sz="29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2" y="4416552"/>
            <a:ext cx="7599456" cy="4759452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  <p:grpSp>
        <p:nvGrpSpPr>
          <p:cNvPr id="14" name="Group 13"/>
          <p:cNvGrpSpPr/>
          <p:nvPr/>
        </p:nvGrpSpPr>
        <p:grpSpPr>
          <a:xfrm>
            <a:off x="2345168" y="2088326"/>
            <a:ext cx="13558220" cy="1569660"/>
            <a:chOff x="1172584" y="1381459"/>
            <a:chExt cx="6779110" cy="104644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707886" cy="1046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  <p:grpSp>
        <p:nvGrpSpPr>
          <p:cNvPr id="10" name="Group 9"/>
          <p:cNvGrpSpPr/>
          <p:nvPr/>
        </p:nvGrpSpPr>
        <p:grpSpPr>
          <a:xfrm>
            <a:off x="2345168" y="2088326"/>
            <a:ext cx="13558220" cy="1569660"/>
            <a:chOff x="1172584" y="1381459"/>
            <a:chExt cx="6779110" cy="104644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707886" cy="1046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9159" y="2517293"/>
            <a:ext cx="6844966" cy="2830382"/>
          </a:xfrm>
        </p:spPr>
        <p:txBody>
          <a:bodyPr anchor="b"/>
          <a:lstStyle>
            <a:lvl1pPr algn="l">
              <a:defRPr sz="50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003" y="839098"/>
            <a:ext cx="8233334" cy="8350148"/>
          </a:xfrm>
        </p:spPr>
        <p:txBody>
          <a:bodyPr anchor="ctr"/>
          <a:lstStyle>
            <a:lvl1pPr>
              <a:defRPr sz="4300"/>
            </a:lvl1pPr>
            <a:lvl2pPr>
              <a:defRPr sz="3900"/>
            </a:lvl2pPr>
            <a:lvl3pPr>
              <a:defRPr sz="3600"/>
            </a:lvl3pPr>
            <a:lvl4pPr>
              <a:defRPr sz="3200"/>
            </a:lvl4pPr>
            <a:lvl5pPr>
              <a:defRPr sz="29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69159" y="5405719"/>
            <a:ext cx="6823450" cy="3775934"/>
          </a:xfrm>
        </p:spPr>
        <p:txBody>
          <a:bodyPr>
            <a:normAutofit/>
          </a:bodyPr>
          <a:lstStyle>
            <a:lvl1pPr marL="0" indent="0">
              <a:buNone/>
              <a:defRPr sz="2900"/>
            </a:lvl1pPr>
            <a:lvl2pPr marL="816422" indent="0">
              <a:buNone/>
              <a:defRPr sz="2100"/>
            </a:lvl2pPr>
            <a:lvl3pPr marL="1632844" indent="0">
              <a:buNone/>
              <a:defRPr sz="1800"/>
            </a:lvl3pPr>
            <a:lvl4pPr marL="2449266" indent="0">
              <a:buNone/>
              <a:defRPr sz="1600"/>
            </a:lvl4pPr>
            <a:lvl5pPr marL="3265688" indent="0">
              <a:buNone/>
              <a:defRPr sz="1600"/>
            </a:lvl5pPr>
            <a:lvl6pPr marL="4082110" indent="0">
              <a:buNone/>
              <a:defRPr sz="1600"/>
            </a:lvl6pPr>
            <a:lvl7pPr marL="4898532" indent="0">
              <a:buNone/>
              <a:defRPr sz="1600"/>
            </a:lvl7pPr>
            <a:lvl8pPr marL="5714954" indent="0">
              <a:buNone/>
              <a:defRPr sz="1600"/>
            </a:lvl8pPr>
            <a:lvl9pPr marL="6531376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5463" y="7003228"/>
            <a:ext cx="15534042" cy="967094"/>
          </a:xfrm>
        </p:spPr>
        <p:txBody>
          <a:bodyPr anchor="b"/>
          <a:lstStyle>
            <a:lvl1pPr algn="ctr">
              <a:defRPr sz="50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4367584" y="1000448"/>
            <a:ext cx="9544312" cy="5397024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5700"/>
            </a:lvl1pPr>
            <a:lvl2pPr marL="816422" indent="0">
              <a:buNone/>
              <a:defRPr sz="5000"/>
            </a:lvl2pPr>
            <a:lvl3pPr marL="1632844" indent="0">
              <a:buNone/>
              <a:defRPr sz="4300"/>
            </a:lvl3pPr>
            <a:lvl4pPr marL="2449266" indent="0">
              <a:buNone/>
              <a:defRPr sz="3600"/>
            </a:lvl4pPr>
            <a:lvl5pPr marL="3265688" indent="0">
              <a:buNone/>
              <a:defRPr sz="3600"/>
            </a:lvl5pPr>
            <a:lvl6pPr marL="4082110" indent="0">
              <a:buNone/>
              <a:defRPr sz="3600"/>
            </a:lvl6pPr>
            <a:lvl7pPr marL="4898532" indent="0">
              <a:buNone/>
              <a:defRPr sz="3600"/>
            </a:lvl7pPr>
            <a:lvl8pPr marL="5714954" indent="0">
              <a:buNone/>
              <a:defRPr sz="3600"/>
            </a:lvl8pPr>
            <a:lvl9pPr marL="6531376" indent="0">
              <a:buNone/>
              <a:defRPr sz="3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978" y="7986459"/>
            <a:ext cx="15512528" cy="1207293"/>
          </a:xfrm>
        </p:spPr>
        <p:txBody>
          <a:bodyPr>
            <a:normAutofit/>
          </a:bodyPr>
          <a:lstStyle>
            <a:lvl1pPr marL="0" indent="0" algn="ctr">
              <a:buNone/>
              <a:defRPr sz="2900"/>
            </a:lvl1pPr>
            <a:lvl2pPr marL="816422" indent="0">
              <a:buNone/>
              <a:defRPr sz="2100"/>
            </a:lvl2pPr>
            <a:lvl3pPr marL="1632844" indent="0">
              <a:buNone/>
              <a:defRPr sz="1800"/>
            </a:lvl3pPr>
            <a:lvl4pPr marL="2449266" indent="0">
              <a:buNone/>
              <a:defRPr sz="1600"/>
            </a:lvl4pPr>
            <a:lvl5pPr marL="3265688" indent="0">
              <a:buNone/>
              <a:defRPr sz="1600"/>
            </a:lvl5pPr>
            <a:lvl6pPr marL="4082110" indent="0">
              <a:buNone/>
              <a:defRPr sz="1600"/>
            </a:lvl6pPr>
            <a:lvl7pPr marL="4898532" indent="0">
              <a:buNone/>
              <a:defRPr sz="1600"/>
            </a:lvl7pPr>
            <a:lvl8pPr marL="5714954" indent="0">
              <a:buNone/>
              <a:defRPr sz="1600"/>
            </a:lvl8pPr>
            <a:lvl9pPr marL="6531376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  <p:grpSp>
        <p:nvGrpSpPr>
          <p:cNvPr id="11" name="Group 10"/>
          <p:cNvGrpSpPr/>
          <p:nvPr/>
        </p:nvGrpSpPr>
        <p:grpSpPr>
          <a:xfrm>
            <a:off x="2345168" y="2088326"/>
            <a:ext cx="13558220" cy="1569660"/>
            <a:chOff x="1172584" y="1381459"/>
            <a:chExt cx="6779110" cy="104644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707886" cy="1046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533121" y="839098"/>
            <a:ext cx="3356386" cy="835014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977" y="1274782"/>
            <a:ext cx="11015834" cy="7535732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9188139" y="4228902"/>
            <a:ext cx="8220231" cy="1569660"/>
            <a:chOff x="1815339" y="1450709"/>
            <a:chExt cx="5480154" cy="784830"/>
          </a:xfrm>
        </p:grpSpPr>
        <p:sp>
          <p:nvSpPr>
            <p:cNvPr id="12" name="TextBox 11"/>
            <p:cNvSpPr txBox="1"/>
            <p:nvPr/>
          </p:nvSpPr>
          <p:spPr>
            <a:xfrm>
              <a:off x="4113731" y="1450709"/>
              <a:ext cx="943848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006BCC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1" i="0">
                <a:solidFill>
                  <a:srgbClr val="3D66C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006BCC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981" y="855234"/>
            <a:ext cx="15512526" cy="1581375"/>
          </a:xfrm>
          <a:prstGeom prst="rect">
            <a:avLst/>
          </a:prstGeom>
        </p:spPr>
        <p:txBody>
          <a:bodyPr vert="horz" lIns="163284" tIns="81642" rIns="163284" bIns="81642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8495" y="3372521"/>
            <a:ext cx="15491010" cy="5816723"/>
          </a:xfrm>
          <a:prstGeom prst="rect">
            <a:avLst/>
          </a:prstGeom>
        </p:spPr>
        <p:txBody>
          <a:bodyPr vert="horz" lIns="163284" tIns="81642" rIns="163284" bIns="81642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756" y="9242164"/>
            <a:ext cx="4267200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242164"/>
            <a:ext cx="5791200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lvl1pPr algn="ctr">
              <a:defRPr sz="2100">
                <a:solidFill>
                  <a:schemeClr val="tx2"/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s-AR" spc="110"/>
              <a:t>Tecnología</a:t>
            </a:r>
            <a:r>
              <a:rPr lang="es-AR" spc="-105"/>
              <a:t> </a:t>
            </a:r>
            <a:r>
              <a:rPr lang="es-AR" spc="85"/>
              <a:t>e</a:t>
            </a:r>
            <a:r>
              <a:rPr lang="es-AR" spc="-105"/>
              <a:t> </a:t>
            </a:r>
            <a:r>
              <a:rPr lang="es-AR" spc="110"/>
              <a:t>Innovación</a:t>
            </a:r>
            <a:endParaRPr lang="es-AR" spc="1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278528" y="9242164"/>
            <a:ext cx="4267200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lvl1pPr algn="r">
              <a:defRPr sz="21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</p:sldLayoutIdLst>
  <p:txStyles>
    <p:titleStyle>
      <a:lvl1pPr algn="ctr" defTabSz="1632844" rtl="0" eaLnBrk="1" latinLnBrk="0" hangingPunct="1">
        <a:spcBef>
          <a:spcPct val="0"/>
        </a:spcBef>
        <a:buNone/>
        <a:defRPr sz="96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53138" indent="-653138" algn="l" defTabSz="1632844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43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387917" indent="-653138" algn="l" defTabSz="1632844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39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2041055" indent="-653138" algn="l" defTabSz="1632844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3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2694193" indent="-571495" algn="l" defTabSz="1632844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3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3265688" indent="-571495" algn="l" defTabSz="1632844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9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3837184" indent="-489853" algn="l" defTabSz="1632844" rtl="0" eaLnBrk="1" latinLnBrk="0" hangingPunct="1">
        <a:spcBef>
          <a:spcPts val="714"/>
        </a:spcBef>
        <a:buClr>
          <a:schemeClr val="accent1"/>
        </a:buClr>
        <a:buFont typeface="Wingdings" pitchFamily="2" charset="2"/>
        <a:buChar char="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4408679" indent="-489853" algn="l" defTabSz="1632844" rtl="0" eaLnBrk="1" latinLnBrk="0" hangingPunct="1">
        <a:spcBef>
          <a:spcPts val="714"/>
        </a:spcBef>
        <a:buClr>
          <a:schemeClr val="accent1"/>
        </a:buClr>
        <a:buFont typeface="Wingdings" pitchFamily="2" charset="2"/>
        <a:buChar char="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980174" indent="-489853" algn="l" defTabSz="1632844" rtl="0" eaLnBrk="1" latinLnBrk="0" hangingPunct="1">
        <a:spcBef>
          <a:spcPts val="714"/>
        </a:spcBef>
        <a:buClr>
          <a:schemeClr val="accent1"/>
        </a:buClr>
        <a:buFont typeface="Wingdings" pitchFamily="2" charset="2"/>
        <a:buChar char="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670" indent="-489853" algn="l" defTabSz="1632844" rtl="0" eaLnBrk="1" latinLnBrk="0" hangingPunct="1">
        <a:spcBef>
          <a:spcPts val="714"/>
        </a:spcBef>
        <a:buClr>
          <a:schemeClr val="accent1"/>
        </a:buClr>
        <a:buFont typeface="Wingdings" pitchFamily="2" charset="2"/>
        <a:buChar char="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422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44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266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688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2110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532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54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376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0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10" Type="http://schemas.openxmlformats.org/officeDocument/2006/relationships/image" Target="../media/image21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4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4.png"/><Relationship Id="rId7" Type="http://schemas.openxmlformats.org/officeDocument/2006/relationships/image" Target="../media/image10.png"/><Relationship Id="rId12" Type="http://schemas.openxmlformats.org/officeDocument/2006/relationships/image" Target="../media/image5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0.png"/><Relationship Id="rId5" Type="http://schemas.openxmlformats.org/officeDocument/2006/relationships/image" Target="../media/image46.png"/><Relationship Id="rId10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5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5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56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7.png"/><Relationship Id="rId7" Type="http://schemas.openxmlformats.org/officeDocument/2006/relationships/image" Target="../media/image6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68.png"/><Relationship Id="rId4" Type="http://schemas.openxmlformats.org/officeDocument/2006/relationships/image" Target="../media/image45.png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7.png"/><Relationship Id="rId7" Type="http://schemas.openxmlformats.org/officeDocument/2006/relationships/image" Target="../media/image6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68.png"/><Relationship Id="rId4" Type="http://schemas.openxmlformats.org/officeDocument/2006/relationships/image" Target="../media/image45.png"/><Relationship Id="rId9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56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7.png"/><Relationship Id="rId4" Type="http://schemas.openxmlformats.org/officeDocument/2006/relationships/image" Target="../media/image7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67763" y="1100865"/>
            <a:ext cx="16520235" cy="9186134"/>
            <a:chOff x="1767763" y="1100865"/>
            <a:chExt cx="16520235" cy="91861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7763" y="2934293"/>
              <a:ext cx="7372349" cy="61245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7506" y="5301095"/>
              <a:ext cx="5380492" cy="49859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91230" y="3224007"/>
              <a:ext cx="2229683" cy="22296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67862" y="1243254"/>
              <a:ext cx="399157" cy="632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367862" y="1100865"/>
              <a:ext cx="399157" cy="6329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262039" y="997702"/>
            <a:ext cx="271589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95" dirty="0">
                <a:solidFill>
                  <a:srgbClr val="006BCC"/>
                </a:solidFill>
                <a:latin typeface="Trebuchet MS"/>
                <a:cs typeface="Trebuchet MS"/>
              </a:rPr>
              <a:t>Gestión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9645" y="993542"/>
            <a:ext cx="297243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85" dirty="0">
                <a:solidFill>
                  <a:srgbClr val="006BCC"/>
                </a:solidFill>
                <a:latin typeface="Trebuchet MS"/>
                <a:cs typeface="Trebuchet MS"/>
              </a:rPr>
              <a:t>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97247" y="993542"/>
            <a:ext cx="137414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4513" y="9380737"/>
            <a:ext cx="65595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45" dirty="0">
                <a:solidFill>
                  <a:srgbClr val="006BCC"/>
                </a:solidFill>
                <a:latin typeface="Trebuchet MS"/>
                <a:cs typeface="Trebuchet MS"/>
              </a:rPr>
              <a:t>UADE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698599"/>
            <a:ext cx="18287999" cy="380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795281" y="3917793"/>
            <a:ext cx="7176770" cy="3517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8940"/>
              </a:lnSpc>
              <a:spcBef>
                <a:spcPts val="110"/>
              </a:spcBef>
            </a:pPr>
            <a:r>
              <a:rPr sz="8500" b="1" spc="325" dirty="0">
                <a:solidFill>
                  <a:srgbClr val="3D66C7"/>
                </a:solidFill>
                <a:latin typeface="Tahoma"/>
                <a:cs typeface="Tahoma"/>
              </a:rPr>
              <a:t>Tecnología</a:t>
            </a:r>
            <a:endParaRPr sz="8500" dirty="0">
              <a:latin typeface="Tahoma"/>
              <a:cs typeface="Tahoma"/>
            </a:endParaRPr>
          </a:p>
          <a:p>
            <a:pPr marL="12700">
              <a:lnSpc>
                <a:spcPts val="8940"/>
              </a:lnSpc>
            </a:pPr>
            <a:r>
              <a:rPr sz="8500" b="1" spc="200" dirty="0">
                <a:solidFill>
                  <a:srgbClr val="3D66C7"/>
                </a:solidFill>
                <a:latin typeface="Tahoma"/>
                <a:cs typeface="Tahoma"/>
              </a:rPr>
              <a:t>e</a:t>
            </a:r>
            <a:r>
              <a:rPr sz="8500" b="1" spc="-14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8500" b="1" spc="35" dirty="0">
                <a:solidFill>
                  <a:srgbClr val="3D66C7"/>
                </a:solidFill>
                <a:latin typeface="Tahoma"/>
                <a:cs typeface="Tahoma"/>
              </a:rPr>
              <a:t>Innovación</a:t>
            </a:r>
            <a:endParaRPr sz="8500" dirty="0">
              <a:latin typeface="Tahoma"/>
              <a:cs typeface="Tahoma"/>
            </a:endParaRPr>
          </a:p>
          <a:p>
            <a:pPr marL="168275">
              <a:lnSpc>
                <a:spcPct val="100000"/>
              </a:lnSpc>
              <a:spcBef>
                <a:spcPts val="2220"/>
              </a:spcBef>
            </a:pPr>
            <a:r>
              <a:rPr sz="2500" spc="-25" dirty="0">
                <a:solidFill>
                  <a:srgbClr val="3D66C7"/>
                </a:solidFill>
                <a:latin typeface="Verdana"/>
                <a:cs typeface="Verdana"/>
              </a:rPr>
              <a:t>Clase</a:t>
            </a:r>
            <a:r>
              <a:rPr sz="2500" spc="-19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500" spc="-50" dirty="0">
                <a:solidFill>
                  <a:srgbClr val="3D66C7"/>
                </a:solidFill>
                <a:latin typeface="Verdana"/>
                <a:cs typeface="Verdana"/>
              </a:rPr>
              <a:t>2</a:t>
            </a:r>
            <a:endParaRPr sz="2500" dirty="0">
              <a:latin typeface="Verdana"/>
              <a:cs typeface="Verdana"/>
            </a:endParaRPr>
          </a:p>
          <a:p>
            <a:pPr marL="168275">
              <a:lnSpc>
                <a:spcPct val="100000"/>
              </a:lnSpc>
              <a:spcBef>
                <a:spcPts val="1385"/>
              </a:spcBef>
            </a:pPr>
            <a:r>
              <a:rPr lang="es-ES" sz="2500" dirty="0">
                <a:solidFill>
                  <a:srgbClr val="3D66C7"/>
                </a:solidFill>
                <a:latin typeface="Verdana"/>
                <a:cs typeface="Verdana"/>
              </a:rPr>
              <a:t>Ing. Mario Barrios</a:t>
            </a:r>
            <a:endParaRPr sz="25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4249" y="2127223"/>
            <a:ext cx="1087686" cy="16405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598633" y="2552700"/>
            <a:ext cx="7079615" cy="32410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ts val="8875"/>
              </a:lnSpc>
              <a:spcBef>
                <a:spcPts val="110"/>
              </a:spcBef>
            </a:pPr>
            <a:r>
              <a:rPr spc="325" dirty="0"/>
              <a:t>ENCUENTRE</a:t>
            </a:r>
          </a:p>
          <a:p>
            <a:pPr marL="12700" marR="508634" algn="ctr">
              <a:lnSpc>
                <a:spcPct val="74100"/>
              </a:lnSpc>
              <a:spcBef>
                <a:spcPts val="1315"/>
              </a:spcBef>
            </a:pPr>
            <a:r>
              <a:rPr spc="525" dirty="0"/>
              <a:t>LA </a:t>
            </a:r>
            <a:r>
              <a:rPr spc="475" dirty="0"/>
              <a:t>METÁFORA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6964" y="3110125"/>
            <a:ext cx="7073353" cy="57816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0400" y="3294666"/>
            <a:ext cx="407554" cy="4075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99988" y="3198104"/>
            <a:ext cx="8188010" cy="6006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0400" y="6192932"/>
            <a:ext cx="407554" cy="4075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99987" y="6096370"/>
            <a:ext cx="8188010" cy="6006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11183" y="1672973"/>
            <a:ext cx="831228" cy="1253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9689" y="4445775"/>
            <a:ext cx="2762249" cy="450532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567499" y="6815284"/>
            <a:ext cx="3001010" cy="2439035"/>
            <a:chOff x="4567499" y="6815284"/>
            <a:chExt cx="3001010" cy="2439035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58060" y="6815284"/>
              <a:ext cx="1272293" cy="18287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67499" y="7234805"/>
              <a:ext cx="1704974" cy="19621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63237" y="7291563"/>
              <a:ext cx="1704974" cy="196214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19645" y="3145145"/>
            <a:ext cx="460121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b="1" spc="95" dirty="0">
                <a:solidFill>
                  <a:srgbClr val="3D66C7"/>
                </a:solidFill>
                <a:latin typeface="Tahoma"/>
                <a:cs typeface="Tahoma"/>
              </a:rPr>
              <a:t>Unicornios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838200" y="1310504"/>
            <a:ext cx="5592445" cy="1322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290" dirty="0"/>
              <a:t>Empresas</a:t>
            </a: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47897" y="4168332"/>
            <a:ext cx="85725" cy="857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866923" y="4025521"/>
            <a:ext cx="7028180" cy="9588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25"/>
              </a:spcBef>
            </a:pPr>
            <a:r>
              <a:rPr sz="2000" spc="135" dirty="0">
                <a:solidFill>
                  <a:srgbClr val="3D66C7"/>
                </a:solidFill>
                <a:latin typeface="Tahoma"/>
                <a:cs typeface="Tahoma"/>
              </a:rPr>
              <a:t>Las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80" dirty="0">
                <a:solidFill>
                  <a:srgbClr val="3D66C7"/>
                </a:solidFill>
                <a:latin typeface="Tahoma"/>
                <a:cs typeface="Tahoma"/>
              </a:rPr>
              <a:t>empresas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3D66C7"/>
                </a:solidFill>
                <a:latin typeface="Tahoma"/>
                <a:cs typeface="Tahoma"/>
              </a:rPr>
              <a:t>unicornio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70" dirty="0">
                <a:solidFill>
                  <a:srgbClr val="3D66C7"/>
                </a:solidFill>
                <a:latin typeface="Tahoma"/>
                <a:cs typeface="Tahoma"/>
              </a:rPr>
              <a:t>son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3D66C7"/>
                </a:solidFill>
                <a:latin typeface="Tahoma"/>
                <a:cs typeface="Tahoma"/>
              </a:rPr>
              <a:t>startups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3D66C7"/>
                </a:solidFill>
                <a:latin typeface="Tahoma"/>
                <a:cs typeface="Tahoma"/>
              </a:rPr>
              <a:t>tecnológicas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90" dirty="0">
                <a:solidFill>
                  <a:srgbClr val="3D66C7"/>
                </a:solidFill>
                <a:latin typeface="Tahoma"/>
                <a:cs typeface="Tahoma"/>
              </a:rPr>
              <a:t>que </a:t>
            </a:r>
            <a:r>
              <a:rPr sz="2000" spc="165" dirty="0">
                <a:solidFill>
                  <a:srgbClr val="3D66C7"/>
                </a:solidFill>
                <a:latin typeface="Tahoma"/>
                <a:cs typeface="Tahoma"/>
              </a:rPr>
              <a:t>alcanzan</a:t>
            </a:r>
            <a:r>
              <a:rPr sz="2000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00" dirty="0">
                <a:solidFill>
                  <a:srgbClr val="3D66C7"/>
                </a:solidFill>
                <a:latin typeface="Tahoma"/>
                <a:cs typeface="Tahoma"/>
              </a:rPr>
              <a:t>una</a:t>
            </a:r>
            <a:r>
              <a:rPr sz="2000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3D66C7"/>
                </a:solidFill>
                <a:latin typeface="Tahoma"/>
                <a:cs typeface="Tahoma"/>
              </a:rPr>
              <a:t>valoración</a:t>
            </a:r>
            <a:r>
              <a:rPr sz="2000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20" dirty="0">
                <a:solidFill>
                  <a:srgbClr val="3D66C7"/>
                </a:solidFill>
                <a:latin typeface="Tahoma"/>
                <a:cs typeface="Tahoma"/>
              </a:rPr>
              <a:t>más</a:t>
            </a:r>
            <a:r>
              <a:rPr sz="2000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-160" dirty="0">
                <a:solidFill>
                  <a:srgbClr val="3D66C7"/>
                </a:solidFill>
                <a:latin typeface="Verdana"/>
                <a:cs typeface="Verdana"/>
              </a:rPr>
              <a:t>1.000</a:t>
            </a:r>
            <a:r>
              <a:rPr sz="2000" spc="-15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D66C7"/>
                </a:solidFill>
                <a:latin typeface="Verdana"/>
                <a:cs typeface="Verdana"/>
              </a:rPr>
              <a:t>millones</a:t>
            </a:r>
            <a:r>
              <a:rPr sz="2000" spc="-1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3D66C7"/>
                </a:solidFill>
                <a:latin typeface="Verdana"/>
                <a:cs typeface="Verdana"/>
              </a:rPr>
              <a:t>de </a:t>
            </a:r>
            <a:r>
              <a:rPr sz="2000" spc="-10" dirty="0">
                <a:solidFill>
                  <a:srgbClr val="3D66C7"/>
                </a:solidFill>
                <a:latin typeface="Verdana"/>
                <a:cs typeface="Verdana"/>
              </a:rPr>
              <a:t>dólares</a:t>
            </a:r>
            <a:r>
              <a:rPr sz="2000" spc="-1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D66C7"/>
                </a:solidFill>
                <a:latin typeface="Verdana"/>
                <a:cs typeface="Verdana"/>
              </a:rPr>
              <a:t>antes</a:t>
            </a:r>
            <a:r>
              <a:rPr sz="2000" spc="-1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2000" spc="-1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D66C7"/>
                </a:solidFill>
                <a:latin typeface="Verdana"/>
                <a:cs typeface="Verdana"/>
              </a:rPr>
              <a:t>cotizar</a:t>
            </a:r>
            <a:r>
              <a:rPr sz="2000" spc="-1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D66C7"/>
                </a:solidFill>
                <a:latin typeface="Verdana"/>
                <a:cs typeface="Verdana"/>
              </a:rPr>
              <a:t>en</a:t>
            </a:r>
            <a:r>
              <a:rPr sz="2000" spc="-1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D66C7"/>
                </a:solidFill>
                <a:latin typeface="Verdana"/>
                <a:cs typeface="Verdana"/>
              </a:rPr>
              <a:t>bolsa</a:t>
            </a:r>
            <a:r>
              <a:rPr sz="2000" spc="-14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D66C7"/>
                </a:solidFill>
                <a:latin typeface="Verdana"/>
                <a:cs typeface="Verdana"/>
              </a:rPr>
              <a:t>o</a:t>
            </a:r>
            <a:r>
              <a:rPr sz="2000" spc="-1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3D66C7"/>
                </a:solidFill>
                <a:latin typeface="Verdana"/>
                <a:cs typeface="Verdana"/>
              </a:rPr>
              <a:t>ser</a:t>
            </a:r>
            <a:r>
              <a:rPr sz="2000" spc="-1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D66C7"/>
                </a:solidFill>
                <a:latin typeface="Verdana"/>
                <a:cs typeface="Verdana"/>
              </a:rPr>
              <a:t>adquiridas</a:t>
            </a:r>
            <a:r>
              <a:rPr sz="2000" spc="-10" dirty="0">
                <a:solidFill>
                  <a:srgbClr val="3D66C7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99988" y="3198104"/>
            <a:ext cx="8188325" cy="6007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680"/>
              </a:spcBef>
            </a:pPr>
            <a:r>
              <a:rPr sz="2500" b="1" spc="60" dirty="0">
                <a:solidFill>
                  <a:srgbClr val="FFFFFF"/>
                </a:solidFill>
                <a:latin typeface="Tahoma"/>
                <a:cs typeface="Tahoma"/>
              </a:rPr>
              <a:t>Definición</a:t>
            </a:r>
            <a:endParaRPr sz="25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47897" y="7066599"/>
            <a:ext cx="85725" cy="857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47897" y="7380924"/>
            <a:ext cx="85725" cy="857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47897" y="7695249"/>
            <a:ext cx="85725" cy="857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47897" y="8009574"/>
            <a:ext cx="85725" cy="8572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099987" y="6096370"/>
            <a:ext cx="8188325" cy="6007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680"/>
              </a:spcBef>
            </a:pPr>
            <a:r>
              <a:rPr sz="2500" b="1" spc="45" dirty="0">
                <a:solidFill>
                  <a:srgbClr val="FFFFFF"/>
                </a:solidFill>
                <a:latin typeface="Tahoma"/>
                <a:cs typeface="Tahoma"/>
              </a:rPr>
              <a:t>Características</a:t>
            </a:r>
            <a:r>
              <a:rPr sz="250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ahoma"/>
                <a:cs typeface="Tahoma"/>
              </a:rPr>
              <a:t>clave: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27700" y="1971857"/>
            <a:ext cx="271526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170" dirty="0">
                <a:solidFill>
                  <a:srgbClr val="3D66C7"/>
                </a:solidFill>
                <a:latin typeface="Tahoma"/>
                <a:cs typeface="Tahoma"/>
              </a:rPr>
              <a:t>¿Qué</a:t>
            </a:r>
            <a:r>
              <a:rPr sz="3800" b="1" spc="-1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120" dirty="0">
                <a:solidFill>
                  <a:srgbClr val="3D66C7"/>
                </a:solidFill>
                <a:latin typeface="Tahoma"/>
                <a:cs typeface="Tahoma"/>
              </a:rPr>
              <a:t>son?</a:t>
            </a:r>
            <a:endParaRPr sz="38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47897" y="8670609"/>
            <a:ext cx="85725" cy="8572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9866923" y="6892045"/>
            <a:ext cx="7712709" cy="196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80" dirty="0">
                <a:solidFill>
                  <a:srgbClr val="3D66C7"/>
                </a:solidFill>
                <a:latin typeface="Tahoma"/>
                <a:cs typeface="Tahoma"/>
              </a:rPr>
              <a:t>Crecimiento</a:t>
            </a:r>
            <a:r>
              <a:rPr sz="2000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55" dirty="0">
                <a:solidFill>
                  <a:srgbClr val="3D66C7"/>
                </a:solidFill>
                <a:latin typeface="Tahoma"/>
                <a:cs typeface="Tahoma"/>
              </a:rPr>
              <a:t>acelerado</a:t>
            </a:r>
            <a:r>
              <a:rPr sz="2000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50" spc="2085" dirty="0">
                <a:solidFill>
                  <a:srgbClr val="3D66C7"/>
                </a:solidFill>
                <a:latin typeface="Webdings"/>
                <a:cs typeface="Webdings"/>
              </a:rPr>
              <a:t>🚀</a:t>
            </a:r>
            <a:endParaRPr sz="2250" dirty="0">
              <a:latin typeface="Webdings"/>
              <a:cs typeface="Webdings"/>
            </a:endParaRPr>
          </a:p>
          <a:p>
            <a:pPr marL="12700">
              <a:lnSpc>
                <a:spcPts val="2315"/>
              </a:lnSpc>
              <a:spcBef>
                <a:spcPts val="25"/>
              </a:spcBef>
            </a:pPr>
            <a:r>
              <a:rPr sz="2000" spc="185" dirty="0">
                <a:solidFill>
                  <a:srgbClr val="3D66C7"/>
                </a:solidFill>
                <a:latin typeface="Tahoma"/>
                <a:cs typeface="Tahoma"/>
              </a:rPr>
              <a:t>Modelos</a:t>
            </a:r>
            <a:r>
              <a:rPr sz="2000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85" dirty="0">
                <a:solidFill>
                  <a:srgbClr val="3D66C7"/>
                </a:solidFill>
                <a:latin typeface="Tahoma"/>
                <a:cs typeface="Tahoma"/>
              </a:rPr>
              <a:t>negocio</a:t>
            </a:r>
            <a:r>
              <a:rPr sz="2000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55" dirty="0">
                <a:solidFill>
                  <a:srgbClr val="3D66C7"/>
                </a:solidFill>
                <a:latin typeface="Tahoma"/>
                <a:cs typeface="Tahoma"/>
              </a:rPr>
              <a:t>innovadores</a:t>
            </a:r>
            <a:r>
              <a:rPr sz="2000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250" dirty="0">
                <a:solidFill>
                  <a:srgbClr val="3D66C7"/>
                </a:solidFill>
                <a:latin typeface="Webdings"/>
                <a:cs typeface="Webdings"/>
              </a:rPr>
              <a:t>🧠</a:t>
            </a:r>
            <a:endParaRPr sz="2000" dirty="0">
              <a:latin typeface="Webdings"/>
              <a:cs typeface="Webdings"/>
            </a:endParaRPr>
          </a:p>
          <a:p>
            <a:pPr marL="12700">
              <a:lnSpc>
                <a:spcPts val="2500"/>
              </a:lnSpc>
            </a:pPr>
            <a:r>
              <a:rPr sz="2000" spc="175" dirty="0">
                <a:solidFill>
                  <a:srgbClr val="3D66C7"/>
                </a:solidFill>
                <a:latin typeface="Tahoma"/>
                <a:cs typeface="Tahoma"/>
              </a:rPr>
              <a:t>Uso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3D66C7"/>
                </a:solidFill>
                <a:latin typeface="Tahoma"/>
                <a:cs typeface="Tahoma"/>
              </a:rPr>
              <a:t>intensivo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3D66C7"/>
                </a:solidFill>
                <a:latin typeface="Tahoma"/>
                <a:cs typeface="Tahoma"/>
              </a:rPr>
              <a:t>tecnología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50" spc="2085" dirty="0">
                <a:solidFill>
                  <a:srgbClr val="3D66C7"/>
                </a:solidFill>
                <a:latin typeface="Webdings"/>
                <a:cs typeface="Webdings"/>
              </a:rPr>
              <a:t>💻</a:t>
            </a:r>
            <a:endParaRPr sz="2250" dirty="0">
              <a:latin typeface="Webdings"/>
              <a:cs typeface="Webdings"/>
            </a:endParaRPr>
          </a:p>
          <a:p>
            <a:pPr marL="12700">
              <a:lnSpc>
                <a:spcPts val="2590"/>
              </a:lnSpc>
            </a:pPr>
            <a:r>
              <a:rPr sz="2000" spc="180" dirty="0">
                <a:solidFill>
                  <a:srgbClr val="3D66C7"/>
                </a:solidFill>
                <a:latin typeface="Tahoma"/>
                <a:cs typeface="Tahoma"/>
              </a:rPr>
              <a:t>Financiamiento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35" dirty="0">
                <a:solidFill>
                  <a:srgbClr val="3D66C7"/>
                </a:solidFill>
                <a:latin typeface="Tahoma"/>
                <a:cs typeface="Tahoma"/>
              </a:rPr>
              <a:t>a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3D66C7"/>
                </a:solidFill>
                <a:latin typeface="Tahoma"/>
                <a:cs typeface="Tahoma"/>
              </a:rPr>
              <a:t>través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3D66C7"/>
                </a:solidFill>
                <a:latin typeface="Tahoma"/>
                <a:cs typeface="Tahoma"/>
              </a:rPr>
              <a:t>inversores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50" spc="1814" dirty="0">
                <a:solidFill>
                  <a:srgbClr val="3D66C7"/>
                </a:solidFill>
                <a:latin typeface="Webdings"/>
                <a:cs typeface="Webdings"/>
              </a:rPr>
              <a:t>💰</a:t>
            </a:r>
            <a:endParaRPr sz="2250" dirty="0">
              <a:latin typeface="Webdings"/>
              <a:cs typeface="Webdings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2000" dirty="0">
              <a:latin typeface="Webdings"/>
              <a:cs typeface="Webding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3D66C7"/>
                </a:solidFill>
                <a:latin typeface="Tahoma"/>
                <a:cs typeface="Tahoma"/>
              </a:rPr>
              <a:t>Ejemplos:</a:t>
            </a:r>
            <a:r>
              <a:rPr sz="2000" b="1" spc="-20" dirty="0">
                <a:solidFill>
                  <a:srgbClr val="3D66C7"/>
                </a:solidFill>
                <a:latin typeface="Tahoma"/>
                <a:cs typeface="Tahoma"/>
              </a:rPr>
              <a:t>  </a:t>
            </a:r>
            <a:r>
              <a:rPr sz="2000" spc="145" dirty="0">
                <a:solidFill>
                  <a:srgbClr val="3D66C7"/>
                </a:solidFill>
                <a:latin typeface="Tahoma"/>
                <a:cs typeface="Tahoma"/>
              </a:rPr>
              <a:t>Airbnb,</a:t>
            </a:r>
            <a:r>
              <a:rPr sz="2000" spc="-5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95" dirty="0">
                <a:solidFill>
                  <a:srgbClr val="3D66C7"/>
                </a:solidFill>
                <a:latin typeface="Tahoma"/>
                <a:cs typeface="Tahoma"/>
              </a:rPr>
              <a:t>Mercado</a:t>
            </a:r>
            <a:r>
              <a:rPr sz="2000" spc="-5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00" dirty="0">
                <a:solidFill>
                  <a:srgbClr val="3D66C7"/>
                </a:solidFill>
                <a:latin typeface="Tahoma"/>
                <a:cs typeface="Tahoma"/>
              </a:rPr>
              <a:t>Libre,</a:t>
            </a:r>
            <a:r>
              <a:rPr sz="2000" spc="-5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3D66C7"/>
                </a:solidFill>
                <a:latin typeface="Tahoma"/>
                <a:cs typeface="Tahoma"/>
              </a:rPr>
              <a:t>Tienda</a:t>
            </a:r>
            <a:r>
              <a:rPr sz="2000" spc="-5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3D66C7"/>
                </a:solidFill>
                <a:latin typeface="Tahoma"/>
                <a:cs typeface="Tahoma"/>
              </a:rPr>
              <a:t>Mía,</a:t>
            </a:r>
            <a:r>
              <a:rPr sz="2000" spc="-5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90" dirty="0">
                <a:solidFill>
                  <a:srgbClr val="3D66C7"/>
                </a:solidFill>
                <a:latin typeface="Tahoma"/>
                <a:cs typeface="Tahoma"/>
              </a:rPr>
              <a:t>Uber</a:t>
            </a:r>
            <a:r>
              <a:rPr sz="2000" spc="-5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2000" spc="-5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90" dirty="0">
                <a:solidFill>
                  <a:srgbClr val="3D66C7"/>
                </a:solidFill>
                <a:latin typeface="Tahoma"/>
                <a:cs typeface="Tahoma"/>
              </a:rPr>
              <a:t>Stripe.</a:t>
            </a:r>
            <a:endParaRPr sz="2000" dirty="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19645" y="1475218"/>
            <a:ext cx="5585955" cy="2539157"/>
          </a:xfrm>
          <a:prstGeom prst="rect">
            <a:avLst/>
          </a:prstGeom>
        </p:spPr>
        <p:txBody>
          <a:bodyPr vert="horz" wrap="square" lIns="0" tIns="349250" rIns="0" bIns="0" rtlCol="0">
            <a:spAutoFit/>
          </a:bodyPr>
          <a:lstStyle/>
          <a:p>
            <a:pPr marL="12700" marR="5080">
              <a:lnSpc>
                <a:spcPct val="74100"/>
              </a:lnSpc>
              <a:spcBef>
                <a:spcPts val="2750"/>
              </a:spcBef>
            </a:pPr>
            <a:r>
              <a:rPr spc="300" dirty="0"/>
              <a:t>Opinión </a:t>
            </a:r>
            <a:r>
              <a:rPr spc="285" dirty="0"/>
              <a:t>Pública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9239" y="5042193"/>
            <a:ext cx="407554" cy="4075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3829" y="4945631"/>
            <a:ext cx="8224169" cy="6006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82497" y="2410111"/>
            <a:ext cx="831228" cy="1253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8700" y="4535921"/>
            <a:ext cx="3686174" cy="49148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37810" y="4538384"/>
            <a:ext cx="3695699" cy="49148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74514" y="7765132"/>
            <a:ext cx="1009353" cy="9905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11740" y="5915859"/>
            <a:ext cx="85725" cy="857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11740" y="6544509"/>
            <a:ext cx="85725" cy="857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11740" y="7173159"/>
            <a:ext cx="85725" cy="857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830765" y="5773048"/>
            <a:ext cx="7383145" cy="190182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986155">
              <a:lnSpc>
                <a:spcPct val="103099"/>
              </a:lnSpc>
              <a:spcBef>
                <a:spcPts val="25"/>
              </a:spcBef>
            </a:pPr>
            <a:r>
              <a:rPr sz="2000" spc="160" dirty="0">
                <a:solidFill>
                  <a:srgbClr val="3D66C7"/>
                </a:solidFill>
                <a:latin typeface="Tahoma"/>
                <a:cs typeface="Tahoma"/>
              </a:rPr>
              <a:t>Escándalos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35" dirty="0">
                <a:solidFill>
                  <a:srgbClr val="3D66C7"/>
                </a:solidFill>
                <a:latin typeface="Tahoma"/>
                <a:cs typeface="Tahoma"/>
              </a:rPr>
              <a:t>controversias</a:t>
            </a:r>
            <a:r>
              <a:rPr sz="2000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-800" dirty="0">
                <a:solidFill>
                  <a:srgbClr val="3D66C7"/>
                </a:solidFill>
                <a:latin typeface="Tahoma"/>
                <a:cs typeface="Tahoma"/>
              </a:rPr>
              <a:t>→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lang="es-ES"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29" dirty="0" err="1">
                <a:solidFill>
                  <a:srgbClr val="3D66C7"/>
                </a:solidFill>
                <a:latin typeface="Tahoma"/>
                <a:cs typeface="Tahoma"/>
              </a:rPr>
              <a:t>Pueden</a:t>
            </a:r>
            <a:r>
              <a:rPr sz="2000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35" dirty="0">
                <a:solidFill>
                  <a:srgbClr val="3D66C7"/>
                </a:solidFill>
                <a:latin typeface="Tahoma"/>
                <a:cs typeface="Tahoma"/>
              </a:rPr>
              <a:t>erosionar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3D66C7"/>
                </a:solidFill>
                <a:latin typeface="Tahoma"/>
                <a:cs typeface="Tahoma"/>
              </a:rPr>
              <a:t>la </a:t>
            </a:r>
            <a:r>
              <a:rPr sz="2000" spc="155" dirty="0">
                <a:solidFill>
                  <a:srgbClr val="3D66C7"/>
                </a:solidFill>
                <a:latin typeface="Tahoma"/>
                <a:cs typeface="Tahoma"/>
              </a:rPr>
              <a:t>confianza</a:t>
            </a:r>
            <a:r>
              <a:rPr sz="20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3D66C7"/>
                </a:solidFill>
                <a:latin typeface="Tahoma"/>
                <a:cs typeface="Tahoma"/>
              </a:rPr>
              <a:t>los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3D66C7"/>
                </a:solidFill>
                <a:latin typeface="Tahoma"/>
                <a:cs typeface="Tahoma"/>
              </a:rPr>
              <a:t>inversores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3D66C7"/>
                </a:solidFill>
                <a:latin typeface="Tahoma"/>
                <a:cs typeface="Tahoma"/>
              </a:rPr>
              <a:t>afectar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3D66C7"/>
                </a:solidFill>
                <a:latin typeface="Tahoma"/>
                <a:cs typeface="Tahoma"/>
              </a:rPr>
              <a:t>cotización. </a:t>
            </a:r>
            <a:r>
              <a:rPr sz="2000" spc="140" dirty="0">
                <a:solidFill>
                  <a:srgbClr val="3D66C7"/>
                </a:solidFill>
                <a:latin typeface="Tahoma"/>
                <a:cs typeface="Tahoma"/>
              </a:rPr>
              <a:t>Innovaciones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3D66C7"/>
                </a:solidFill>
                <a:latin typeface="Tahoma"/>
                <a:cs typeface="Tahoma"/>
              </a:rPr>
              <a:t>éxito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90" dirty="0">
                <a:solidFill>
                  <a:srgbClr val="3D66C7"/>
                </a:solidFill>
                <a:latin typeface="Tahoma"/>
                <a:cs typeface="Tahoma"/>
              </a:rPr>
              <a:t>producto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-800" dirty="0">
                <a:solidFill>
                  <a:srgbClr val="3D66C7"/>
                </a:solidFill>
                <a:latin typeface="Tahoma"/>
                <a:cs typeface="Tahoma"/>
              </a:rPr>
              <a:t>→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lang="es-ES"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65" dirty="0" err="1">
                <a:solidFill>
                  <a:srgbClr val="3D66C7"/>
                </a:solidFill>
                <a:latin typeface="Tahoma"/>
                <a:cs typeface="Tahoma"/>
              </a:rPr>
              <a:t>Impulsan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00" dirty="0">
                <a:solidFill>
                  <a:srgbClr val="3D66C7"/>
                </a:solidFill>
                <a:latin typeface="Tahoma"/>
                <a:cs typeface="Tahoma"/>
              </a:rPr>
              <a:t>el </a:t>
            </a:r>
            <a:r>
              <a:rPr sz="2000" spc="180" dirty="0">
                <a:solidFill>
                  <a:srgbClr val="3D66C7"/>
                </a:solidFill>
                <a:latin typeface="Tahoma"/>
                <a:cs typeface="Tahoma"/>
              </a:rPr>
              <a:t>crecimiento</a:t>
            </a:r>
            <a:r>
              <a:rPr sz="20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20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3D66C7"/>
                </a:solidFill>
                <a:latin typeface="Tahoma"/>
                <a:cs typeface="Tahoma"/>
              </a:rPr>
              <a:t>refuerzan</a:t>
            </a:r>
            <a:r>
              <a:rPr sz="20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3D66C7"/>
                </a:solidFill>
                <a:latin typeface="Tahoma"/>
                <a:cs typeface="Tahoma"/>
              </a:rPr>
              <a:t>marca.</a:t>
            </a:r>
            <a:endParaRPr sz="2000" dirty="0">
              <a:latin typeface="Tahoma"/>
              <a:cs typeface="Tahoma"/>
            </a:endParaRPr>
          </a:p>
          <a:p>
            <a:pPr marL="12700" marR="5080">
              <a:lnSpc>
                <a:spcPct val="103099"/>
              </a:lnSpc>
            </a:pPr>
            <a:r>
              <a:rPr sz="2000" spc="175" dirty="0">
                <a:solidFill>
                  <a:srgbClr val="3D66C7"/>
                </a:solidFill>
                <a:latin typeface="Tahoma"/>
                <a:cs typeface="Tahoma"/>
              </a:rPr>
              <a:t>Regulación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60" dirty="0">
                <a:solidFill>
                  <a:srgbClr val="3D66C7"/>
                </a:solidFill>
                <a:latin typeface="Tahoma"/>
                <a:cs typeface="Tahoma"/>
              </a:rPr>
              <a:t>privacidad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-800" dirty="0">
                <a:solidFill>
                  <a:srgbClr val="3D66C7"/>
                </a:solidFill>
                <a:latin typeface="Tahoma"/>
                <a:cs typeface="Tahoma"/>
              </a:rPr>
              <a:t>→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lang="es-ES"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00" dirty="0" err="1">
                <a:solidFill>
                  <a:srgbClr val="3D66C7"/>
                </a:solidFill>
                <a:latin typeface="Tahoma"/>
                <a:cs typeface="Tahoma"/>
              </a:rPr>
              <a:t>Cambios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00" dirty="0">
                <a:solidFill>
                  <a:srgbClr val="3D66C7"/>
                </a:solidFill>
                <a:latin typeface="Tahoma"/>
                <a:cs typeface="Tahoma"/>
              </a:rPr>
              <a:t>en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25" dirty="0">
                <a:solidFill>
                  <a:srgbClr val="3D66C7"/>
                </a:solidFill>
                <a:latin typeface="Tahoma"/>
                <a:cs typeface="Tahoma"/>
              </a:rPr>
              <a:t>leyes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70" dirty="0">
                <a:solidFill>
                  <a:srgbClr val="3D66C7"/>
                </a:solidFill>
                <a:latin typeface="Tahoma"/>
                <a:cs typeface="Tahoma"/>
              </a:rPr>
              <a:t>o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3D66C7"/>
                </a:solidFill>
                <a:latin typeface="Tahoma"/>
                <a:cs typeface="Tahoma"/>
              </a:rPr>
              <a:t>filtraciones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60" dirty="0">
                <a:solidFill>
                  <a:srgbClr val="3D66C7"/>
                </a:solidFill>
                <a:latin typeface="Tahoma"/>
                <a:cs typeface="Tahoma"/>
              </a:rPr>
              <a:t>datos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5" dirty="0">
                <a:solidFill>
                  <a:srgbClr val="3D66C7"/>
                </a:solidFill>
                <a:latin typeface="Tahoma"/>
                <a:cs typeface="Tahoma"/>
              </a:rPr>
              <a:t>pueden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60" dirty="0">
                <a:solidFill>
                  <a:srgbClr val="3D66C7"/>
                </a:solidFill>
                <a:latin typeface="Tahoma"/>
                <a:cs typeface="Tahoma"/>
              </a:rPr>
              <a:t>generar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crisis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3D66C7"/>
                </a:solidFill>
                <a:latin typeface="Tahoma"/>
                <a:cs typeface="Tahoma"/>
              </a:rPr>
              <a:t>reputación.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63829" y="4945631"/>
            <a:ext cx="8224520" cy="6007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680"/>
              </a:spcBef>
            </a:pPr>
            <a:r>
              <a:rPr sz="2500" b="1" spc="65" dirty="0">
                <a:solidFill>
                  <a:srgbClr val="FFFFFF"/>
                </a:solidFill>
                <a:latin typeface="Tahoma"/>
                <a:cs typeface="Tahoma"/>
              </a:rPr>
              <a:t>Factores</a:t>
            </a:r>
            <a:r>
              <a:rPr sz="25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11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5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25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ahoma"/>
                <a:cs typeface="Tahoma"/>
              </a:rPr>
              <a:t>variación: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31077" y="2723263"/>
            <a:ext cx="7464425" cy="189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965"/>
              </a:lnSpc>
              <a:spcBef>
                <a:spcPts val="100"/>
              </a:spcBef>
            </a:pPr>
            <a:r>
              <a:rPr sz="3800" b="1" spc="105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3800" b="1" spc="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170" dirty="0">
                <a:solidFill>
                  <a:srgbClr val="3D66C7"/>
                </a:solidFill>
                <a:latin typeface="Tahoma"/>
                <a:cs typeface="Tahoma"/>
              </a:rPr>
              <a:t>percepción</a:t>
            </a:r>
            <a:r>
              <a:rPr sz="3800" b="1" spc="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150" dirty="0">
                <a:solidFill>
                  <a:srgbClr val="3D66C7"/>
                </a:solidFill>
                <a:latin typeface="Tahoma"/>
                <a:cs typeface="Tahoma"/>
              </a:rPr>
              <a:t>pública</a:t>
            </a:r>
            <a:r>
              <a:rPr sz="3800" b="1" spc="1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170" dirty="0">
                <a:solidFill>
                  <a:srgbClr val="3D66C7"/>
                </a:solidFill>
                <a:latin typeface="Tahoma"/>
                <a:cs typeface="Tahoma"/>
              </a:rPr>
              <a:t>puede</a:t>
            </a:r>
            <a:endParaRPr sz="3800" dirty="0">
              <a:latin typeface="Tahoma"/>
              <a:cs typeface="Tahoma"/>
            </a:endParaRPr>
          </a:p>
          <a:p>
            <a:pPr marL="12700">
              <a:lnSpc>
                <a:spcPts val="3375"/>
              </a:lnSpc>
            </a:pPr>
            <a:r>
              <a:rPr sz="3800" b="1" spc="145" dirty="0">
                <a:solidFill>
                  <a:srgbClr val="3D66C7"/>
                </a:solidFill>
                <a:latin typeface="Tahoma"/>
                <a:cs typeface="Tahoma"/>
              </a:rPr>
              <a:t>hacer</a:t>
            </a:r>
            <a:r>
              <a:rPr sz="3800" b="1" spc="-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185" dirty="0">
                <a:solidFill>
                  <a:srgbClr val="3D66C7"/>
                </a:solidFill>
                <a:latin typeface="Tahoma"/>
                <a:cs typeface="Tahoma"/>
              </a:rPr>
              <a:t>que</a:t>
            </a:r>
            <a:r>
              <a:rPr sz="3800" b="1" spc="-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90" dirty="0">
                <a:solidFill>
                  <a:srgbClr val="3D66C7"/>
                </a:solidFill>
                <a:latin typeface="Tahoma"/>
                <a:cs typeface="Tahoma"/>
              </a:rPr>
              <a:t>el</a:t>
            </a:r>
            <a:r>
              <a:rPr sz="3800" b="1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90" dirty="0">
                <a:solidFill>
                  <a:srgbClr val="3D66C7"/>
                </a:solidFill>
                <a:latin typeface="Tahoma"/>
                <a:cs typeface="Tahoma"/>
              </a:rPr>
              <a:t>valor</a:t>
            </a:r>
            <a:r>
              <a:rPr sz="3800" b="1" spc="-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204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3800" b="1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120" dirty="0">
                <a:solidFill>
                  <a:srgbClr val="3D66C7"/>
                </a:solidFill>
                <a:latin typeface="Tahoma"/>
                <a:cs typeface="Tahoma"/>
              </a:rPr>
              <a:t>una</a:t>
            </a:r>
            <a:endParaRPr sz="3800" dirty="0">
              <a:latin typeface="Tahoma"/>
              <a:cs typeface="Tahoma"/>
            </a:endParaRPr>
          </a:p>
          <a:p>
            <a:pPr marL="12700" marR="770255">
              <a:lnSpc>
                <a:spcPct val="74000"/>
              </a:lnSpc>
              <a:spcBef>
                <a:spcPts val="590"/>
              </a:spcBef>
            </a:pPr>
            <a:r>
              <a:rPr sz="3800" b="1" spc="155" dirty="0">
                <a:solidFill>
                  <a:srgbClr val="3D66C7"/>
                </a:solidFill>
                <a:latin typeface="Tahoma"/>
                <a:cs typeface="Tahoma"/>
              </a:rPr>
              <a:t>empresa</a:t>
            </a:r>
            <a:r>
              <a:rPr sz="3800" b="1" spc="-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135" dirty="0">
                <a:solidFill>
                  <a:srgbClr val="3D66C7"/>
                </a:solidFill>
                <a:latin typeface="Tahoma"/>
                <a:cs typeface="Tahoma"/>
              </a:rPr>
              <a:t>unicornio</a:t>
            </a:r>
            <a:r>
              <a:rPr sz="3800" b="1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150" dirty="0">
                <a:solidFill>
                  <a:srgbClr val="3D66C7"/>
                </a:solidFill>
                <a:latin typeface="Tahoma"/>
                <a:cs typeface="Tahoma"/>
              </a:rPr>
              <a:t>suba</a:t>
            </a:r>
            <a:r>
              <a:rPr sz="3800" b="1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110" dirty="0">
                <a:solidFill>
                  <a:srgbClr val="3D66C7"/>
                </a:solidFill>
                <a:latin typeface="Tahoma"/>
                <a:cs typeface="Tahoma"/>
              </a:rPr>
              <a:t>o </a:t>
            </a:r>
            <a:r>
              <a:rPr sz="3800" b="1" spc="150" dirty="0">
                <a:solidFill>
                  <a:srgbClr val="3D66C7"/>
                </a:solidFill>
                <a:latin typeface="Tahoma"/>
                <a:cs typeface="Tahoma"/>
              </a:rPr>
              <a:t>caiga</a:t>
            </a:r>
            <a:r>
              <a:rPr sz="3800" b="1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800" b="1" spc="114" dirty="0">
                <a:solidFill>
                  <a:srgbClr val="3D66C7"/>
                </a:solidFill>
                <a:latin typeface="Tahoma"/>
                <a:cs typeface="Tahoma"/>
              </a:rPr>
              <a:t>rápidamente.</a:t>
            </a:r>
            <a:endParaRPr sz="3800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99015" y="8767825"/>
            <a:ext cx="8846820" cy="9588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25"/>
              </a:spcBef>
            </a:pPr>
            <a:r>
              <a:rPr sz="2000" spc="22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4" dirty="0">
                <a:solidFill>
                  <a:srgbClr val="3D66C7"/>
                </a:solidFill>
                <a:latin typeface="Tahoma"/>
                <a:cs typeface="Tahoma"/>
              </a:rPr>
              <a:t>ser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25" dirty="0">
                <a:solidFill>
                  <a:srgbClr val="3D66C7"/>
                </a:solidFill>
                <a:latin typeface="Tahoma"/>
                <a:cs typeface="Tahoma"/>
              </a:rPr>
              <a:t>el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25" dirty="0">
                <a:solidFill>
                  <a:srgbClr val="3D66C7"/>
                </a:solidFill>
                <a:latin typeface="Tahoma"/>
                <a:cs typeface="Tahoma"/>
              </a:rPr>
              <a:t>“Rey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3D66C7"/>
                </a:solidFill>
                <a:latin typeface="Tahoma"/>
                <a:cs typeface="Tahoma"/>
              </a:rPr>
              <a:t>Tecnología”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00" dirty="0">
                <a:solidFill>
                  <a:srgbClr val="3D66C7"/>
                </a:solidFill>
                <a:latin typeface="Tahoma"/>
                <a:cs typeface="Tahoma"/>
              </a:rPr>
              <a:t>en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60" dirty="0">
                <a:solidFill>
                  <a:srgbClr val="3D66C7"/>
                </a:solidFill>
                <a:latin typeface="Tahoma"/>
                <a:cs typeface="Tahoma"/>
              </a:rPr>
              <a:t>portadas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00" dirty="0">
                <a:solidFill>
                  <a:srgbClr val="3D66C7"/>
                </a:solidFill>
                <a:latin typeface="Tahoma"/>
                <a:cs typeface="Tahoma"/>
              </a:rPr>
              <a:t>positivas,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35" dirty="0">
                <a:solidFill>
                  <a:srgbClr val="3D66C7"/>
                </a:solidFill>
                <a:latin typeface="Tahoma"/>
                <a:cs typeface="Tahoma"/>
              </a:rPr>
              <a:t>a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4" dirty="0">
                <a:solidFill>
                  <a:srgbClr val="3D66C7"/>
                </a:solidFill>
                <a:latin typeface="Tahoma"/>
                <a:cs typeface="Tahoma"/>
              </a:rPr>
              <a:t>ser</a:t>
            </a:r>
            <a:r>
              <a:rPr sz="20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3D66C7"/>
                </a:solidFill>
                <a:latin typeface="Tahoma"/>
                <a:cs typeface="Tahoma"/>
              </a:rPr>
              <a:t>señalado </a:t>
            </a:r>
            <a:r>
              <a:rPr sz="2000" spc="170" dirty="0">
                <a:solidFill>
                  <a:srgbClr val="3D66C7"/>
                </a:solidFill>
                <a:latin typeface="Tahoma"/>
                <a:cs typeface="Tahoma"/>
              </a:rPr>
              <a:t>por</a:t>
            </a:r>
            <a:r>
              <a:rPr sz="20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95" dirty="0">
                <a:solidFill>
                  <a:srgbClr val="3D66C7"/>
                </a:solidFill>
                <a:latin typeface="Tahoma"/>
                <a:cs typeface="Tahoma"/>
              </a:rPr>
              <a:t>temas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60" dirty="0">
                <a:solidFill>
                  <a:srgbClr val="3D66C7"/>
                </a:solidFill>
                <a:latin typeface="Tahoma"/>
                <a:cs typeface="Tahoma"/>
              </a:rPr>
              <a:t>privacidad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60" dirty="0">
                <a:solidFill>
                  <a:srgbClr val="3D66C7"/>
                </a:solidFill>
                <a:latin typeface="Tahoma"/>
                <a:cs typeface="Tahoma"/>
              </a:rPr>
              <a:t>monopolio,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3D66C7"/>
                </a:solidFill>
                <a:latin typeface="Tahoma"/>
                <a:cs typeface="Tahoma"/>
              </a:rPr>
              <a:t>afectando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85" dirty="0">
                <a:solidFill>
                  <a:srgbClr val="3D66C7"/>
                </a:solidFill>
                <a:latin typeface="Tahoma"/>
                <a:cs typeface="Tahoma"/>
              </a:rPr>
              <a:t>percepción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00" dirty="0">
                <a:solidFill>
                  <a:srgbClr val="3D66C7"/>
                </a:solidFill>
                <a:latin typeface="Tahoma"/>
                <a:cs typeface="Tahoma"/>
              </a:rPr>
              <a:t>el </a:t>
            </a:r>
            <a:r>
              <a:rPr sz="2000" spc="114" dirty="0">
                <a:solidFill>
                  <a:srgbClr val="3D66C7"/>
                </a:solidFill>
                <a:latin typeface="Tahoma"/>
                <a:cs typeface="Tahoma"/>
              </a:rPr>
              <a:t>valor</a:t>
            </a:r>
            <a:r>
              <a:rPr sz="20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0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20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3D66C7"/>
                </a:solidFill>
                <a:latin typeface="Tahoma"/>
                <a:cs typeface="Tahoma"/>
              </a:rPr>
              <a:t>em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9645" y="393514"/>
            <a:ext cx="783209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-60" dirty="0">
                <a:solidFill>
                  <a:srgbClr val="006BCC"/>
                </a:solidFill>
                <a:latin typeface="Trebuchet MS"/>
                <a:cs typeface="Trebuchet MS"/>
              </a:rPr>
              <a:t>El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55" dirty="0">
                <a:solidFill>
                  <a:srgbClr val="006BCC"/>
                </a:solidFill>
                <a:latin typeface="Trebuchet MS"/>
                <a:cs typeface="Trebuchet MS"/>
              </a:rPr>
              <a:t>Impacto</a:t>
            </a:r>
            <a:r>
              <a:rPr sz="1850" b="1" spc="-10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90" dirty="0">
                <a:solidFill>
                  <a:srgbClr val="006BCC"/>
                </a:solidFill>
                <a:latin typeface="Trebuchet MS"/>
                <a:cs typeface="Trebuchet MS"/>
              </a:rPr>
              <a:t>Opinión</a:t>
            </a:r>
            <a:r>
              <a:rPr sz="1850" b="1" spc="-10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0" dirty="0">
                <a:solidFill>
                  <a:srgbClr val="006BCC"/>
                </a:solidFill>
                <a:latin typeface="Trebuchet MS"/>
                <a:cs typeface="Trebuchet MS"/>
              </a:rPr>
              <a:t>Pública</a:t>
            </a:r>
            <a:r>
              <a:rPr sz="1850" b="1" spc="-10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en</a:t>
            </a:r>
            <a:r>
              <a:rPr sz="1850" b="1" spc="-10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Valuación</a:t>
            </a:r>
            <a:r>
              <a:rPr sz="1850" b="1" spc="-10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80" dirty="0">
                <a:solidFill>
                  <a:srgbClr val="006BCC"/>
                </a:solidFill>
                <a:latin typeface="Trebuchet MS"/>
                <a:cs typeface="Trebuchet MS"/>
              </a:rPr>
              <a:t>una</a:t>
            </a:r>
            <a:r>
              <a:rPr sz="1850" b="1" spc="-10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Empresa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4264" y="9453247"/>
            <a:ext cx="297243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85" dirty="0">
                <a:solidFill>
                  <a:srgbClr val="006BCC"/>
                </a:solidFill>
                <a:latin typeface="Trebuchet MS"/>
                <a:cs typeface="Trebuchet MS"/>
              </a:rPr>
              <a:t>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8600" y="1877962"/>
            <a:ext cx="8329155" cy="22967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8940"/>
              </a:lnSpc>
              <a:spcBef>
                <a:spcPts val="110"/>
              </a:spcBef>
            </a:pPr>
            <a:r>
              <a:rPr spc="210" dirty="0"/>
              <a:t>Curvas</a:t>
            </a:r>
            <a:r>
              <a:rPr spc="-85" dirty="0"/>
              <a:t> </a:t>
            </a:r>
            <a:r>
              <a:rPr spc="-25" dirty="0"/>
              <a:t>“S”</a:t>
            </a:r>
          </a:p>
          <a:p>
            <a:pPr marL="12700">
              <a:lnSpc>
                <a:spcPts val="8940"/>
              </a:lnSpc>
            </a:pPr>
            <a:r>
              <a:rPr spc="335" dirty="0"/>
              <a:t>de</a:t>
            </a:r>
            <a:r>
              <a:rPr spc="-140" dirty="0"/>
              <a:t> </a:t>
            </a:r>
            <a:r>
              <a:rPr spc="140" dirty="0"/>
              <a:t>Clayton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19645" y="4854574"/>
            <a:ext cx="8633955" cy="244297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l">
              <a:lnSpc>
                <a:spcPts val="3750"/>
              </a:lnSpc>
              <a:spcBef>
                <a:spcPts val="50"/>
              </a:spcBef>
            </a:pPr>
            <a:r>
              <a:rPr sz="3000" spc="215" dirty="0">
                <a:solidFill>
                  <a:srgbClr val="3D66C7"/>
                </a:solidFill>
                <a:latin typeface="Tahoma"/>
                <a:cs typeface="Tahoma"/>
              </a:rPr>
              <a:t>Las</a:t>
            </a:r>
            <a:r>
              <a:rPr sz="3000" spc="-13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29" dirty="0">
                <a:solidFill>
                  <a:srgbClr val="3D66C7"/>
                </a:solidFill>
                <a:latin typeface="Tahoma"/>
                <a:cs typeface="Tahoma"/>
              </a:rPr>
              <a:t>Curvas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315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170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35" dirty="0">
                <a:solidFill>
                  <a:srgbClr val="3D66C7"/>
                </a:solidFill>
                <a:latin typeface="Tahoma"/>
                <a:cs typeface="Tahoma"/>
              </a:rPr>
              <a:t>Tecnología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90" dirty="0">
                <a:solidFill>
                  <a:srgbClr val="3D66C7"/>
                </a:solidFill>
                <a:latin typeface="Tahoma"/>
                <a:cs typeface="Tahoma"/>
              </a:rPr>
              <a:t>de </a:t>
            </a:r>
            <a:r>
              <a:rPr sz="3000" spc="245" dirty="0">
                <a:solidFill>
                  <a:srgbClr val="3D66C7"/>
                </a:solidFill>
                <a:latin typeface="Tahoma"/>
                <a:cs typeface="Tahoma"/>
              </a:rPr>
              <a:t>Clayton</a:t>
            </a:r>
            <a:r>
              <a:rPr sz="3000" spc="-12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50" dirty="0">
                <a:solidFill>
                  <a:srgbClr val="3D66C7"/>
                </a:solidFill>
                <a:latin typeface="Tahoma"/>
                <a:cs typeface="Tahoma"/>
              </a:rPr>
              <a:t>Christensen</a:t>
            </a:r>
            <a:r>
              <a:rPr sz="3000" spc="-11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b="1" spc="70" dirty="0">
                <a:solidFill>
                  <a:srgbClr val="3D66C7"/>
                </a:solidFill>
                <a:latin typeface="Tahoma"/>
                <a:cs typeface="Tahoma"/>
              </a:rPr>
              <a:t>explican</a:t>
            </a:r>
            <a:r>
              <a:rPr sz="3000" b="1" spc="-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b="1" spc="140" dirty="0">
                <a:solidFill>
                  <a:srgbClr val="3D66C7"/>
                </a:solidFill>
                <a:latin typeface="Tahoma"/>
                <a:cs typeface="Tahoma"/>
              </a:rPr>
              <a:t>cómo </a:t>
            </a:r>
            <a:r>
              <a:rPr sz="3000" b="1" dirty="0">
                <a:solidFill>
                  <a:srgbClr val="3D66C7"/>
                </a:solidFill>
                <a:latin typeface="Tahoma"/>
                <a:cs typeface="Tahoma"/>
              </a:rPr>
              <a:t>las </a:t>
            </a:r>
            <a:r>
              <a:rPr sz="3000" b="1" spc="85" dirty="0">
                <a:solidFill>
                  <a:srgbClr val="3D66C7"/>
                </a:solidFill>
                <a:latin typeface="Tahoma"/>
                <a:cs typeface="Tahoma"/>
              </a:rPr>
              <a:t>tecnologías</a:t>
            </a:r>
            <a:r>
              <a:rPr sz="3000" b="1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b="1" spc="85" dirty="0">
                <a:solidFill>
                  <a:srgbClr val="3D66C7"/>
                </a:solidFill>
                <a:latin typeface="Tahoma"/>
                <a:cs typeface="Tahoma"/>
              </a:rPr>
              <a:t>evolucionan</a:t>
            </a:r>
            <a:r>
              <a:rPr sz="3000" b="1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b="1" spc="65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3000" b="1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b="1" spc="140" dirty="0">
                <a:solidFill>
                  <a:srgbClr val="3D66C7"/>
                </a:solidFill>
                <a:latin typeface="Tahoma"/>
                <a:cs typeface="Tahoma"/>
              </a:rPr>
              <a:t>cómo </a:t>
            </a:r>
            <a:r>
              <a:rPr sz="3000" b="1" spc="75" dirty="0">
                <a:solidFill>
                  <a:srgbClr val="3D66C7"/>
                </a:solidFill>
                <a:latin typeface="Tahoma"/>
                <a:cs typeface="Tahoma"/>
              </a:rPr>
              <a:t>nuevas</a:t>
            </a:r>
            <a:r>
              <a:rPr sz="3000" b="1" spc="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b="1" spc="80" dirty="0">
                <a:solidFill>
                  <a:srgbClr val="3D66C7"/>
                </a:solidFill>
                <a:latin typeface="Tahoma"/>
                <a:cs typeface="Tahoma"/>
              </a:rPr>
              <a:t>innovaciones</a:t>
            </a:r>
            <a:r>
              <a:rPr sz="3000" b="1" spc="1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b="1" spc="120" dirty="0">
                <a:solidFill>
                  <a:srgbClr val="3D66C7"/>
                </a:solidFill>
                <a:latin typeface="Tahoma"/>
                <a:cs typeface="Tahoma"/>
              </a:rPr>
              <a:t>pueden </a:t>
            </a:r>
            <a:r>
              <a:rPr sz="3000" b="1" spc="60" dirty="0">
                <a:solidFill>
                  <a:srgbClr val="3D66C7"/>
                </a:solidFill>
                <a:latin typeface="Tahoma"/>
                <a:cs typeface="Tahoma"/>
              </a:rPr>
              <a:t>desplazar</a:t>
            </a:r>
            <a:r>
              <a:rPr sz="3000" b="1" spc="1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b="1" dirty="0">
                <a:solidFill>
                  <a:srgbClr val="3D66C7"/>
                </a:solidFill>
                <a:latin typeface="Tahoma"/>
                <a:cs typeface="Tahoma"/>
              </a:rPr>
              <a:t>a</a:t>
            </a:r>
            <a:r>
              <a:rPr sz="3000" b="1" spc="1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b="1" dirty="0" err="1">
                <a:solidFill>
                  <a:srgbClr val="3D66C7"/>
                </a:solidFill>
                <a:latin typeface="Tahoma"/>
                <a:cs typeface="Tahoma"/>
              </a:rPr>
              <a:t>las</a:t>
            </a:r>
            <a:r>
              <a:rPr sz="3000" b="1" spc="1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b="1" spc="75" dirty="0" err="1">
                <a:solidFill>
                  <a:srgbClr val="3D66C7"/>
                </a:solidFill>
                <a:latin typeface="Tahoma"/>
                <a:cs typeface="Tahoma"/>
              </a:rPr>
              <a:t>tecnologías</a:t>
            </a:r>
            <a:r>
              <a:rPr lang="es-ES" sz="3000" b="1" spc="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b="1" spc="-10" dirty="0" err="1">
                <a:solidFill>
                  <a:srgbClr val="3D66C7"/>
                </a:solidFill>
                <a:latin typeface="Tahoma"/>
                <a:cs typeface="Tahoma"/>
              </a:rPr>
              <a:t>existentes</a:t>
            </a:r>
            <a:r>
              <a:rPr sz="3000" spc="-10" dirty="0">
                <a:solidFill>
                  <a:srgbClr val="3D66C7"/>
                </a:solidFill>
                <a:latin typeface="Verdana"/>
                <a:cs typeface="Verdana"/>
              </a:rPr>
              <a:t>.</a:t>
            </a:r>
            <a:endParaRPr sz="3000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3630" y="3026354"/>
            <a:ext cx="6915149" cy="5819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62000" y="1714500"/>
            <a:ext cx="6934200" cy="22967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8940"/>
              </a:lnSpc>
              <a:spcBef>
                <a:spcPts val="110"/>
              </a:spcBef>
            </a:pPr>
            <a:r>
              <a:rPr sz="8000" spc="210" dirty="0"/>
              <a:t>Curvas</a:t>
            </a:r>
            <a:r>
              <a:rPr sz="8000" spc="-85" dirty="0"/>
              <a:t> </a:t>
            </a:r>
            <a:r>
              <a:rPr sz="8000" spc="-25" dirty="0"/>
              <a:t>“S”</a:t>
            </a:r>
          </a:p>
          <a:p>
            <a:pPr marL="12700">
              <a:lnSpc>
                <a:spcPts val="8940"/>
              </a:lnSpc>
            </a:pPr>
            <a:r>
              <a:rPr sz="8000" spc="335" dirty="0"/>
              <a:t>de</a:t>
            </a:r>
            <a:r>
              <a:rPr sz="8000" spc="-140" dirty="0"/>
              <a:t> </a:t>
            </a:r>
            <a:r>
              <a:rPr sz="8000" spc="140" dirty="0"/>
              <a:t>Clayton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86214" y="5592419"/>
            <a:ext cx="7068820" cy="28638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50"/>
              </a:spcBef>
            </a:pPr>
            <a:r>
              <a:rPr sz="3000" spc="240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3000" spc="-114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25" dirty="0">
                <a:solidFill>
                  <a:srgbClr val="3D66C7"/>
                </a:solidFill>
                <a:latin typeface="Tahoma"/>
                <a:cs typeface="Tahoma"/>
              </a:rPr>
              <a:t>figura</a:t>
            </a:r>
            <a:r>
              <a:rPr sz="3000" spc="-114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54" dirty="0">
                <a:solidFill>
                  <a:srgbClr val="3D66C7"/>
                </a:solidFill>
                <a:latin typeface="Tahoma"/>
                <a:cs typeface="Tahoma"/>
              </a:rPr>
              <a:t>presentada</a:t>
            </a:r>
            <a:r>
              <a:rPr sz="3000" spc="-11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35" dirty="0">
                <a:solidFill>
                  <a:srgbClr val="3D66C7"/>
                </a:solidFill>
                <a:latin typeface="Tahoma"/>
                <a:cs typeface="Tahoma"/>
              </a:rPr>
              <a:t>representa</a:t>
            </a:r>
            <a:r>
              <a:rPr sz="3000" spc="-114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145" dirty="0">
                <a:solidFill>
                  <a:srgbClr val="3D66C7"/>
                </a:solidFill>
                <a:latin typeface="Tahoma"/>
                <a:cs typeface="Tahoma"/>
              </a:rPr>
              <a:t>la </a:t>
            </a:r>
            <a:r>
              <a:rPr sz="3000" spc="235" dirty="0">
                <a:solidFill>
                  <a:srgbClr val="3D66C7"/>
                </a:solidFill>
                <a:latin typeface="Tahoma"/>
                <a:cs typeface="Tahoma"/>
              </a:rPr>
              <a:t>curva</a:t>
            </a:r>
            <a:r>
              <a:rPr sz="3000" spc="-13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300" dirty="0">
                <a:solidFill>
                  <a:srgbClr val="3D66C7"/>
                </a:solidFill>
                <a:latin typeface="Tahoma"/>
                <a:cs typeface="Tahoma"/>
              </a:rPr>
              <a:t>en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90" dirty="0">
                <a:solidFill>
                  <a:srgbClr val="3D66C7"/>
                </a:solidFill>
                <a:latin typeface="Tahoma"/>
                <a:cs typeface="Tahoma"/>
              </a:rPr>
              <a:t>“S”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315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3000" spc="-13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170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40" dirty="0">
                <a:solidFill>
                  <a:srgbClr val="3D66C7"/>
                </a:solidFill>
                <a:latin typeface="Tahoma"/>
                <a:cs typeface="Tahoma"/>
              </a:rPr>
              <a:t>evolución </a:t>
            </a:r>
            <a:r>
              <a:rPr sz="3000" spc="220" dirty="0">
                <a:solidFill>
                  <a:srgbClr val="3D66C7"/>
                </a:solidFill>
                <a:latin typeface="Tahoma"/>
                <a:cs typeface="Tahoma"/>
              </a:rPr>
              <a:t>tecnológica,</a:t>
            </a:r>
            <a:r>
              <a:rPr sz="3000" spc="-12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170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3000" spc="-12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54" dirty="0">
                <a:solidFill>
                  <a:srgbClr val="3D66C7"/>
                </a:solidFill>
                <a:latin typeface="Tahoma"/>
                <a:cs typeface="Tahoma"/>
              </a:rPr>
              <a:t>cual</a:t>
            </a:r>
            <a:r>
              <a:rPr sz="3000" spc="-12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195" dirty="0">
                <a:solidFill>
                  <a:srgbClr val="3D66C7"/>
                </a:solidFill>
                <a:latin typeface="Tahoma"/>
                <a:cs typeface="Tahoma"/>
              </a:rPr>
              <a:t>ilustra</a:t>
            </a:r>
            <a:r>
              <a:rPr sz="3000" spc="-114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195" dirty="0">
                <a:solidFill>
                  <a:srgbClr val="3D66C7"/>
                </a:solidFill>
                <a:latin typeface="Tahoma"/>
                <a:cs typeface="Tahoma"/>
              </a:rPr>
              <a:t>el</a:t>
            </a:r>
            <a:r>
              <a:rPr sz="3000" spc="-12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40" dirty="0">
                <a:solidFill>
                  <a:srgbClr val="3D66C7"/>
                </a:solidFill>
                <a:latin typeface="Tahoma"/>
                <a:cs typeface="Tahoma"/>
              </a:rPr>
              <a:t>ciclo</a:t>
            </a:r>
            <a:r>
              <a:rPr sz="3000" spc="-12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90" dirty="0">
                <a:solidFill>
                  <a:srgbClr val="3D66C7"/>
                </a:solidFill>
                <a:latin typeface="Tahoma"/>
                <a:cs typeface="Tahoma"/>
              </a:rPr>
              <a:t>de </a:t>
            </a:r>
            <a:r>
              <a:rPr sz="3000" spc="220" dirty="0">
                <a:solidFill>
                  <a:srgbClr val="3D66C7"/>
                </a:solidFill>
                <a:latin typeface="Tahoma"/>
                <a:cs typeface="Tahoma"/>
              </a:rPr>
              <a:t>vida</a:t>
            </a:r>
            <a:r>
              <a:rPr sz="3000" spc="-13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315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3000" spc="-13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300" dirty="0">
                <a:solidFill>
                  <a:srgbClr val="3D66C7"/>
                </a:solidFill>
                <a:latin typeface="Tahoma"/>
                <a:cs typeface="Tahoma"/>
              </a:rPr>
              <a:t>una</a:t>
            </a:r>
            <a:r>
              <a:rPr sz="3000" spc="-13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60" dirty="0">
                <a:solidFill>
                  <a:srgbClr val="3D66C7"/>
                </a:solidFill>
                <a:latin typeface="Tahoma"/>
                <a:cs typeface="Tahoma"/>
              </a:rPr>
              <a:t>tecnología</a:t>
            </a:r>
            <a:r>
              <a:rPr sz="3000" spc="-13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00" dirty="0">
                <a:solidFill>
                  <a:srgbClr val="3D66C7"/>
                </a:solidFill>
                <a:latin typeface="Tahoma"/>
                <a:cs typeface="Tahoma"/>
              </a:rPr>
              <a:t>a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10" dirty="0">
                <a:solidFill>
                  <a:srgbClr val="3D66C7"/>
                </a:solidFill>
                <a:latin typeface="Tahoma"/>
                <a:cs typeface="Tahoma"/>
              </a:rPr>
              <a:t>lo</a:t>
            </a:r>
            <a:r>
              <a:rPr sz="3000" spc="-13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35" dirty="0">
                <a:solidFill>
                  <a:srgbClr val="3D66C7"/>
                </a:solidFill>
                <a:latin typeface="Tahoma"/>
                <a:cs typeface="Tahoma"/>
              </a:rPr>
              <a:t>largo</a:t>
            </a:r>
            <a:r>
              <a:rPr sz="3000" spc="-13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29" dirty="0">
                <a:solidFill>
                  <a:srgbClr val="3D66C7"/>
                </a:solidFill>
                <a:latin typeface="Tahoma"/>
                <a:cs typeface="Tahoma"/>
              </a:rPr>
              <a:t>del </a:t>
            </a:r>
            <a:r>
              <a:rPr sz="3000" spc="240" dirty="0">
                <a:solidFill>
                  <a:srgbClr val="3D66C7"/>
                </a:solidFill>
                <a:latin typeface="Tahoma"/>
                <a:cs typeface="Tahoma"/>
              </a:rPr>
              <a:t>tiempo.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85" dirty="0">
                <a:solidFill>
                  <a:srgbClr val="3D66C7"/>
                </a:solidFill>
                <a:latin typeface="Tahoma"/>
                <a:cs typeface="Tahoma"/>
              </a:rPr>
              <a:t>Cada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60" dirty="0">
                <a:solidFill>
                  <a:srgbClr val="3D66C7"/>
                </a:solidFill>
                <a:latin typeface="Tahoma"/>
                <a:cs typeface="Tahoma"/>
              </a:rPr>
              <a:t>tecnología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35" dirty="0">
                <a:solidFill>
                  <a:srgbClr val="3D66C7"/>
                </a:solidFill>
                <a:latin typeface="Tahoma"/>
                <a:cs typeface="Tahoma"/>
              </a:rPr>
              <a:t>pasa</a:t>
            </a:r>
            <a:r>
              <a:rPr sz="3000" spc="-1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240" dirty="0">
                <a:solidFill>
                  <a:srgbClr val="3D66C7"/>
                </a:solidFill>
                <a:latin typeface="Tahoma"/>
                <a:cs typeface="Tahoma"/>
              </a:rPr>
              <a:t>por </a:t>
            </a:r>
            <a:r>
              <a:rPr sz="3000" spc="200" dirty="0">
                <a:solidFill>
                  <a:srgbClr val="3D66C7"/>
                </a:solidFill>
                <a:latin typeface="Tahoma"/>
                <a:cs typeface="Tahoma"/>
              </a:rPr>
              <a:t>tres</a:t>
            </a:r>
            <a:r>
              <a:rPr sz="3000" spc="-13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175" dirty="0">
                <a:solidFill>
                  <a:srgbClr val="3D66C7"/>
                </a:solidFill>
                <a:latin typeface="Tahoma"/>
                <a:cs typeface="Tahoma"/>
              </a:rPr>
              <a:t>fases</a:t>
            </a:r>
            <a:r>
              <a:rPr sz="3000" spc="-13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000" spc="175" dirty="0">
                <a:solidFill>
                  <a:srgbClr val="3D66C7"/>
                </a:solidFill>
                <a:latin typeface="Tahoma"/>
                <a:cs typeface="Tahoma"/>
              </a:rPr>
              <a:t>principales:</a:t>
            </a:r>
            <a:endParaRPr sz="3000"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3630" y="3026354"/>
            <a:ext cx="6915149" cy="5819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50308" y="1945088"/>
            <a:ext cx="1416629" cy="14166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500377" y="5223000"/>
            <a:ext cx="10140554" cy="244348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50"/>
              </a:spcBef>
            </a:pPr>
            <a:r>
              <a:rPr sz="3500" spc="240" dirty="0"/>
              <a:t>La</a:t>
            </a:r>
            <a:r>
              <a:rPr sz="3500" spc="-114" dirty="0"/>
              <a:t> </a:t>
            </a:r>
            <a:r>
              <a:rPr sz="3500" spc="225" dirty="0"/>
              <a:t>figura</a:t>
            </a:r>
            <a:r>
              <a:rPr sz="3500" spc="-114" dirty="0"/>
              <a:t> </a:t>
            </a:r>
            <a:r>
              <a:rPr sz="3500" spc="254" dirty="0"/>
              <a:t>presentada</a:t>
            </a:r>
            <a:r>
              <a:rPr sz="3500" spc="-110" dirty="0"/>
              <a:t> </a:t>
            </a:r>
            <a:r>
              <a:rPr sz="3500" spc="235" dirty="0"/>
              <a:t>representa</a:t>
            </a:r>
            <a:r>
              <a:rPr sz="3500" spc="-114" dirty="0"/>
              <a:t> </a:t>
            </a:r>
            <a:r>
              <a:rPr sz="3500" spc="145" dirty="0"/>
              <a:t>la </a:t>
            </a:r>
            <a:r>
              <a:rPr sz="3500" spc="235" dirty="0"/>
              <a:t>curva</a:t>
            </a:r>
            <a:r>
              <a:rPr sz="3500" spc="-130" dirty="0"/>
              <a:t> </a:t>
            </a:r>
            <a:r>
              <a:rPr sz="3500" spc="300" dirty="0"/>
              <a:t>en</a:t>
            </a:r>
            <a:r>
              <a:rPr sz="3500" spc="-125" dirty="0"/>
              <a:t> </a:t>
            </a:r>
            <a:r>
              <a:rPr sz="3500" spc="90" dirty="0"/>
              <a:t>“S”</a:t>
            </a:r>
            <a:r>
              <a:rPr sz="3500" spc="-125" dirty="0"/>
              <a:t> </a:t>
            </a:r>
            <a:r>
              <a:rPr sz="3500" spc="315" dirty="0"/>
              <a:t>de</a:t>
            </a:r>
            <a:r>
              <a:rPr sz="3500" spc="-130" dirty="0"/>
              <a:t> </a:t>
            </a:r>
            <a:r>
              <a:rPr sz="3500" spc="170" dirty="0"/>
              <a:t>la</a:t>
            </a:r>
            <a:r>
              <a:rPr sz="3500" spc="-125" dirty="0"/>
              <a:t> </a:t>
            </a:r>
            <a:r>
              <a:rPr sz="3500" spc="240" dirty="0"/>
              <a:t>evolución </a:t>
            </a:r>
            <a:r>
              <a:rPr sz="3500" spc="220" dirty="0"/>
              <a:t>tecnológica,</a:t>
            </a:r>
            <a:r>
              <a:rPr sz="3500" spc="-120" dirty="0"/>
              <a:t> </a:t>
            </a:r>
            <a:r>
              <a:rPr sz="3500" spc="170" dirty="0"/>
              <a:t>la</a:t>
            </a:r>
            <a:r>
              <a:rPr sz="3500" spc="-120" dirty="0"/>
              <a:t> </a:t>
            </a:r>
            <a:r>
              <a:rPr sz="3500" spc="254" dirty="0"/>
              <a:t>cual</a:t>
            </a:r>
            <a:r>
              <a:rPr sz="3500" spc="-120" dirty="0"/>
              <a:t> </a:t>
            </a:r>
            <a:r>
              <a:rPr sz="3500" spc="195" dirty="0"/>
              <a:t>ilustra</a:t>
            </a:r>
            <a:r>
              <a:rPr sz="3500" spc="-114" dirty="0"/>
              <a:t> </a:t>
            </a:r>
            <a:r>
              <a:rPr sz="3500" spc="195" dirty="0"/>
              <a:t>el</a:t>
            </a:r>
            <a:r>
              <a:rPr sz="3500" spc="-120" dirty="0"/>
              <a:t> </a:t>
            </a:r>
            <a:r>
              <a:rPr sz="3500" spc="240" dirty="0"/>
              <a:t>ciclo</a:t>
            </a:r>
            <a:r>
              <a:rPr sz="3500" spc="-120" dirty="0"/>
              <a:t> </a:t>
            </a:r>
            <a:r>
              <a:rPr sz="3500" spc="290" dirty="0"/>
              <a:t>de </a:t>
            </a:r>
            <a:r>
              <a:rPr sz="3500" spc="220" dirty="0"/>
              <a:t>vida</a:t>
            </a:r>
            <a:r>
              <a:rPr sz="3500" spc="-130" dirty="0"/>
              <a:t> </a:t>
            </a:r>
            <a:r>
              <a:rPr sz="3500" spc="315" dirty="0"/>
              <a:t>de</a:t>
            </a:r>
            <a:r>
              <a:rPr sz="3500" spc="-130" dirty="0"/>
              <a:t> </a:t>
            </a:r>
            <a:r>
              <a:rPr sz="3500" spc="300" dirty="0"/>
              <a:t>una</a:t>
            </a:r>
            <a:r>
              <a:rPr sz="3500" spc="-130" dirty="0"/>
              <a:t> </a:t>
            </a:r>
            <a:r>
              <a:rPr sz="3500" spc="260" dirty="0"/>
              <a:t>tecnología</a:t>
            </a:r>
            <a:r>
              <a:rPr sz="3500" spc="-130" dirty="0"/>
              <a:t> </a:t>
            </a:r>
            <a:r>
              <a:rPr sz="3500" spc="200" dirty="0"/>
              <a:t>a</a:t>
            </a:r>
            <a:r>
              <a:rPr sz="3500" spc="-125" dirty="0"/>
              <a:t> </a:t>
            </a:r>
            <a:r>
              <a:rPr sz="3500" spc="210" dirty="0"/>
              <a:t>lo</a:t>
            </a:r>
            <a:r>
              <a:rPr sz="3500" spc="-130" dirty="0"/>
              <a:t> </a:t>
            </a:r>
            <a:r>
              <a:rPr sz="3500" spc="235" dirty="0"/>
              <a:t>largo</a:t>
            </a:r>
            <a:r>
              <a:rPr sz="3500" spc="-130" dirty="0"/>
              <a:t> </a:t>
            </a:r>
            <a:r>
              <a:rPr sz="3500" spc="229" dirty="0"/>
              <a:t>del </a:t>
            </a:r>
            <a:r>
              <a:rPr sz="3500" spc="240" dirty="0"/>
              <a:t>tiempo.</a:t>
            </a:r>
            <a:r>
              <a:rPr sz="3500" spc="-125" dirty="0"/>
              <a:t> </a:t>
            </a:r>
            <a:r>
              <a:rPr sz="3500" spc="285" dirty="0"/>
              <a:t>Cada</a:t>
            </a:r>
            <a:r>
              <a:rPr sz="3500" spc="-125" dirty="0"/>
              <a:t> </a:t>
            </a:r>
            <a:r>
              <a:rPr sz="3500" spc="260" dirty="0"/>
              <a:t>tecnología</a:t>
            </a:r>
            <a:r>
              <a:rPr sz="3500" spc="-125" dirty="0"/>
              <a:t> </a:t>
            </a:r>
            <a:r>
              <a:rPr sz="3500" spc="235" dirty="0"/>
              <a:t>pasa</a:t>
            </a:r>
            <a:r>
              <a:rPr sz="3500" spc="-125" dirty="0"/>
              <a:t> </a:t>
            </a:r>
            <a:r>
              <a:rPr sz="3500" spc="265" dirty="0"/>
              <a:t>por</a:t>
            </a:r>
            <a:r>
              <a:rPr sz="3500" spc="-120" dirty="0"/>
              <a:t> </a:t>
            </a:r>
            <a:r>
              <a:rPr sz="3500" spc="180" dirty="0"/>
              <a:t>tres </a:t>
            </a:r>
            <a:r>
              <a:rPr sz="3500" spc="175" dirty="0"/>
              <a:t>fases</a:t>
            </a:r>
            <a:r>
              <a:rPr sz="3500" spc="-130" dirty="0"/>
              <a:t> </a:t>
            </a:r>
            <a:r>
              <a:rPr sz="3500" spc="175" dirty="0"/>
              <a:t>principales: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7200" y="1904880"/>
            <a:ext cx="8813800" cy="22967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8940"/>
              </a:lnSpc>
              <a:spcBef>
                <a:spcPts val="110"/>
              </a:spcBef>
            </a:pPr>
            <a:r>
              <a:rPr spc="210" dirty="0"/>
              <a:t>Curvas</a:t>
            </a:r>
            <a:r>
              <a:rPr spc="-85" dirty="0"/>
              <a:t> </a:t>
            </a:r>
            <a:r>
              <a:rPr spc="-25" dirty="0"/>
              <a:t>“S”</a:t>
            </a:r>
          </a:p>
          <a:p>
            <a:pPr marL="12700">
              <a:lnSpc>
                <a:spcPts val="8940"/>
              </a:lnSpc>
            </a:pPr>
            <a:r>
              <a:rPr spc="335" dirty="0"/>
              <a:t>de</a:t>
            </a:r>
            <a:r>
              <a:rPr spc="-140" dirty="0"/>
              <a:t> </a:t>
            </a:r>
            <a:r>
              <a:rPr spc="140" dirty="0"/>
              <a:t>Clayton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990599"/>
            <a:ext cx="18288000" cy="6088380"/>
            <a:chOff x="0" y="990599"/>
            <a:chExt cx="18288000" cy="608838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90599"/>
              <a:ext cx="18287999" cy="380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16845" y="1854208"/>
              <a:ext cx="85725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88332" y="2230446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16845" y="4244983"/>
              <a:ext cx="85725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88332" y="4583120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16845" y="6645283"/>
              <a:ext cx="85725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88332" y="6983420"/>
              <a:ext cx="95250" cy="9524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40931" y="1649732"/>
            <a:ext cx="6586220" cy="65690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73685" indent="-273050">
              <a:lnSpc>
                <a:spcPct val="100000"/>
              </a:lnSpc>
              <a:spcBef>
                <a:spcPts val="459"/>
              </a:spcBef>
              <a:buSzPct val="97727"/>
              <a:buAutoNum type="arabicPeriod"/>
              <a:tabLst>
                <a:tab pos="273685" algn="l"/>
              </a:tabLst>
            </a:pPr>
            <a:r>
              <a:rPr sz="2200" b="1" spc="60" dirty="0">
                <a:solidFill>
                  <a:srgbClr val="3D66C7"/>
                </a:solidFill>
                <a:latin typeface="Tahoma"/>
                <a:cs typeface="Tahoma"/>
              </a:rPr>
              <a:t>Fase</a:t>
            </a:r>
            <a:r>
              <a:rPr sz="2200" b="1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3D66C7"/>
                </a:solidFill>
                <a:latin typeface="Tahoma"/>
                <a:cs typeface="Tahoma"/>
              </a:rPr>
              <a:t>Inicial</a:t>
            </a:r>
            <a:r>
              <a:rPr sz="2200" b="1" spc="-5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b="1" spc="50" dirty="0">
                <a:solidFill>
                  <a:srgbClr val="3D66C7"/>
                </a:solidFill>
                <a:latin typeface="Tahoma"/>
                <a:cs typeface="Tahoma"/>
              </a:rPr>
              <a:t>(Despegue</a:t>
            </a:r>
            <a:r>
              <a:rPr sz="2200" b="1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3D66C7"/>
                </a:solidFill>
                <a:latin typeface="Tahoma"/>
                <a:cs typeface="Tahoma"/>
              </a:rPr>
              <a:t>lento):</a:t>
            </a:r>
            <a:endParaRPr sz="2200">
              <a:latin typeface="Tahoma"/>
              <a:cs typeface="Tahoma"/>
            </a:endParaRPr>
          </a:p>
          <a:p>
            <a:pPr marL="487045">
              <a:lnSpc>
                <a:spcPct val="100000"/>
              </a:lnSpc>
              <a:spcBef>
                <a:spcPts val="360"/>
              </a:spcBef>
            </a:pPr>
            <a:r>
              <a:rPr sz="2200" spc="175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90" dirty="0">
                <a:solidFill>
                  <a:srgbClr val="3D66C7"/>
                </a:solidFill>
                <a:latin typeface="Tahoma"/>
                <a:cs typeface="Tahoma"/>
              </a:rPr>
              <a:t>innovación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90" dirty="0">
                <a:solidFill>
                  <a:srgbClr val="3D66C7"/>
                </a:solidFill>
                <a:latin typeface="Tahoma"/>
                <a:cs typeface="Tahoma"/>
              </a:rPr>
              <a:t>tecnológica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75" dirty="0">
                <a:solidFill>
                  <a:srgbClr val="3D66C7"/>
                </a:solidFill>
                <a:latin typeface="Tahoma"/>
                <a:cs typeface="Tahoma"/>
              </a:rPr>
              <a:t>tiene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35" dirty="0">
                <a:solidFill>
                  <a:srgbClr val="3D66C7"/>
                </a:solidFill>
                <a:latin typeface="Tahoma"/>
                <a:cs typeface="Tahoma"/>
              </a:rPr>
              <a:t>un</a:t>
            </a:r>
            <a:endParaRPr sz="2200">
              <a:latin typeface="Tahoma"/>
              <a:cs typeface="Tahoma"/>
            </a:endParaRPr>
          </a:p>
          <a:p>
            <a:pPr marL="487045" marR="368300">
              <a:lnSpc>
                <a:spcPts val="3229"/>
              </a:lnSpc>
              <a:spcBef>
                <a:spcPts val="200"/>
              </a:spcBef>
            </a:pPr>
            <a:r>
              <a:rPr sz="2200" spc="200" dirty="0">
                <a:solidFill>
                  <a:srgbClr val="3D66C7"/>
                </a:solidFill>
                <a:latin typeface="Tahoma"/>
                <a:cs typeface="Tahoma"/>
              </a:rPr>
              <a:t>crecimiento</a:t>
            </a:r>
            <a:r>
              <a:rPr sz="2200" spc="-9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95" dirty="0">
                <a:solidFill>
                  <a:srgbClr val="3D66C7"/>
                </a:solidFill>
                <a:latin typeface="Tahoma"/>
                <a:cs typeface="Tahoma"/>
              </a:rPr>
              <a:t>limitado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15" dirty="0">
                <a:solidFill>
                  <a:srgbClr val="3D66C7"/>
                </a:solidFill>
                <a:latin typeface="Tahoma"/>
                <a:cs typeface="Tahoma"/>
              </a:rPr>
              <a:t>debido</a:t>
            </a:r>
            <a:r>
              <a:rPr sz="2200" spc="-9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60" dirty="0">
                <a:solidFill>
                  <a:srgbClr val="3D66C7"/>
                </a:solidFill>
                <a:latin typeface="Tahoma"/>
                <a:cs typeface="Tahoma"/>
              </a:rPr>
              <a:t>a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35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2200" spc="-9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25" dirty="0">
                <a:solidFill>
                  <a:srgbClr val="3D66C7"/>
                </a:solidFill>
                <a:latin typeface="Tahoma"/>
                <a:cs typeface="Tahoma"/>
              </a:rPr>
              <a:t>baja </a:t>
            </a:r>
            <a:r>
              <a:rPr sz="2200" spc="130" dirty="0">
                <a:solidFill>
                  <a:srgbClr val="3D66C7"/>
                </a:solidFill>
                <a:latin typeface="Tahoma"/>
                <a:cs typeface="Tahoma"/>
              </a:rPr>
              <a:t>eficiencia,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30" dirty="0">
                <a:solidFill>
                  <a:srgbClr val="3D66C7"/>
                </a:solidFill>
                <a:latin typeface="Tahoma"/>
                <a:cs typeface="Tahoma"/>
              </a:rPr>
              <a:t>falta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2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10" dirty="0">
                <a:solidFill>
                  <a:srgbClr val="3D66C7"/>
                </a:solidFill>
                <a:latin typeface="Tahoma"/>
                <a:cs typeface="Tahoma"/>
              </a:rPr>
              <a:t>adopción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20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85" dirty="0">
                <a:solidFill>
                  <a:srgbClr val="3D66C7"/>
                </a:solidFill>
                <a:latin typeface="Tahoma"/>
                <a:cs typeface="Tahoma"/>
              </a:rPr>
              <a:t>necesidad </a:t>
            </a:r>
            <a:r>
              <a:rPr sz="2200" spc="22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04" dirty="0">
                <a:solidFill>
                  <a:srgbClr val="3D66C7"/>
                </a:solidFill>
                <a:latin typeface="Tahoma"/>
                <a:cs typeface="Tahoma"/>
              </a:rPr>
              <a:t>mayor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55" dirty="0">
                <a:solidFill>
                  <a:srgbClr val="3D66C7"/>
                </a:solidFill>
                <a:latin typeface="Tahoma"/>
                <a:cs typeface="Tahoma"/>
              </a:rPr>
              <a:t>inversión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15" dirty="0">
                <a:solidFill>
                  <a:srgbClr val="3D66C7"/>
                </a:solidFill>
                <a:latin typeface="Tahoma"/>
                <a:cs typeface="Tahoma"/>
              </a:rPr>
              <a:t>en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75" dirty="0">
                <a:solidFill>
                  <a:srgbClr val="3D66C7"/>
                </a:solidFill>
                <a:latin typeface="Tahoma"/>
                <a:cs typeface="Tahoma"/>
              </a:rPr>
              <a:t>investigación</a:t>
            </a:r>
            <a:r>
              <a:rPr sz="22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70" dirty="0">
                <a:solidFill>
                  <a:srgbClr val="3D66C7"/>
                </a:solidFill>
                <a:latin typeface="Tahoma"/>
                <a:cs typeface="Tahoma"/>
              </a:rPr>
              <a:t>y </a:t>
            </a:r>
            <a:r>
              <a:rPr sz="2200" spc="110" dirty="0">
                <a:solidFill>
                  <a:srgbClr val="3D66C7"/>
                </a:solidFill>
                <a:latin typeface="Tahoma"/>
                <a:cs typeface="Tahoma"/>
              </a:rPr>
              <a:t>desarrollo.</a:t>
            </a:r>
            <a:endParaRPr sz="2200">
              <a:latin typeface="Tahoma"/>
              <a:cs typeface="Tahoma"/>
            </a:endParaRPr>
          </a:p>
          <a:p>
            <a:pPr marL="403860" indent="-316230">
              <a:lnSpc>
                <a:spcPct val="100000"/>
              </a:lnSpc>
              <a:spcBef>
                <a:spcPts val="65"/>
              </a:spcBef>
              <a:buSzPct val="97727"/>
              <a:buAutoNum type="arabicPeriod" startAt="2"/>
              <a:tabLst>
                <a:tab pos="403860" algn="l"/>
              </a:tabLst>
            </a:pPr>
            <a:r>
              <a:rPr sz="2200" b="1" spc="60" dirty="0">
                <a:solidFill>
                  <a:srgbClr val="3D66C7"/>
                </a:solidFill>
                <a:latin typeface="Tahoma"/>
                <a:cs typeface="Tahoma"/>
              </a:rPr>
              <a:t>Fase</a:t>
            </a:r>
            <a:r>
              <a:rPr sz="2200" b="1" spc="-2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b="1" spc="9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200" b="1" spc="-1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b="1" spc="65" dirty="0">
                <a:solidFill>
                  <a:srgbClr val="3D66C7"/>
                </a:solidFill>
                <a:latin typeface="Tahoma"/>
                <a:cs typeface="Tahoma"/>
              </a:rPr>
              <a:t>Crecimiento</a:t>
            </a:r>
            <a:r>
              <a:rPr sz="2200" b="1" spc="-1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3D66C7"/>
                </a:solidFill>
                <a:latin typeface="Tahoma"/>
                <a:cs typeface="Tahoma"/>
              </a:rPr>
              <a:t>Acelerado:</a:t>
            </a:r>
            <a:endParaRPr sz="2200">
              <a:latin typeface="Tahoma"/>
              <a:cs typeface="Tahoma"/>
            </a:endParaRPr>
          </a:p>
          <a:p>
            <a:pPr marL="487045" marR="416559" indent="74930">
              <a:lnSpc>
                <a:spcPct val="102299"/>
              </a:lnSpc>
            </a:pPr>
            <a:r>
              <a:rPr sz="2200" spc="275" dirty="0">
                <a:solidFill>
                  <a:srgbClr val="3D66C7"/>
                </a:solidFill>
                <a:latin typeface="Tahoma"/>
                <a:cs typeface="Tahoma"/>
              </a:rPr>
              <a:t>A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40" dirty="0">
                <a:solidFill>
                  <a:srgbClr val="3D66C7"/>
                </a:solidFill>
                <a:latin typeface="Tahoma"/>
                <a:cs typeface="Tahoma"/>
              </a:rPr>
              <a:t>medida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29" dirty="0">
                <a:solidFill>
                  <a:srgbClr val="3D66C7"/>
                </a:solidFill>
                <a:latin typeface="Tahoma"/>
                <a:cs typeface="Tahoma"/>
              </a:rPr>
              <a:t>que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35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85" dirty="0">
                <a:solidFill>
                  <a:srgbClr val="3D66C7"/>
                </a:solidFill>
                <a:latin typeface="Tahoma"/>
                <a:cs typeface="Tahoma"/>
              </a:rPr>
              <a:t>tecnología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75" dirty="0">
                <a:solidFill>
                  <a:srgbClr val="3D66C7"/>
                </a:solidFill>
                <a:latin typeface="Tahoma"/>
                <a:cs typeface="Tahoma"/>
              </a:rPr>
              <a:t>madura,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10" dirty="0">
                <a:solidFill>
                  <a:srgbClr val="3D66C7"/>
                </a:solidFill>
                <a:latin typeface="Tahoma"/>
                <a:cs typeface="Tahoma"/>
              </a:rPr>
              <a:t>se </a:t>
            </a:r>
            <a:r>
              <a:rPr sz="2200" spc="200" dirty="0">
                <a:solidFill>
                  <a:srgbClr val="3D66C7"/>
                </a:solidFill>
                <a:latin typeface="Tahoma"/>
                <a:cs typeface="Tahoma"/>
              </a:rPr>
              <a:t>optimiza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80" dirty="0">
                <a:solidFill>
                  <a:srgbClr val="3D66C7"/>
                </a:solidFill>
                <a:latin typeface="Tahoma"/>
                <a:cs typeface="Tahoma"/>
              </a:rPr>
              <a:t>su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75" dirty="0">
                <a:solidFill>
                  <a:srgbClr val="3D66C7"/>
                </a:solidFill>
                <a:latin typeface="Tahoma"/>
                <a:cs typeface="Tahoma"/>
              </a:rPr>
              <a:t>rendimiento,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35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10" dirty="0">
                <a:solidFill>
                  <a:srgbClr val="3D66C7"/>
                </a:solidFill>
                <a:latin typeface="Tahoma"/>
                <a:cs typeface="Tahoma"/>
              </a:rPr>
              <a:t>adopción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10" dirty="0">
                <a:solidFill>
                  <a:srgbClr val="3D66C7"/>
                </a:solidFill>
                <a:latin typeface="Tahoma"/>
                <a:cs typeface="Tahoma"/>
              </a:rPr>
              <a:t>se </a:t>
            </a:r>
            <a:r>
              <a:rPr sz="2200" spc="210" dirty="0">
                <a:solidFill>
                  <a:srgbClr val="3D66C7"/>
                </a:solidFill>
                <a:latin typeface="Tahoma"/>
                <a:cs typeface="Tahoma"/>
              </a:rPr>
              <a:t>incrementa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20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35" dirty="0">
                <a:solidFill>
                  <a:srgbClr val="3D66C7"/>
                </a:solidFill>
                <a:latin typeface="Tahoma"/>
                <a:cs typeface="Tahoma"/>
              </a:rPr>
              <a:t>el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25" dirty="0">
                <a:solidFill>
                  <a:srgbClr val="3D66C7"/>
                </a:solidFill>
                <a:latin typeface="Tahoma"/>
                <a:cs typeface="Tahoma"/>
              </a:rPr>
              <a:t>mercado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15" dirty="0">
                <a:solidFill>
                  <a:srgbClr val="3D66C7"/>
                </a:solidFill>
                <a:latin typeface="Tahoma"/>
                <a:cs typeface="Tahoma"/>
              </a:rPr>
              <a:t>comienza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10" dirty="0">
                <a:solidFill>
                  <a:srgbClr val="3D66C7"/>
                </a:solidFill>
                <a:latin typeface="Tahoma"/>
                <a:cs typeface="Tahoma"/>
              </a:rPr>
              <a:t>a </a:t>
            </a:r>
            <a:r>
              <a:rPr sz="2200" spc="185" dirty="0">
                <a:solidFill>
                  <a:srgbClr val="3D66C7"/>
                </a:solidFill>
                <a:latin typeface="Tahoma"/>
                <a:cs typeface="Tahoma"/>
              </a:rPr>
              <a:t>reconocer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80" dirty="0">
                <a:solidFill>
                  <a:srgbClr val="3D66C7"/>
                </a:solidFill>
                <a:latin typeface="Tahoma"/>
                <a:cs typeface="Tahoma"/>
              </a:rPr>
              <a:t>su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80" dirty="0">
                <a:solidFill>
                  <a:srgbClr val="3D66C7"/>
                </a:solidFill>
                <a:latin typeface="Tahoma"/>
                <a:cs typeface="Tahoma"/>
              </a:rPr>
              <a:t>valor.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45" dirty="0">
                <a:solidFill>
                  <a:srgbClr val="3D66C7"/>
                </a:solidFill>
                <a:latin typeface="Tahoma"/>
                <a:cs typeface="Tahoma"/>
              </a:rPr>
              <a:t>En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50" dirty="0">
                <a:solidFill>
                  <a:srgbClr val="3D66C7"/>
                </a:solidFill>
                <a:latin typeface="Tahoma"/>
                <a:cs typeface="Tahoma"/>
              </a:rPr>
              <a:t>este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60" dirty="0">
                <a:solidFill>
                  <a:srgbClr val="3D66C7"/>
                </a:solidFill>
                <a:latin typeface="Tahoma"/>
                <a:cs typeface="Tahoma"/>
              </a:rPr>
              <a:t>punto,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10" dirty="0">
                <a:solidFill>
                  <a:srgbClr val="3D66C7"/>
                </a:solidFill>
                <a:latin typeface="Tahoma"/>
                <a:cs typeface="Tahoma"/>
              </a:rPr>
              <a:t>la </a:t>
            </a:r>
            <a:r>
              <a:rPr sz="2200" spc="155" dirty="0">
                <a:solidFill>
                  <a:srgbClr val="3D66C7"/>
                </a:solidFill>
                <a:latin typeface="Tahoma"/>
                <a:cs typeface="Tahoma"/>
              </a:rPr>
              <a:t>inversión</a:t>
            </a:r>
            <a:r>
              <a:rPr sz="22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90" dirty="0">
                <a:solidFill>
                  <a:srgbClr val="3D66C7"/>
                </a:solidFill>
                <a:latin typeface="Tahoma"/>
                <a:cs typeface="Tahoma"/>
              </a:rPr>
              <a:t>genera</a:t>
            </a:r>
            <a:r>
              <a:rPr sz="22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60" dirty="0">
                <a:solidFill>
                  <a:srgbClr val="3D66C7"/>
                </a:solidFill>
                <a:latin typeface="Tahoma"/>
                <a:cs typeface="Tahoma"/>
              </a:rPr>
              <a:t>retornos</a:t>
            </a:r>
            <a:r>
              <a:rPr sz="2200" spc="-7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04" dirty="0">
                <a:solidFill>
                  <a:srgbClr val="3D66C7"/>
                </a:solidFill>
                <a:latin typeface="Tahoma"/>
                <a:cs typeface="Tahoma"/>
              </a:rPr>
              <a:t>cada</a:t>
            </a:r>
            <a:r>
              <a:rPr sz="22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25" dirty="0">
                <a:solidFill>
                  <a:srgbClr val="3D66C7"/>
                </a:solidFill>
                <a:latin typeface="Tahoma"/>
                <a:cs typeface="Tahoma"/>
              </a:rPr>
              <a:t>vez </a:t>
            </a:r>
            <a:r>
              <a:rPr sz="2200" spc="130" dirty="0">
                <a:solidFill>
                  <a:srgbClr val="3D66C7"/>
                </a:solidFill>
                <a:latin typeface="Tahoma"/>
                <a:cs typeface="Tahoma"/>
              </a:rPr>
              <a:t>mayores.</a:t>
            </a:r>
            <a:endParaRPr sz="2200">
              <a:latin typeface="Tahoma"/>
              <a:cs typeface="Tahoma"/>
            </a:endParaRPr>
          </a:p>
          <a:p>
            <a:pPr marL="408305" indent="-316865">
              <a:lnSpc>
                <a:spcPct val="100000"/>
              </a:lnSpc>
              <a:spcBef>
                <a:spcPts val="60"/>
              </a:spcBef>
              <a:buSzPct val="97727"/>
              <a:buAutoNum type="arabicPeriod" startAt="3"/>
              <a:tabLst>
                <a:tab pos="408305" algn="l"/>
              </a:tabLst>
            </a:pPr>
            <a:r>
              <a:rPr sz="2200" b="1" spc="60" dirty="0">
                <a:solidFill>
                  <a:srgbClr val="3D66C7"/>
                </a:solidFill>
                <a:latin typeface="Tahoma"/>
                <a:cs typeface="Tahoma"/>
              </a:rPr>
              <a:t>Fase</a:t>
            </a:r>
            <a:r>
              <a:rPr sz="2200" b="1" spc="-2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b="1" spc="9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2200" b="1" spc="-2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3D66C7"/>
                </a:solidFill>
                <a:latin typeface="Tahoma"/>
                <a:cs typeface="Tahoma"/>
              </a:rPr>
              <a:t>Saturación:</a:t>
            </a:r>
            <a:endParaRPr sz="2200">
              <a:latin typeface="Tahoma"/>
              <a:cs typeface="Tahoma"/>
            </a:endParaRPr>
          </a:p>
          <a:p>
            <a:pPr marL="487045" marR="5080">
              <a:lnSpc>
                <a:spcPct val="102299"/>
              </a:lnSpc>
            </a:pPr>
            <a:r>
              <a:rPr sz="2200" spc="175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85" dirty="0">
                <a:solidFill>
                  <a:srgbClr val="3D66C7"/>
                </a:solidFill>
                <a:latin typeface="Tahoma"/>
                <a:cs typeface="Tahoma"/>
              </a:rPr>
              <a:t>tecnología</a:t>
            </a:r>
            <a:r>
              <a:rPr sz="22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75" dirty="0">
                <a:solidFill>
                  <a:srgbClr val="3D66C7"/>
                </a:solidFill>
                <a:latin typeface="Tahoma"/>
                <a:cs typeface="Tahoma"/>
              </a:rPr>
              <a:t>alcanza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80" dirty="0">
                <a:solidFill>
                  <a:srgbClr val="3D66C7"/>
                </a:solidFill>
                <a:latin typeface="Tahoma"/>
                <a:cs typeface="Tahoma"/>
              </a:rPr>
              <a:t>su</a:t>
            </a:r>
            <a:r>
              <a:rPr sz="22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25" dirty="0">
                <a:solidFill>
                  <a:srgbClr val="3D66C7"/>
                </a:solidFill>
                <a:latin typeface="Tahoma"/>
                <a:cs typeface="Tahoma"/>
              </a:rPr>
              <a:t>punto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45" dirty="0">
                <a:solidFill>
                  <a:srgbClr val="3D66C7"/>
                </a:solidFill>
                <a:latin typeface="Tahoma"/>
                <a:cs typeface="Tahoma"/>
              </a:rPr>
              <a:t>máximo</a:t>
            </a:r>
            <a:r>
              <a:rPr sz="2200" spc="-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95" dirty="0">
                <a:solidFill>
                  <a:srgbClr val="3D66C7"/>
                </a:solidFill>
                <a:latin typeface="Tahoma"/>
                <a:cs typeface="Tahoma"/>
              </a:rPr>
              <a:t>de </a:t>
            </a:r>
            <a:r>
              <a:rPr sz="2200" spc="175" dirty="0">
                <a:solidFill>
                  <a:srgbClr val="3D66C7"/>
                </a:solidFill>
                <a:latin typeface="Tahoma"/>
                <a:cs typeface="Tahoma"/>
              </a:rPr>
              <a:t>rendimiento,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229" dirty="0">
                <a:solidFill>
                  <a:srgbClr val="3D66C7"/>
                </a:solidFill>
                <a:latin typeface="Tahoma"/>
                <a:cs typeface="Tahoma"/>
              </a:rPr>
              <a:t>donde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20" dirty="0">
                <a:solidFill>
                  <a:srgbClr val="3D66C7"/>
                </a:solidFill>
                <a:latin typeface="Tahoma"/>
                <a:cs typeface="Tahoma"/>
              </a:rPr>
              <a:t>las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55" dirty="0">
                <a:solidFill>
                  <a:srgbClr val="3D66C7"/>
                </a:solidFill>
                <a:latin typeface="Tahoma"/>
                <a:cs typeface="Tahoma"/>
              </a:rPr>
              <a:t>mejoras </a:t>
            </a:r>
            <a:r>
              <a:rPr sz="2200" spc="170" dirty="0">
                <a:solidFill>
                  <a:srgbClr val="3D66C7"/>
                </a:solidFill>
                <a:latin typeface="Tahoma"/>
                <a:cs typeface="Tahoma"/>
              </a:rPr>
              <a:t>adicionales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85" dirty="0">
                <a:solidFill>
                  <a:srgbClr val="3D66C7"/>
                </a:solidFill>
                <a:latin typeface="Tahoma"/>
                <a:cs typeface="Tahoma"/>
              </a:rPr>
              <a:t>son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90" dirty="0">
                <a:solidFill>
                  <a:srgbClr val="3D66C7"/>
                </a:solidFill>
                <a:latin typeface="Tahoma"/>
                <a:cs typeface="Tahoma"/>
              </a:rPr>
              <a:t>marginales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20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10" dirty="0">
                <a:solidFill>
                  <a:srgbClr val="3D66C7"/>
                </a:solidFill>
                <a:latin typeface="Tahoma"/>
                <a:cs typeface="Tahoma"/>
              </a:rPr>
              <a:t>el </a:t>
            </a:r>
            <a:r>
              <a:rPr sz="2200" spc="200" dirty="0">
                <a:solidFill>
                  <a:srgbClr val="3D66C7"/>
                </a:solidFill>
                <a:latin typeface="Tahoma"/>
                <a:cs typeface="Tahoma"/>
              </a:rPr>
              <a:t>crecimiento</a:t>
            </a:r>
            <a:r>
              <a:rPr sz="2200" spc="-9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35" dirty="0">
                <a:solidFill>
                  <a:srgbClr val="3D66C7"/>
                </a:solidFill>
                <a:latin typeface="Tahoma"/>
                <a:cs typeface="Tahoma"/>
              </a:rPr>
              <a:t>se</a:t>
            </a:r>
            <a:r>
              <a:rPr sz="2200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2200" spc="125" dirty="0">
                <a:solidFill>
                  <a:srgbClr val="3D66C7"/>
                </a:solidFill>
                <a:latin typeface="Tahoma"/>
                <a:cs typeface="Tahoma"/>
              </a:rPr>
              <a:t>desacelera.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12863" y="8644980"/>
            <a:ext cx="15727044" cy="79692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49090" marR="5080" indent="-4137025">
              <a:lnSpc>
                <a:spcPct val="102499"/>
              </a:lnSpc>
              <a:spcBef>
                <a:spcPts val="25"/>
              </a:spcBef>
            </a:pPr>
            <a:r>
              <a:rPr sz="2500" spc="275" dirty="0">
                <a:solidFill>
                  <a:srgbClr val="244DAC"/>
                </a:solidFill>
                <a:latin typeface="Tahoma"/>
                <a:cs typeface="Tahoma"/>
              </a:rPr>
              <a:t>En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180" dirty="0">
                <a:solidFill>
                  <a:srgbClr val="244DAC"/>
                </a:solidFill>
                <a:latin typeface="Tahoma"/>
                <a:cs typeface="Tahoma"/>
              </a:rPr>
              <a:t>este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195" dirty="0">
                <a:solidFill>
                  <a:srgbClr val="244DAC"/>
                </a:solidFill>
                <a:latin typeface="Tahoma"/>
                <a:cs typeface="Tahoma"/>
              </a:rPr>
              <a:t>modelo,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240" dirty="0">
                <a:solidFill>
                  <a:srgbClr val="244DAC"/>
                </a:solidFill>
                <a:latin typeface="Tahoma"/>
                <a:cs typeface="Tahoma"/>
              </a:rPr>
              <a:t>una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210" dirty="0">
                <a:solidFill>
                  <a:srgbClr val="244DAC"/>
                </a:solidFill>
                <a:latin typeface="Tahoma"/>
                <a:cs typeface="Tahoma"/>
              </a:rPr>
              <a:t>nueva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210" dirty="0">
                <a:solidFill>
                  <a:srgbClr val="244DAC"/>
                </a:solidFill>
                <a:latin typeface="Tahoma"/>
                <a:cs typeface="Tahoma"/>
              </a:rPr>
              <a:t>tecnología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260" dirty="0">
                <a:solidFill>
                  <a:srgbClr val="244DAC"/>
                </a:solidFill>
                <a:latin typeface="Tahoma"/>
                <a:cs typeface="Tahoma"/>
              </a:rPr>
              <a:t>emerge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195" dirty="0">
                <a:solidFill>
                  <a:srgbClr val="244DAC"/>
                </a:solidFill>
                <a:latin typeface="Tahoma"/>
                <a:cs typeface="Tahoma"/>
              </a:rPr>
              <a:t>antes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254" dirty="0">
                <a:solidFill>
                  <a:srgbClr val="244DAC"/>
                </a:solidFill>
                <a:latin typeface="Tahoma"/>
                <a:cs typeface="Tahoma"/>
              </a:rPr>
              <a:t>de</a:t>
            </a:r>
            <a:r>
              <a:rPr sz="2500" spc="-95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260" dirty="0">
                <a:solidFill>
                  <a:srgbClr val="244DAC"/>
                </a:solidFill>
                <a:latin typeface="Tahoma"/>
                <a:cs typeface="Tahoma"/>
              </a:rPr>
              <a:t>que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145" dirty="0">
                <a:solidFill>
                  <a:srgbClr val="244DAC"/>
                </a:solidFill>
                <a:latin typeface="Tahoma"/>
                <a:cs typeface="Tahoma"/>
              </a:rPr>
              <a:t>la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175" dirty="0">
                <a:solidFill>
                  <a:srgbClr val="244DAC"/>
                </a:solidFill>
                <a:latin typeface="Tahoma"/>
                <a:cs typeface="Tahoma"/>
              </a:rPr>
              <a:t>anterior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165" dirty="0">
                <a:solidFill>
                  <a:srgbClr val="244DAC"/>
                </a:solidFill>
                <a:latin typeface="Tahoma"/>
                <a:cs typeface="Tahoma"/>
              </a:rPr>
              <a:t>se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170" dirty="0">
                <a:solidFill>
                  <a:srgbClr val="244DAC"/>
                </a:solidFill>
                <a:latin typeface="Tahoma"/>
                <a:cs typeface="Tahoma"/>
              </a:rPr>
              <a:t>vuelva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250" dirty="0">
                <a:solidFill>
                  <a:srgbClr val="244DAC"/>
                </a:solidFill>
                <a:latin typeface="Tahoma"/>
                <a:cs typeface="Tahoma"/>
              </a:rPr>
              <a:t>completamente </a:t>
            </a:r>
            <a:r>
              <a:rPr sz="2500" spc="145" dirty="0">
                <a:solidFill>
                  <a:srgbClr val="244DAC"/>
                </a:solidFill>
                <a:latin typeface="Tahoma"/>
                <a:cs typeface="Tahoma"/>
              </a:rPr>
              <a:t>obsoleta,</a:t>
            </a:r>
            <a:r>
              <a:rPr sz="2500" spc="-100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210" dirty="0">
                <a:solidFill>
                  <a:srgbClr val="244DAC"/>
                </a:solidFill>
                <a:latin typeface="Tahoma"/>
                <a:cs typeface="Tahoma"/>
              </a:rPr>
              <a:t>iniciando</a:t>
            </a:r>
            <a:r>
              <a:rPr sz="2500" spc="-95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135" dirty="0">
                <a:solidFill>
                  <a:srgbClr val="244DAC"/>
                </a:solidFill>
                <a:latin typeface="Tahoma"/>
                <a:cs typeface="Tahoma"/>
              </a:rPr>
              <a:t>así</a:t>
            </a:r>
            <a:r>
              <a:rPr sz="2500" spc="-95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240" dirty="0">
                <a:solidFill>
                  <a:srgbClr val="244DAC"/>
                </a:solidFill>
                <a:latin typeface="Tahoma"/>
                <a:cs typeface="Tahoma"/>
              </a:rPr>
              <a:t>una</a:t>
            </a:r>
            <a:r>
              <a:rPr sz="2500" spc="-95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210" dirty="0">
                <a:solidFill>
                  <a:srgbClr val="244DAC"/>
                </a:solidFill>
                <a:latin typeface="Tahoma"/>
                <a:cs typeface="Tahoma"/>
              </a:rPr>
              <a:t>nueva</a:t>
            </a:r>
            <a:r>
              <a:rPr sz="2500" spc="-95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190" dirty="0">
                <a:solidFill>
                  <a:srgbClr val="244DAC"/>
                </a:solidFill>
                <a:latin typeface="Tahoma"/>
                <a:cs typeface="Tahoma"/>
              </a:rPr>
              <a:t>curva</a:t>
            </a:r>
            <a:r>
              <a:rPr sz="2500" spc="-95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245" dirty="0">
                <a:solidFill>
                  <a:srgbClr val="244DAC"/>
                </a:solidFill>
                <a:latin typeface="Tahoma"/>
                <a:cs typeface="Tahoma"/>
              </a:rPr>
              <a:t>en</a:t>
            </a:r>
            <a:r>
              <a:rPr sz="2500" spc="-95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244DAC"/>
                </a:solidFill>
                <a:latin typeface="Tahoma"/>
                <a:cs typeface="Tahoma"/>
              </a:rPr>
              <a:t>“S”.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459799"/>
            <a:ext cx="4750435" cy="8229600"/>
            <a:chOff x="0" y="459799"/>
            <a:chExt cx="4750435" cy="8229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59799"/>
              <a:ext cx="4750175" cy="82295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214" y="5324674"/>
              <a:ext cx="955928" cy="955928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40454" y="4008395"/>
            <a:ext cx="13144499" cy="5200649"/>
          </a:xfrm>
          <a:prstGeom prst="rect">
            <a:avLst/>
          </a:prstGeom>
        </p:spPr>
      </p:pic>
      <p:sp>
        <p:nvSpPr>
          <p:cNvPr id="11" name="object 11" descr="$PPTXTitle"/>
          <p:cNvSpPr txBox="1"/>
          <p:nvPr/>
        </p:nvSpPr>
        <p:spPr>
          <a:xfrm>
            <a:off x="1016000" y="1678362"/>
            <a:ext cx="6012815" cy="2298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8940"/>
              </a:lnSpc>
              <a:spcBef>
                <a:spcPts val="110"/>
              </a:spcBef>
            </a:pPr>
            <a:r>
              <a:rPr sz="8500" b="1" spc="210" dirty="0">
                <a:solidFill>
                  <a:srgbClr val="3D66C7"/>
                </a:solidFill>
                <a:latin typeface="Tahoma"/>
                <a:cs typeface="Tahoma"/>
              </a:rPr>
              <a:t>Curvas</a:t>
            </a:r>
            <a:r>
              <a:rPr sz="8500" b="1" spc="-8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8500" b="1" spc="-25" dirty="0">
                <a:solidFill>
                  <a:srgbClr val="3D66C7"/>
                </a:solidFill>
                <a:latin typeface="Tahoma"/>
                <a:cs typeface="Tahoma"/>
              </a:rPr>
              <a:t>“S”</a:t>
            </a:r>
            <a:endParaRPr sz="8500" dirty="0">
              <a:latin typeface="Tahoma"/>
              <a:cs typeface="Tahoma"/>
            </a:endParaRPr>
          </a:p>
          <a:p>
            <a:pPr marL="12700">
              <a:lnSpc>
                <a:spcPts val="8940"/>
              </a:lnSpc>
            </a:pPr>
            <a:r>
              <a:rPr sz="8500" b="1" spc="335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8500" b="1" spc="-14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8500" b="1" spc="140" dirty="0">
                <a:solidFill>
                  <a:srgbClr val="3D66C7"/>
                </a:solidFill>
                <a:latin typeface="Tahoma"/>
                <a:cs typeface="Tahoma"/>
              </a:rPr>
              <a:t>Clayton</a:t>
            </a:r>
            <a:endParaRPr sz="8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06653" y="4540501"/>
            <a:ext cx="25361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45" dirty="0">
                <a:solidFill>
                  <a:srgbClr val="244DAC"/>
                </a:solidFill>
                <a:latin typeface="Tahoma"/>
                <a:cs typeface="Tahoma"/>
              </a:rPr>
              <a:t>Ciclo</a:t>
            </a:r>
            <a:r>
              <a:rPr sz="3000" spc="-125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3000" spc="315" dirty="0">
                <a:solidFill>
                  <a:srgbClr val="244DAC"/>
                </a:solidFill>
                <a:latin typeface="Tahoma"/>
                <a:cs typeface="Tahoma"/>
              </a:rPr>
              <a:t>de</a:t>
            </a:r>
            <a:r>
              <a:rPr sz="3000" spc="-125" dirty="0">
                <a:solidFill>
                  <a:srgbClr val="244DAC"/>
                </a:solidFill>
                <a:latin typeface="Tahoma"/>
                <a:cs typeface="Tahoma"/>
              </a:rPr>
              <a:t> </a:t>
            </a:r>
            <a:r>
              <a:rPr sz="3000" spc="245" dirty="0">
                <a:solidFill>
                  <a:srgbClr val="244DAC"/>
                </a:solidFill>
                <a:latin typeface="Tahoma"/>
                <a:cs typeface="Tahoma"/>
              </a:rPr>
              <a:t>Vida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55867" y="701870"/>
            <a:ext cx="15376264" cy="2226572"/>
          </a:xfrm>
          <a:prstGeom prst="rect">
            <a:avLst/>
          </a:prstGeom>
        </p:spPr>
        <p:txBody>
          <a:bodyPr vert="horz" wrap="square" lIns="0" tIns="349250" rIns="0" bIns="0" rtlCol="0">
            <a:spAutoFit/>
          </a:bodyPr>
          <a:lstStyle/>
          <a:p>
            <a:pPr marL="12700" marR="5080">
              <a:lnSpc>
                <a:spcPct val="74100"/>
              </a:lnSpc>
              <a:spcBef>
                <a:spcPts val="2750"/>
              </a:spcBef>
            </a:pPr>
            <a:r>
              <a:rPr sz="8000" spc="254" dirty="0"/>
              <a:t>Ciclo</a:t>
            </a:r>
            <a:r>
              <a:rPr sz="8000" spc="-75" dirty="0"/>
              <a:t> </a:t>
            </a:r>
            <a:r>
              <a:rPr sz="8000" spc="415" dirty="0"/>
              <a:t>de</a:t>
            </a:r>
            <a:r>
              <a:rPr sz="8000" spc="-75" dirty="0"/>
              <a:t> </a:t>
            </a:r>
            <a:r>
              <a:rPr sz="8000" spc="180" dirty="0"/>
              <a:t>expectativas </a:t>
            </a:r>
            <a:r>
              <a:rPr sz="8000" spc="265" dirty="0"/>
              <a:t>tecnológicas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0979" y="4041682"/>
            <a:ext cx="6484620" cy="3923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10" dirty="0">
                <a:solidFill>
                  <a:srgbClr val="3D66C7"/>
                </a:solidFill>
                <a:latin typeface="Tahoma"/>
                <a:cs typeface="Tahoma"/>
              </a:rPr>
              <a:t>Gartner</a:t>
            </a:r>
            <a:endParaRPr sz="3500">
              <a:latin typeface="Tahoma"/>
              <a:cs typeface="Tahoma"/>
            </a:endParaRPr>
          </a:p>
          <a:p>
            <a:pPr marL="12700" marR="5080">
              <a:lnSpc>
                <a:spcPct val="104200"/>
              </a:lnSpc>
              <a:spcBef>
                <a:spcPts val="3984"/>
              </a:spcBef>
            </a:pP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El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Ciclo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Expectativas </a:t>
            </a:r>
            <a:r>
              <a:rPr sz="3000" i="1" spc="50" dirty="0">
                <a:solidFill>
                  <a:srgbClr val="3D66C7"/>
                </a:solidFill>
                <a:latin typeface="Verdana"/>
                <a:cs typeface="Verdana"/>
              </a:rPr>
              <a:t>Tecnológicas</a:t>
            </a:r>
            <a:r>
              <a:rPr sz="3000" i="1" spc="-20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20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Gartner</a:t>
            </a:r>
            <a:r>
              <a:rPr sz="3000" i="1" spc="-20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55" dirty="0">
                <a:solidFill>
                  <a:srgbClr val="3D66C7"/>
                </a:solidFill>
                <a:latin typeface="Verdana"/>
                <a:cs typeface="Verdana"/>
              </a:rPr>
              <a:t>es</a:t>
            </a:r>
            <a:r>
              <a:rPr sz="3000" i="1" spc="-20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5" dirty="0">
                <a:solidFill>
                  <a:srgbClr val="3D66C7"/>
                </a:solidFill>
                <a:latin typeface="Verdana"/>
                <a:cs typeface="Verdana"/>
              </a:rPr>
              <a:t>un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modelo</a:t>
            </a:r>
            <a:r>
              <a:rPr sz="3000" i="1" spc="-20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90" dirty="0">
                <a:solidFill>
                  <a:srgbClr val="3D66C7"/>
                </a:solidFill>
                <a:latin typeface="Verdana"/>
                <a:cs typeface="Verdana"/>
              </a:rPr>
              <a:t>que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describe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00" dirty="0">
                <a:solidFill>
                  <a:srgbClr val="3D66C7"/>
                </a:solidFill>
                <a:latin typeface="Verdana"/>
                <a:cs typeface="Verdana"/>
              </a:rPr>
              <a:t>la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evolución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26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50" dirty="0">
                <a:solidFill>
                  <a:srgbClr val="3D66C7"/>
                </a:solidFill>
                <a:latin typeface="Verdana"/>
                <a:cs typeface="Verdana"/>
              </a:rPr>
              <a:t>una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nueva</a:t>
            </a:r>
            <a:r>
              <a:rPr sz="3000" i="1" spc="-26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75" dirty="0">
                <a:solidFill>
                  <a:srgbClr val="3D66C7"/>
                </a:solidFill>
                <a:latin typeface="Verdana"/>
                <a:cs typeface="Verdana"/>
              </a:rPr>
              <a:t>tecnología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desde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su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introducción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95" dirty="0">
                <a:solidFill>
                  <a:srgbClr val="3D66C7"/>
                </a:solidFill>
                <a:latin typeface="Verdana"/>
                <a:cs typeface="Verdana"/>
              </a:rPr>
              <a:t>hasta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25" dirty="0">
                <a:solidFill>
                  <a:srgbClr val="3D66C7"/>
                </a:solidFill>
                <a:latin typeface="Verdana"/>
                <a:cs typeface="Verdana"/>
              </a:rPr>
              <a:t>su </a:t>
            </a:r>
            <a:r>
              <a:rPr sz="3000" i="1" spc="105" dirty="0">
                <a:solidFill>
                  <a:srgbClr val="3D66C7"/>
                </a:solidFill>
                <a:latin typeface="Verdana"/>
                <a:cs typeface="Verdana"/>
              </a:rPr>
              <a:t>adopción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masiva.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58300"/>
            <a:ext cx="726598" cy="10286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990599"/>
            <a:ext cx="18287999" cy="8668546"/>
            <a:chOff x="0" y="990599"/>
            <a:chExt cx="18287999" cy="8668546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90599"/>
              <a:ext cx="18287999" cy="380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0597" y="3791746"/>
              <a:ext cx="8934449" cy="58673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9645" y="4843526"/>
            <a:ext cx="17811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10" dirty="0">
                <a:solidFill>
                  <a:srgbClr val="3D66C7"/>
                </a:solidFill>
                <a:latin typeface="Tahoma"/>
                <a:cs typeface="Tahoma"/>
              </a:rPr>
              <a:t>Gartner</a:t>
            </a:r>
            <a:endParaRPr sz="35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58300"/>
            <a:ext cx="726598" cy="10286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535255"/>
            <a:ext cx="18287999" cy="493443"/>
            <a:chOff x="0" y="535255"/>
            <a:chExt cx="18287999" cy="493443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90599"/>
              <a:ext cx="18287999" cy="380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67862" y="535255"/>
              <a:ext cx="399157" cy="6329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08577" y="3563061"/>
            <a:ext cx="9553574" cy="6267449"/>
          </a:xfrm>
          <a:prstGeom prst="rect">
            <a:avLst/>
          </a:prstGeom>
        </p:spPr>
      </p:pic>
      <p:sp>
        <p:nvSpPr>
          <p:cNvPr id="12" name="object 12" descr="$PPTXTitle"/>
          <p:cNvSpPr txBox="1"/>
          <p:nvPr/>
        </p:nvSpPr>
        <p:spPr>
          <a:xfrm>
            <a:off x="393779" y="1458626"/>
            <a:ext cx="9944460" cy="201465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6500" b="1" spc="254" dirty="0" err="1">
                <a:solidFill>
                  <a:srgbClr val="3D66C7"/>
                </a:solidFill>
                <a:latin typeface="Tahoma"/>
                <a:cs typeface="Tahoma"/>
              </a:rPr>
              <a:t>Ciclo</a:t>
            </a:r>
            <a:r>
              <a:rPr sz="6500" b="1" spc="-7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6500" b="1" spc="390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lang="es-ES" sz="6500" dirty="0">
                <a:latin typeface="Tahoma"/>
                <a:cs typeface="Tahoma"/>
              </a:rPr>
              <a:t> </a:t>
            </a:r>
            <a:r>
              <a:rPr sz="6500" b="1" spc="180" dirty="0" err="1">
                <a:solidFill>
                  <a:srgbClr val="3D66C7"/>
                </a:solidFill>
                <a:latin typeface="Tahoma"/>
                <a:cs typeface="Tahoma"/>
              </a:rPr>
              <a:t>expectativas</a:t>
            </a:r>
            <a:r>
              <a:rPr sz="6500" b="1" spc="18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6500" b="1" spc="265" dirty="0">
                <a:solidFill>
                  <a:srgbClr val="3D66C7"/>
                </a:solidFill>
                <a:latin typeface="Tahoma"/>
                <a:cs typeface="Tahoma"/>
              </a:rPr>
              <a:t>tecnológicas</a:t>
            </a:r>
            <a:endParaRPr sz="6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9799"/>
            <a:ext cx="18288000" cy="8229600"/>
            <a:chOff x="0" y="459799"/>
            <a:chExt cx="18288000" cy="822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59799"/>
              <a:ext cx="4750175" cy="82295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90599"/>
              <a:ext cx="18287999" cy="380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67862" y="535255"/>
              <a:ext cx="399157" cy="6329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258300"/>
            <a:ext cx="726598" cy="10286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48906" y="8515891"/>
            <a:ext cx="1318118" cy="131811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4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650" spc="195" dirty="0"/>
              <a:t>Ciclo</a:t>
            </a:r>
            <a:r>
              <a:rPr sz="6650" spc="-50" dirty="0"/>
              <a:t> </a:t>
            </a:r>
            <a:r>
              <a:rPr sz="6650" spc="300" dirty="0"/>
              <a:t>de</a:t>
            </a:r>
            <a:r>
              <a:rPr sz="6650" spc="-50" dirty="0"/>
              <a:t> </a:t>
            </a:r>
            <a:r>
              <a:rPr sz="6650" spc="140" dirty="0"/>
              <a:t>expectativas</a:t>
            </a:r>
            <a:r>
              <a:rPr sz="6650" spc="-45" dirty="0"/>
              <a:t> </a:t>
            </a:r>
            <a:r>
              <a:rPr sz="6650" spc="190" dirty="0"/>
              <a:t>tecnológicas</a:t>
            </a:r>
            <a:endParaRPr sz="6650"/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3300" spc="-10" dirty="0"/>
              <a:t>Gartner</a:t>
            </a:r>
            <a:endParaRPr sz="330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20916" y="2682673"/>
            <a:ext cx="11096624" cy="73818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58300"/>
            <a:ext cx="726598" cy="10286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5451" y="3234523"/>
            <a:ext cx="9972674" cy="6296024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119645" y="1516380"/>
            <a:ext cx="13018769" cy="124521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0" spc="400" dirty="0"/>
              <a:t>Adopcion</a:t>
            </a:r>
            <a:r>
              <a:rPr sz="8000" spc="-85" dirty="0"/>
              <a:t> </a:t>
            </a:r>
            <a:r>
              <a:rPr sz="8000" spc="265" dirty="0"/>
              <a:t>tecnológicas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19645" y="3191343"/>
            <a:ext cx="5527040" cy="66738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50"/>
              </a:spcBef>
            </a:pPr>
            <a:r>
              <a:rPr sz="3000" i="1" spc="155" dirty="0">
                <a:solidFill>
                  <a:srgbClr val="3D66C7"/>
                </a:solidFill>
                <a:latin typeface="Verdana"/>
                <a:cs typeface="Verdana"/>
              </a:rPr>
              <a:t>La</a:t>
            </a:r>
            <a:r>
              <a:rPr sz="3000" i="1" spc="-21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Curva</a:t>
            </a:r>
            <a:r>
              <a:rPr sz="3000" i="1" spc="-21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21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75" dirty="0">
                <a:solidFill>
                  <a:srgbClr val="3D66C7"/>
                </a:solidFill>
                <a:latin typeface="Verdana"/>
                <a:cs typeface="Verdana"/>
              </a:rPr>
              <a:t>Adopción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Tecnológica</a:t>
            </a:r>
            <a:r>
              <a:rPr sz="3000" i="1" spc="-11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explica</a:t>
            </a:r>
            <a:r>
              <a:rPr sz="3000" i="1" spc="-11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95" dirty="0">
                <a:solidFill>
                  <a:srgbClr val="3D66C7"/>
                </a:solidFill>
                <a:latin typeface="Verdana"/>
                <a:cs typeface="Verdana"/>
              </a:rPr>
              <a:t>cómo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diferentes</a:t>
            </a:r>
            <a:r>
              <a:rPr sz="3000" i="1" spc="-22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50" dirty="0">
                <a:solidFill>
                  <a:srgbClr val="3D66C7"/>
                </a:solidFill>
                <a:latin typeface="Verdana"/>
                <a:cs typeface="Verdana"/>
              </a:rPr>
              <a:t>grupos</a:t>
            </a:r>
            <a:r>
              <a:rPr sz="3000" i="1" spc="-21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25" dirty="0">
                <a:solidFill>
                  <a:srgbClr val="3D66C7"/>
                </a:solidFill>
                <a:latin typeface="Verdana"/>
                <a:cs typeface="Verdana"/>
              </a:rPr>
              <a:t>adoptan </a:t>
            </a:r>
            <a:r>
              <a:rPr sz="3000" i="1" spc="150" dirty="0">
                <a:solidFill>
                  <a:srgbClr val="3D66C7"/>
                </a:solidFill>
                <a:latin typeface="Verdana"/>
                <a:cs typeface="Verdana"/>
              </a:rPr>
              <a:t>una</a:t>
            </a:r>
            <a:r>
              <a:rPr sz="3000" i="1" spc="-26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nueva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75" dirty="0">
                <a:solidFill>
                  <a:srgbClr val="3D66C7"/>
                </a:solidFill>
                <a:latin typeface="Verdana"/>
                <a:cs typeface="Verdana"/>
              </a:rPr>
              <a:t>tecnología</a:t>
            </a:r>
            <a:r>
              <a:rPr sz="3000" i="1" spc="-26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95" dirty="0">
                <a:solidFill>
                  <a:srgbClr val="3D66C7"/>
                </a:solidFill>
                <a:latin typeface="Verdana"/>
                <a:cs typeface="Verdana"/>
              </a:rPr>
              <a:t>con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25" dirty="0">
                <a:solidFill>
                  <a:srgbClr val="3D66C7"/>
                </a:solidFill>
                <a:latin typeface="Verdana"/>
                <a:cs typeface="Verdana"/>
              </a:rPr>
              <a:t>el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tiempo.</a:t>
            </a:r>
            <a:r>
              <a:rPr sz="3000" i="1" spc="-22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0" dirty="0">
                <a:solidFill>
                  <a:srgbClr val="3D66C7"/>
                </a:solidFill>
                <a:latin typeface="Verdana"/>
                <a:cs typeface="Verdana"/>
              </a:rPr>
              <a:t>Se</a:t>
            </a:r>
            <a:r>
              <a:rPr sz="3000" i="1" spc="-22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divide</a:t>
            </a:r>
            <a:r>
              <a:rPr sz="3000" i="1" spc="-22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en</a:t>
            </a:r>
            <a:r>
              <a:rPr sz="3000" i="1" spc="-22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cinco </a:t>
            </a:r>
            <a:r>
              <a:rPr sz="3000" i="1" spc="-40" dirty="0">
                <a:solidFill>
                  <a:srgbClr val="3D66C7"/>
                </a:solidFill>
                <a:latin typeface="Verdana"/>
                <a:cs typeface="Verdana"/>
              </a:rPr>
              <a:t>segmentos:</a:t>
            </a:r>
            <a:r>
              <a:rPr sz="3000" i="1" spc="-18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Innovadores,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Adoptadores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Tempranos,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Mayoría</a:t>
            </a:r>
            <a:r>
              <a:rPr sz="3000" i="1" spc="-9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Temprana,</a:t>
            </a:r>
            <a:r>
              <a:rPr sz="3000" i="1" spc="-9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70" dirty="0">
                <a:solidFill>
                  <a:srgbClr val="3D66C7"/>
                </a:solidFill>
                <a:latin typeface="Verdana"/>
                <a:cs typeface="Verdana"/>
              </a:rPr>
              <a:t>Mayoría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Tardía</a:t>
            </a:r>
            <a:r>
              <a:rPr sz="3000" i="1" spc="-15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65" dirty="0">
                <a:solidFill>
                  <a:srgbClr val="3D66C7"/>
                </a:solidFill>
                <a:latin typeface="Verdana"/>
                <a:cs typeface="Verdana"/>
              </a:rPr>
              <a:t>y</a:t>
            </a:r>
            <a:r>
              <a:rPr sz="3000" i="1" spc="-1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Rezagados.</a:t>
            </a:r>
            <a:r>
              <a:rPr sz="3000" i="1" spc="-1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20" dirty="0">
                <a:solidFill>
                  <a:srgbClr val="3D66C7"/>
                </a:solidFill>
                <a:latin typeface="Verdana"/>
                <a:cs typeface="Verdana"/>
              </a:rPr>
              <a:t>Este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modelo</a:t>
            </a:r>
            <a:r>
              <a:rPr sz="3000" i="1" spc="-26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10" dirty="0">
                <a:solidFill>
                  <a:srgbClr val="3D66C7"/>
                </a:solidFill>
                <a:latin typeface="Verdana"/>
                <a:cs typeface="Verdana"/>
              </a:rPr>
              <a:t>ayuda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229" dirty="0">
                <a:solidFill>
                  <a:srgbClr val="3D66C7"/>
                </a:solidFill>
                <a:latin typeface="Verdana"/>
                <a:cs typeface="Verdana"/>
              </a:rPr>
              <a:t>a</a:t>
            </a:r>
            <a:r>
              <a:rPr sz="3000" i="1" spc="-26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45" dirty="0">
                <a:solidFill>
                  <a:srgbClr val="3D66C7"/>
                </a:solidFill>
                <a:latin typeface="Verdana"/>
                <a:cs typeface="Verdana"/>
              </a:rPr>
              <a:t>entender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75" dirty="0">
                <a:solidFill>
                  <a:srgbClr val="3D66C7"/>
                </a:solidFill>
                <a:latin typeface="Verdana"/>
                <a:cs typeface="Verdana"/>
              </a:rPr>
              <a:t>la </a:t>
            </a:r>
            <a:r>
              <a:rPr sz="3000" i="1" spc="55" dirty="0">
                <a:solidFill>
                  <a:srgbClr val="3D66C7"/>
                </a:solidFill>
                <a:latin typeface="Verdana"/>
                <a:cs typeface="Verdana"/>
              </a:rPr>
              <a:t>velocidad</a:t>
            </a:r>
            <a:r>
              <a:rPr sz="3000" i="1" spc="-26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05" dirty="0">
                <a:solidFill>
                  <a:srgbClr val="3D66C7"/>
                </a:solidFill>
                <a:latin typeface="Verdana"/>
                <a:cs typeface="Verdana"/>
              </a:rPr>
              <a:t>adopción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65" dirty="0">
                <a:solidFill>
                  <a:srgbClr val="3D66C7"/>
                </a:solidFill>
                <a:latin typeface="Verdana"/>
                <a:cs typeface="Verdana"/>
              </a:rPr>
              <a:t>y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25" dirty="0">
                <a:solidFill>
                  <a:srgbClr val="3D66C7"/>
                </a:solidFill>
                <a:latin typeface="Verdana"/>
                <a:cs typeface="Verdana"/>
              </a:rPr>
              <a:t>las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estrategias</a:t>
            </a:r>
            <a:r>
              <a:rPr sz="3000" i="1" spc="1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necesarias</a:t>
            </a:r>
            <a:r>
              <a:rPr sz="3000" i="1" spc="1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14" dirty="0">
                <a:solidFill>
                  <a:srgbClr val="3D66C7"/>
                </a:solidFill>
                <a:latin typeface="Verdana"/>
                <a:cs typeface="Verdana"/>
              </a:rPr>
              <a:t>para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impulsar</a:t>
            </a:r>
            <a:r>
              <a:rPr sz="3000" i="1" spc="-20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00" dirty="0">
                <a:solidFill>
                  <a:srgbClr val="3D66C7"/>
                </a:solidFill>
                <a:latin typeface="Verdana"/>
                <a:cs typeface="Verdana"/>
              </a:rPr>
              <a:t>la</a:t>
            </a:r>
            <a:r>
              <a:rPr sz="3000" i="1" spc="-20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difusión</a:t>
            </a:r>
            <a:r>
              <a:rPr sz="3000" i="1" spc="-20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25" dirty="0">
                <a:solidFill>
                  <a:srgbClr val="3D66C7"/>
                </a:solidFill>
                <a:latin typeface="Verdana"/>
                <a:cs typeface="Verdana"/>
              </a:rPr>
              <a:t>una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innovación</a:t>
            </a:r>
            <a:r>
              <a:rPr sz="3000" i="1" spc="-26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en</a:t>
            </a:r>
            <a:r>
              <a:rPr sz="3000" i="1" spc="-26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el</a:t>
            </a:r>
            <a:r>
              <a:rPr sz="3000" i="1" spc="-26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mercado.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58300"/>
            <a:ext cx="726598" cy="10286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48906" y="8515891"/>
            <a:ext cx="1318118" cy="13181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6000" y="3999229"/>
            <a:ext cx="5962650" cy="572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100"/>
              </a:spcBef>
            </a:pP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El</a:t>
            </a:r>
            <a:r>
              <a:rPr sz="3000" i="1" spc="-18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desarrollo</a:t>
            </a:r>
            <a:r>
              <a:rPr sz="3000" i="1" spc="-17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18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45" dirty="0">
                <a:solidFill>
                  <a:srgbClr val="3D66C7"/>
                </a:solidFill>
                <a:latin typeface="Verdana"/>
                <a:cs typeface="Verdana"/>
              </a:rPr>
              <a:t>tecnologías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sigue</a:t>
            </a:r>
            <a:r>
              <a:rPr sz="3000" i="1" spc="-20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10" dirty="0">
                <a:solidFill>
                  <a:srgbClr val="3D66C7"/>
                </a:solidFill>
                <a:latin typeface="Verdana"/>
                <a:cs typeface="Verdana"/>
              </a:rPr>
              <a:t>un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50" dirty="0">
                <a:solidFill>
                  <a:srgbClr val="3D66C7"/>
                </a:solidFill>
                <a:latin typeface="Verdana"/>
                <a:cs typeface="Verdana"/>
              </a:rPr>
              <a:t>ciclo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vida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90" dirty="0">
                <a:solidFill>
                  <a:srgbClr val="3D66C7"/>
                </a:solidFill>
                <a:latin typeface="Verdana"/>
                <a:cs typeface="Verdana"/>
              </a:rPr>
              <a:t>que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25" dirty="0">
                <a:solidFill>
                  <a:srgbClr val="3D66C7"/>
                </a:solidFill>
                <a:latin typeface="Verdana"/>
                <a:cs typeface="Verdana"/>
              </a:rPr>
              <a:t>va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desde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00" dirty="0">
                <a:solidFill>
                  <a:srgbClr val="3D66C7"/>
                </a:solidFill>
                <a:latin typeface="Verdana"/>
                <a:cs typeface="Verdana"/>
              </a:rPr>
              <a:t>la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introducción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95" dirty="0">
                <a:solidFill>
                  <a:srgbClr val="3D66C7"/>
                </a:solidFill>
                <a:latin typeface="Verdana"/>
                <a:cs typeface="Verdana"/>
              </a:rPr>
              <a:t>hasta</a:t>
            </a:r>
            <a:r>
              <a:rPr sz="3000" i="1" spc="-19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25" dirty="0">
                <a:solidFill>
                  <a:srgbClr val="3D66C7"/>
                </a:solidFill>
                <a:latin typeface="Verdana"/>
                <a:cs typeface="Verdana"/>
              </a:rPr>
              <a:t>su </a:t>
            </a:r>
            <a:r>
              <a:rPr sz="3000" i="1" spc="-85" dirty="0">
                <a:solidFill>
                  <a:srgbClr val="3D66C7"/>
                </a:solidFill>
                <a:latin typeface="Verdana"/>
                <a:cs typeface="Verdana"/>
              </a:rPr>
              <a:t>retiro.</a:t>
            </a:r>
            <a:r>
              <a:rPr sz="3000" i="1" spc="-19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b="1" i="1" dirty="0">
                <a:solidFill>
                  <a:srgbClr val="3D66C7"/>
                </a:solidFill>
                <a:latin typeface="Verdana"/>
                <a:cs typeface="Verdana"/>
              </a:rPr>
              <a:t>Cada</a:t>
            </a:r>
            <a:r>
              <a:rPr sz="3000" b="1" i="1" spc="-1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b="1" i="1" spc="-10" dirty="0">
                <a:solidFill>
                  <a:srgbClr val="3D66C7"/>
                </a:solidFill>
                <a:latin typeface="Verdana"/>
                <a:cs typeface="Verdana"/>
              </a:rPr>
              <a:t>proyecto </a:t>
            </a:r>
            <a:r>
              <a:rPr sz="3000" b="1" i="1" spc="-85" dirty="0">
                <a:solidFill>
                  <a:srgbClr val="3D66C7"/>
                </a:solidFill>
                <a:latin typeface="Verdana"/>
                <a:cs typeface="Verdana"/>
              </a:rPr>
              <a:t>evoluciona</a:t>
            </a:r>
            <a:r>
              <a:rPr sz="3000" b="1" i="1" spc="-18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b="1" i="1" spc="-10" dirty="0">
                <a:solidFill>
                  <a:srgbClr val="3D66C7"/>
                </a:solidFill>
                <a:latin typeface="Verdana"/>
                <a:cs typeface="Verdana"/>
              </a:rPr>
              <a:t>mediante </a:t>
            </a:r>
            <a:r>
              <a:rPr sz="3000" b="1" i="1" spc="-135" dirty="0">
                <a:solidFill>
                  <a:srgbClr val="3D66C7"/>
                </a:solidFill>
                <a:latin typeface="Verdana"/>
                <a:cs typeface="Verdana"/>
              </a:rPr>
              <a:t>mejoras</a:t>
            </a:r>
            <a:r>
              <a:rPr sz="3000" b="1" i="1" spc="-160" dirty="0">
                <a:solidFill>
                  <a:srgbClr val="3D66C7"/>
                </a:solidFill>
                <a:latin typeface="Verdana"/>
                <a:cs typeface="Verdana"/>
              </a:rPr>
              <a:t> y</a:t>
            </a:r>
            <a:r>
              <a:rPr sz="3000" b="1" i="1" spc="-15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b="1" i="1" spc="-80" dirty="0">
                <a:solidFill>
                  <a:srgbClr val="3D66C7"/>
                </a:solidFill>
                <a:latin typeface="Verdana"/>
                <a:cs typeface="Verdana"/>
              </a:rPr>
              <a:t>revisiones</a:t>
            </a:r>
            <a:r>
              <a:rPr sz="3000" i="1" spc="-80" dirty="0">
                <a:solidFill>
                  <a:srgbClr val="3D66C7"/>
                </a:solidFill>
                <a:latin typeface="Verdana"/>
                <a:cs typeface="Verdana"/>
              </a:rPr>
              <a:t>, </a:t>
            </a:r>
            <a:r>
              <a:rPr sz="3000" i="1" spc="125" dirty="0">
                <a:solidFill>
                  <a:srgbClr val="3D66C7"/>
                </a:solidFill>
                <a:latin typeface="Verdana"/>
                <a:cs typeface="Verdana"/>
              </a:rPr>
              <a:t>aumentando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su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10" dirty="0">
                <a:solidFill>
                  <a:srgbClr val="3D66C7"/>
                </a:solidFill>
                <a:latin typeface="Verdana"/>
                <a:cs typeface="Verdana"/>
              </a:rPr>
              <a:t>impacto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65" dirty="0">
                <a:solidFill>
                  <a:srgbClr val="3D66C7"/>
                </a:solidFill>
                <a:latin typeface="Verdana"/>
                <a:cs typeface="Verdana"/>
              </a:rPr>
              <a:t>y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25" dirty="0">
                <a:solidFill>
                  <a:srgbClr val="3D66C7"/>
                </a:solidFill>
                <a:latin typeface="Verdana"/>
                <a:cs typeface="Verdana"/>
              </a:rPr>
              <a:t>uso </a:t>
            </a:r>
            <a:r>
              <a:rPr sz="3000" i="1" spc="95" dirty="0">
                <a:solidFill>
                  <a:srgbClr val="3D66C7"/>
                </a:solidFill>
                <a:latin typeface="Verdana"/>
                <a:cs typeface="Verdana"/>
              </a:rPr>
              <a:t>hasta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95" dirty="0">
                <a:solidFill>
                  <a:srgbClr val="3D66C7"/>
                </a:solidFill>
                <a:latin typeface="Verdana"/>
                <a:cs typeface="Verdana"/>
              </a:rPr>
              <a:t>alcanzar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00" dirty="0">
                <a:solidFill>
                  <a:srgbClr val="3D66C7"/>
                </a:solidFill>
                <a:latin typeface="Verdana"/>
                <a:cs typeface="Verdana"/>
              </a:rPr>
              <a:t>la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madurez.</a:t>
            </a:r>
            <a:endParaRPr sz="3000">
              <a:latin typeface="Verdana"/>
              <a:cs typeface="Verdana"/>
            </a:endParaRPr>
          </a:p>
          <a:p>
            <a:pPr marL="12700" marR="530860">
              <a:lnSpc>
                <a:spcPts val="3750"/>
              </a:lnSpc>
            </a:pP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Finalmente,</a:t>
            </a:r>
            <a:r>
              <a:rPr sz="3000" i="1" spc="-5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30" dirty="0">
                <a:solidFill>
                  <a:srgbClr val="3D66C7"/>
                </a:solidFill>
                <a:latin typeface="Verdana"/>
                <a:cs typeface="Verdana"/>
              </a:rPr>
              <a:t>cuando</a:t>
            </a:r>
            <a:r>
              <a:rPr sz="3000" i="1" spc="-5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75" dirty="0">
                <a:solidFill>
                  <a:srgbClr val="3D66C7"/>
                </a:solidFill>
                <a:latin typeface="Verdana"/>
                <a:cs typeface="Verdana"/>
              </a:rPr>
              <a:t>la tecnología</a:t>
            </a:r>
            <a:r>
              <a:rPr sz="3000" i="1" spc="-20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deja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20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25" dirty="0">
                <a:solidFill>
                  <a:srgbClr val="3D66C7"/>
                </a:solidFill>
                <a:latin typeface="Verdana"/>
                <a:cs typeface="Verdana"/>
              </a:rPr>
              <a:t>ser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competitiva,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55" dirty="0">
                <a:solidFill>
                  <a:srgbClr val="3D66C7"/>
                </a:solidFill>
                <a:latin typeface="Verdana"/>
                <a:cs typeface="Verdana"/>
              </a:rPr>
              <a:t>se</a:t>
            </a:r>
            <a:r>
              <a:rPr sz="3000" i="1" spc="-19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inicia</a:t>
            </a:r>
            <a:r>
              <a:rPr sz="3000" i="1" spc="-19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25" dirty="0">
                <a:solidFill>
                  <a:srgbClr val="3D66C7"/>
                </a:solidFill>
                <a:latin typeface="Verdana"/>
                <a:cs typeface="Verdana"/>
              </a:rPr>
              <a:t>su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declive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65" dirty="0">
                <a:solidFill>
                  <a:srgbClr val="3D66C7"/>
                </a:solidFill>
                <a:latin typeface="Verdana"/>
                <a:cs typeface="Verdana"/>
              </a:rPr>
              <a:t>y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20" dirty="0">
                <a:solidFill>
                  <a:srgbClr val="3D66C7"/>
                </a:solidFill>
                <a:latin typeface="Verdana"/>
                <a:cs typeface="Verdana"/>
              </a:rPr>
              <a:t>retiro</a:t>
            </a:r>
            <a:r>
              <a:rPr sz="3000" i="1" spc="-19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del</a:t>
            </a:r>
            <a:r>
              <a:rPr sz="3000" i="1" spc="-2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mercado.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016000" y="757194"/>
            <a:ext cx="14481175" cy="2736215"/>
          </a:xfrm>
          <a:prstGeom prst="rect">
            <a:avLst/>
          </a:prstGeom>
        </p:spPr>
        <p:txBody>
          <a:bodyPr vert="horz" wrap="square" lIns="0" tIns="637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20"/>
              </a:spcBef>
            </a:pPr>
            <a:r>
              <a:rPr spc="160" dirty="0"/>
              <a:t>Desarrollo</a:t>
            </a:r>
            <a:r>
              <a:rPr spc="-75" dirty="0"/>
              <a:t> </a:t>
            </a:r>
            <a:r>
              <a:rPr spc="415" dirty="0"/>
              <a:t>de</a:t>
            </a:r>
            <a:r>
              <a:rPr spc="-70" dirty="0"/>
              <a:t> </a:t>
            </a:r>
            <a:r>
              <a:rPr spc="245" dirty="0"/>
              <a:t>tecnologías</a:t>
            </a:r>
          </a:p>
          <a:p>
            <a:pPr marL="116205">
              <a:lnSpc>
                <a:spcPct val="100000"/>
              </a:lnSpc>
              <a:spcBef>
                <a:spcPts val="2025"/>
              </a:spcBef>
            </a:pPr>
            <a:r>
              <a:rPr sz="3500" spc="55" dirty="0"/>
              <a:t>Proyectos</a:t>
            </a:r>
            <a:endParaRPr sz="350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3307" y="3472182"/>
            <a:ext cx="9858374" cy="56959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592565" y="1514821"/>
            <a:ext cx="3638550" cy="2743200"/>
            <a:chOff x="13592565" y="1514821"/>
            <a:chExt cx="3638550" cy="27432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68765" y="1591022"/>
              <a:ext cx="3490163" cy="25917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668765" y="1591021"/>
              <a:ext cx="3486150" cy="2590800"/>
            </a:xfrm>
            <a:custGeom>
              <a:avLst/>
              <a:gdLst/>
              <a:ahLst/>
              <a:cxnLst/>
              <a:rect l="l" t="t" r="r" b="b"/>
              <a:pathLst>
                <a:path w="3486150" h="2590800">
                  <a:moveTo>
                    <a:pt x="3486149" y="2406173"/>
                  </a:moveTo>
                  <a:lnTo>
                    <a:pt x="3467752" y="2468920"/>
                  </a:lnTo>
                  <a:lnTo>
                    <a:pt x="3441892" y="2509595"/>
                  </a:lnTo>
                  <a:lnTo>
                    <a:pt x="3407967" y="2543520"/>
                  </a:lnTo>
                  <a:lnTo>
                    <a:pt x="3367292" y="2569380"/>
                  </a:lnTo>
                  <a:lnTo>
                    <a:pt x="3321182" y="2585860"/>
                  </a:lnTo>
                  <a:lnTo>
                    <a:pt x="3278302" y="2590799"/>
                  </a:lnTo>
                </a:path>
                <a:path w="3486150" h="2590800">
                  <a:moveTo>
                    <a:pt x="211717" y="2590799"/>
                  </a:moveTo>
                  <a:lnTo>
                    <a:pt x="168835" y="2585860"/>
                  </a:lnTo>
                  <a:lnTo>
                    <a:pt x="122726" y="2569379"/>
                  </a:lnTo>
                  <a:lnTo>
                    <a:pt x="82051" y="2543519"/>
                  </a:lnTo>
                  <a:lnTo>
                    <a:pt x="48126" y="2509594"/>
                  </a:lnTo>
                  <a:lnTo>
                    <a:pt x="22266" y="2468919"/>
                  </a:lnTo>
                  <a:lnTo>
                    <a:pt x="5785" y="2422810"/>
                  </a:lnTo>
                  <a:lnTo>
                    <a:pt x="0" y="2372580"/>
                  </a:lnTo>
                  <a:lnTo>
                    <a:pt x="0" y="219112"/>
                  </a:lnTo>
                  <a:lnTo>
                    <a:pt x="5785" y="168882"/>
                  </a:lnTo>
                  <a:lnTo>
                    <a:pt x="22266" y="122772"/>
                  </a:lnTo>
                  <a:lnTo>
                    <a:pt x="48126" y="82097"/>
                  </a:lnTo>
                  <a:lnTo>
                    <a:pt x="82051" y="48172"/>
                  </a:lnTo>
                  <a:lnTo>
                    <a:pt x="122726" y="22312"/>
                  </a:lnTo>
                  <a:lnTo>
                    <a:pt x="168835" y="5832"/>
                  </a:lnTo>
                  <a:lnTo>
                    <a:pt x="219065" y="0"/>
                  </a:lnTo>
                  <a:lnTo>
                    <a:pt x="3270958" y="0"/>
                  </a:lnTo>
                  <a:lnTo>
                    <a:pt x="3321182" y="5831"/>
                  </a:lnTo>
                  <a:lnTo>
                    <a:pt x="3367292" y="22312"/>
                  </a:lnTo>
                  <a:lnTo>
                    <a:pt x="3407967" y="48172"/>
                  </a:lnTo>
                  <a:lnTo>
                    <a:pt x="3441892" y="82097"/>
                  </a:lnTo>
                  <a:lnTo>
                    <a:pt x="3467753" y="122772"/>
                  </a:lnTo>
                  <a:lnTo>
                    <a:pt x="3484233" y="168882"/>
                  </a:lnTo>
                  <a:lnTo>
                    <a:pt x="3486149" y="185518"/>
                  </a:lnTo>
                </a:path>
              </a:pathLst>
            </a:custGeom>
            <a:ln w="152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33400" y="990599"/>
            <a:ext cx="6890384" cy="1882775"/>
          </a:xfrm>
          <a:prstGeom prst="rect">
            <a:avLst/>
          </a:prstGeom>
        </p:spPr>
        <p:txBody>
          <a:bodyPr vert="horz" wrap="square" lIns="0" tIns="288925" rIns="0" bIns="0" rtlCol="0">
            <a:spAutoFit/>
          </a:bodyPr>
          <a:lstStyle/>
          <a:p>
            <a:pPr marL="12700" marR="5080">
              <a:lnSpc>
                <a:spcPct val="74100"/>
              </a:lnSpc>
              <a:spcBef>
                <a:spcPts val="2275"/>
              </a:spcBef>
            </a:pPr>
            <a:r>
              <a:rPr sz="7000" spc="130" dirty="0"/>
              <a:t>DESTRUCCIÓN </a:t>
            </a:r>
            <a:r>
              <a:rPr sz="7000" spc="150" dirty="0"/>
              <a:t>CREATIVA</a:t>
            </a:r>
            <a:endParaRPr sz="7000" dirty="0"/>
          </a:p>
        </p:txBody>
      </p:sp>
      <p:sp>
        <p:nvSpPr>
          <p:cNvPr id="7" name="object 7"/>
          <p:cNvSpPr txBox="1"/>
          <p:nvPr/>
        </p:nvSpPr>
        <p:spPr>
          <a:xfrm>
            <a:off x="1113549" y="4356070"/>
            <a:ext cx="14897100" cy="3816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100"/>
              </a:spcBef>
            </a:pP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"¿Por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90" dirty="0">
                <a:solidFill>
                  <a:srgbClr val="3D66C7"/>
                </a:solidFill>
                <a:latin typeface="Verdana"/>
                <a:cs typeface="Verdana"/>
              </a:rPr>
              <a:t>qué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35" dirty="0">
                <a:solidFill>
                  <a:srgbClr val="3D66C7"/>
                </a:solidFill>
                <a:latin typeface="Verdana"/>
                <a:cs typeface="Verdana"/>
              </a:rPr>
              <a:t>los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50" dirty="0">
                <a:solidFill>
                  <a:srgbClr val="3D66C7"/>
                </a:solidFill>
                <a:latin typeface="Verdana"/>
                <a:cs typeface="Verdana"/>
              </a:rPr>
              <a:t>emprendedores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aparecen,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no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forma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continua,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55" dirty="0">
                <a:solidFill>
                  <a:srgbClr val="3D66C7"/>
                </a:solidFill>
                <a:latin typeface="Verdana"/>
                <a:cs typeface="Verdana"/>
              </a:rPr>
              <a:t>es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decir,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individualmente</a:t>
            </a:r>
            <a:r>
              <a:rPr sz="3000" i="1" spc="-24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en</a:t>
            </a:r>
            <a:r>
              <a:rPr sz="3000" i="1" spc="-24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85" dirty="0">
                <a:solidFill>
                  <a:srgbClr val="3D66C7"/>
                </a:solidFill>
                <a:latin typeface="Verdana"/>
                <a:cs typeface="Verdana"/>
              </a:rPr>
              <a:t>cada</a:t>
            </a:r>
            <a:r>
              <a:rPr sz="3000" i="1" spc="-23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intervalo</a:t>
            </a:r>
            <a:r>
              <a:rPr sz="3000" i="1" spc="-24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05" dirty="0">
                <a:solidFill>
                  <a:srgbClr val="3D66C7"/>
                </a:solidFill>
                <a:latin typeface="Verdana"/>
                <a:cs typeface="Verdana"/>
              </a:rPr>
              <a:t>apropiadamente</a:t>
            </a:r>
            <a:r>
              <a:rPr sz="3000" i="1" spc="-24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elegido,</a:t>
            </a:r>
            <a:r>
              <a:rPr sz="3000" i="1" spc="-23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sino</a:t>
            </a:r>
            <a:r>
              <a:rPr sz="3000" i="1" spc="-24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en</a:t>
            </a:r>
            <a:r>
              <a:rPr sz="3000" i="1" spc="-24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40" dirty="0">
                <a:solidFill>
                  <a:srgbClr val="3D66C7"/>
                </a:solidFill>
                <a:latin typeface="Verdana"/>
                <a:cs typeface="Verdana"/>
              </a:rPr>
              <a:t>grupos?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Exclusivamente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porque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00" dirty="0">
                <a:solidFill>
                  <a:srgbClr val="3D66C7"/>
                </a:solidFill>
                <a:latin typeface="Verdana"/>
                <a:cs typeface="Verdana"/>
              </a:rPr>
              <a:t>la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5" dirty="0">
                <a:solidFill>
                  <a:srgbClr val="3D66C7"/>
                </a:solidFill>
                <a:latin typeface="Verdana"/>
                <a:cs typeface="Verdana"/>
              </a:rPr>
              <a:t>aparición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90" dirty="0">
                <a:solidFill>
                  <a:srgbClr val="3D66C7"/>
                </a:solidFill>
                <a:latin typeface="Verdana"/>
                <a:cs typeface="Verdana"/>
              </a:rPr>
              <a:t>uno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50" dirty="0">
                <a:solidFill>
                  <a:srgbClr val="3D66C7"/>
                </a:solidFill>
                <a:latin typeface="Verdana"/>
                <a:cs typeface="Verdana"/>
              </a:rPr>
              <a:t>o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unos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55" dirty="0">
                <a:solidFill>
                  <a:srgbClr val="3D66C7"/>
                </a:solidFill>
                <a:latin typeface="Verdana"/>
                <a:cs typeface="Verdana"/>
              </a:rPr>
              <a:t>pocos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40" dirty="0">
                <a:solidFill>
                  <a:srgbClr val="3D66C7"/>
                </a:solidFill>
                <a:latin typeface="Verdana"/>
                <a:cs typeface="Verdana"/>
              </a:rPr>
              <a:t>emprendedores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facilita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00" dirty="0">
                <a:solidFill>
                  <a:srgbClr val="3D66C7"/>
                </a:solidFill>
                <a:latin typeface="Verdana"/>
                <a:cs typeface="Verdana"/>
              </a:rPr>
              <a:t>la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5" dirty="0">
                <a:solidFill>
                  <a:srgbClr val="3D66C7"/>
                </a:solidFill>
                <a:latin typeface="Verdana"/>
                <a:cs typeface="Verdana"/>
              </a:rPr>
              <a:t>aparición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90" dirty="0">
                <a:solidFill>
                  <a:srgbClr val="3D66C7"/>
                </a:solidFill>
                <a:latin typeface="Verdana"/>
                <a:cs typeface="Verdana"/>
              </a:rPr>
              <a:t>otros,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65" dirty="0">
                <a:solidFill>
                  <a:srgbClr val="3D66C7"/>
                </a:solidFill>
                <a:latin typeface="Verdana"/>
                <a:cs typeface="Verdana"/>
              </a:rPr>
              <a:t>y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30" dirty="0">
                <a:solidFill>
                  <a:srgbClr val="3D66C7"/>
                </a:solidFill>
                <a:latin typeface="Verdana"/>
                <a:cs typeface="Verdana"/>
              </a:rPr>
              <a:t>éstos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el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45" dirty="0">
                <a:solidFill>
                  <a:srgbClr val="3D66C7"/>
                </a:solidFill>
                <a:latin typeface="Verdana"/>
                <a:cs typeface="Verdana"/>
              </a:rPr>
              <a:t>surgimiento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30" dirty="0">
                <a:solidFill>
                  <a:srgbClr val="3D66C7"/>
                </a:solidFill>
                <a:latin typeface="Verdana"/>
                <a:cs typeface="Verdana"/>
              </a:rPr>
              <a:t>más,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en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45" dirty="0">
                <a:solidFill>
                  <a:srgbClr val="3D66C7"/>
                </a:solidFill>
                <a:latin typeface="Verdana"/>
                <a:cs typeface="Verdana"/>
              </a:rPr>
              <a:t>números</a:t>
            </a:r>
            <a:r>
              <a:rPr sz="3000" i="1" spc="-254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65" dirty="0">
                <a:solidFill>
                  <a:srgbClr val="3D66C7"/>
                </a:solidFill>
                <a:latin typeface="Verdana"/>
                <a:cs typeface="Verdana"/>
              </a:rPr>
              <a:t>cada </a:t>
            </a:r>
            <a:r>
              <a:rPr sz="3000" i="1" spc="-70" dirty="0">
                <a:solidFill>
                  <a:srgbClr val="3D66C7"/>
                </a:solidFill>
                <a:latin typeface="Verdana"/>
                <a:cs typeface="Verdana"/>
              </a:rPr>
              <a:t>vez</a:t>
            </a:r>
            <a:r>
              <a:rPr sz="3000" i="1" spc="-2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mayores".</a:t>
            </a:r>
            <a:endParaRPr sz="3000" dirty="0">
              <a:latin typeface="Verdana"/>
              <a:cs typeface="Verdana"/>
            </a:endParaRPr>
          </a:p>
          <a:p>
            <a:pPr marL="12700" marR="28575">
              <a:lnSpc>
                <a:spcPct val="104200"/>
              </a:lnSpc>
              <a:spcBef>
                <a:spcPts val="3595"/>
              </a:spcBef>
            </a:pP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“La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destrucción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45" dirty="0">
                <a:solidFill>
                  <a:srgbClr val="3D66C7"/>
                </a:solidFill>
                <a:latin typeface="Verdana"/>
                <a:cs typeface="Verdana"/>
              </a:rPr>
              <a:t>creativa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55" dirty="0">
                <a:solidFill>
                  <a:srgbClr val="3D66C7"/>
                </a:solidFill>
                <a:latin typeface="Verdana"/>
                <a:cs typeface="Verdana"/>
              </a:rPr>
              <a:t>es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el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proceso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transformación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90" dirty="0">
                <a:solidFill>
                  <a:srgbClr val="3D66C7"/>
                </a:solidFill>
                <a:latin typeface="Verdana"/>
                <a:cs typeface="Verdana"/>
              </a:rPr>
              <a:t>que</a:t>
            </a:r>
            <a:r>
              <a:rPr sz="3000" i="1" spc="-19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70" dirty="0">
                <a:solidFill>
                  <a:srgbClr val="3D66C7"/>
                </a:solidFill>
                <a:latin typeface="Verdana"/>
                <a:cs typeface="Verdana"/>
              </a:rPr>
              <a:t>acompaña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229" dirty="0">
                <a:solidFill>
                  <a:srgbClr val="3D66C7"/>
                </a:solidFill>
                <a:latin typeface="Verdana"/>
                <a:cs typeface="Verdana"/>
              </a:rPr>
              <a:t>a</a:t>
            </a:r>
            <a:r>
              <a:rPr sz="3000" i="1" spc="-18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75" dirty="0">
                <a:solidFill>
                  <a:srgbClr val="3D66C7"/>
                </a:solidFill>
                <a:latin typeface="Verdana"/>
                <a:cs typeface="Verdana"/>
              </a:rPr>
              <a:t>la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innovación.</a:t>
            </a:r>
            <a:r>
              <a:rPr sz="3000" i="1" spc="-2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55" dirty="0">
                <a:solidFill>
                  <a:srgbClr val="3D66C7"/>
                </a:solidFill>
                <a:latin typeface="Verdana"/>
                <a:cs typeface="Verdana"/>
              </a:rPr>
              <a:t>La</a:t>
            </a:r>
            <a:r>
              <a:rPr sz="3000" i="1" spc="-2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innovación</a:t>
            </a:r>
            <a:r>
              <a:rPr sz="3000" i="1" spc="-2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-55" dirty="0">
                <a:solidFill>
                  <a:srgbClr val="3D66C7"/>
                </a:solidFill>
                <a:latin typeface="Verdana"/>
                <a:cs typeface="Verdana"/>
              </a:rPr>
              <a:t>es</a:t>
            </a:r>
            <a:r>
              <a:rPr sz="3000" i="1" spc="-2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00" dirty="0">
                <a:solidFill>
                  <a:srgbClr val="3D66C7"/>
                </a:solidFill>
                <a:latin typeface="Verdana"/>
                <a:cs typeface="Verdana"/>
              </a:rPr>
              <a:t>la</a:t>
            </a:r>
            <a:r>
              <a:rPr sz="3000" i="1" spc="-2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introducción</a:t>
            </a:r>
            <a:r>
              <a:rPr sz="3000" i="1" spc="-2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80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r>
              <a:rPr sz="3000" i="1" spc="-2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150" dirty="0">
                <a:solidFill>
                  <a:srgbClr val="3D66C7"/>
                </a:solidFill>
                <a:latin typeface="Verdana"/>
                <a:cs typeface="Verdana"/>
              </a:rPr>
              <a:t>una</a:t>
            </a:r>
            <a:r>
              <a:rPr sz="3000" i="1" spc="-2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0" dirty="0">
                <a:solidFill>
                  <a:srgbClr val="3D66C7"/>
                </a:solidFill>
                <a:latin typeface="Verdana"/>
                <a:cs typeface="Verdana"/>
              </a:rPr>
              <a:t>nueva</a:t>
            </a:r>
            <a:r>
              <a:rPr sz="3000" i="1" spc="-2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función</a:t>
            </a:r>
            <a:r>
              <a:rPr sz="3000" i="1" spc="-24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55" dirty="0">
                <a:solidFill>
                  <a:srgbClr val="3D66C7"/>
                </a:solidFill>
                <a:latin typeface="Verdana"/>
                <a:cs typeface="Verdana"/>
              </a:rPr>
              <a:t>de</a:t>
            </a:r>
            <a:endParaRPr sz="30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9645" y="8511524"/>
            <a:ext cx="23641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40" dirty="0">
                <a:solidFill>
                  <a:srgbClr val="3D66C7"/>
                </a:solidFill>
                <a:latin typeface="Verdana"/>
                <a:cs typeface="Verdana"/>
              </a:rPr>
              <a:t>producción”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45542" y="1104900"/>
            <a:ext cx="1453196" cy="14531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48906" y="7493566"/>
            <a:ext cx="1318118" cy="131811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19645" y="393514"/>
            <a:ext cx="249555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-40" dirty="0">
                <a:solidFill>
                  <a:srgbClr val="006BCC"/>
                </a:solidFill>
                <a:latin typeface="Trebuchet MS"/>
                <a:cs typeface="Trebuchet MS"/>
              </a:rPr>
              <a:t>Ti´pos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73706" y="8691089"/>
            <a:ext cx="4286250" cy="101600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0"/>
              </a:spcBef>
            </a:pPr>
            <a:r>
              <a:rPr sz="2750" i="1" spc="-40" dirty="0">
                <a:solidFill>
                  <a:srgbClr val="3D66C7"/>
                </a:solidFill>
                <a:latin typeface="Verdana"/>
                <a:cs typeface="Verdana"/>
              </a:rPr>
              <a:t>Joseph</a:t>
            </a:r>
            <a:r>
              <a:rPr sz="2750" i="1" spc="-28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750" i="1" dirty="0">
                <a:solidFill>
                  <a:srgbClr val="3D66C7"/>
                </a:solidFill>
                <a:latin typeface="Verdana"/>
                <a:cs typeface="Verdana"/>
              </a:rPr>
              <a:t>Alois</a:t>
            </a:r>
            <a:r>
              <a:rPr sz="2750" i="1" spc="-27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750" i="1" spc="-25" dirty="0">
                <a:solidFill>
                  <a:srgbClr val="3D66C7"/>
                </a:solidFill>
                <a:latin typeface="Verdana"/>
                <a:cs typeface="Verdana"/>
              </a:rPr>
              <a:t>Schumpeter</a:t>
            </a:r>
            <a:endParaRPr sz="27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0"/>
              </a:spcBef>
            </a:pPr>
            <a:r>
              <a:rPr sz="2750" i="1" spc="-40" dirty="0">
                <a:solidFill>
                  <a:srgbClr val="3D66C7"/>
                </a:solidFill>
                <a:latin typeface="Verdana"/>
                <a:cs typeface="Verdana"/>
              </a:rPr>
              <a:t>1883</a:t>
            </a:r>
            <a:r>
              <a:rPr sz="2750" i="1" spc="-30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750" i="1" spc="-200" dirty="0">
                <a:solidFill>
                  <a:srgbClr val="3D66C7"/>
                </a:solidFill>
                <a:latin typeface="Verdana"/>
                <a:cs typeface="Verdana"/>
              </a:rPr>
              <a:t>-</a:t>
            </a:r>
            <a:r>
              <a:rPr sz="2750" i="1" spc="-30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2750" i="1" spc="-20" dirty="0">
                <a:solidFill>
                  <a:srgbClr val="3D66C7"/>
                </a:solidFill>
                <a:latin typeface="Verdana"/>
                <a:cs typeface="Verdana"/>
              </a:rPr>
              <a:t>1950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4264" y="9453247"/>
            <a:ext cx="297243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85" dirty="0">
                <a:solidFill>
                  <a:srgbClr val="006BCC"/>
                </a:solidFill>
                <a:latin typeface="Trebuchet MS"/>
                <a:cs typeface="Trebuchet MS"/>
              </a:rPr>
              <a:t>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309" y="6634453"/>
            <a:ext cx="407554" cy="4075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896" y="6537890"/>
            <a:ext cx="3345792" cy="14873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25354" y="6634453"/>
            <a:ext cx="407554" cy="4075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84940" y="6537890"/>
            <a:ext cx="3345792" cy="14873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22580" y="6634453"/>
            <a:ext cx="407553" cy="4075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82167" y="6537890"/>
            <a:ext cx="3345792" cy="148738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57896" y="6537890"/>
            <a:ext cx="3345815" cy="148780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472440" marR="866140">
              <a:lnSpc>
                <a:spcPct val="105000"/>
              </a:lnSpc>
              <a:spcBef>
                <a:spcPts val="530"/>
              </a:spcBef>
            </a:pPr>
            <a:r>
              <a:rPr sz="2500" b="1" spc="65" dirty="0">
                <a:solidFill>
                  <a:srgbClr val="FFFFFF"/>
                </a:solidFill>
                <a:latin typeface="Tahoma"/>
                <a:cs typeface="Tahoma"/>
              </a:rPr>
              <a:t>Apertura</a:t>
            </a:r>
            <a:r>
              <a:rPr sz="25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85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2500" b="1" spc="60" dirty="0">
                <a:solidFill>
                  <a:srgbClr val="FFFFFF"/>
                </a:solidFill>
                <a:latin typeface="Tahoma"/>
                <a:cs typeface="Tahoma"/>
              </a:rPr>
              <a:t>Nuevos </a:t>
            </a:r>
            <a:r>
              <a:rPr sz="2500" b="1" spc="65" dirty="0">
                <a:solidFill>
                  <a:srgbClr val="FFFFFF"/>
                </a:solidFill>
                <a:latin typeface="Tahoma"/>
                <a:cs typeface="Tahoma"/>
              </a:rPr>
              <a:t>Mercados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389276" y="1727549"/>
            <a:ext cx="1296225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spc="245" dirty="0"/>
              <a:t>Según</a:t>
            </a:r>
            <a:r>
              <a:rPr sz="6500" spc="-30" dirty="0"/>
              <a:t> </a:t>
            </a:r>
            <a:r>
              <a:rPr sz="6500" dirty="0"/>
              <a:t>la</a:t>
            </a:r>
            <a:r>
              <a:rPr sz="6500" spc="130" dirty="0"/>
              <a:t> </a:t>
            </a:r>
            <a:r>
              <a:rPr sz="6500" spc="155" dirty="0"/>
              <a:t>Destrucción</a:t>
            </a:r>
            <a:r>
              <a:rPr sz="6500" spc="-70" dirty="0"/>
              <a:t> </a:t>
            </a:r>
            <a:r>
              <a:rPr sz="6500" spc="35" dirty="0"/>
              <a:t>Creativa</a:t>
            </a:r>
            <a:endParaRPr sz="6500"/>
          </a:p>
        </p:txBody>
      </p:sp>
      <p:sp>
        <p:nvSpPr>
          <p:cNvPr id="10" name="object 10"/>
          <p:cNvSpPr txBox="1"/>
          <p:nvPr/>
        </p:nvSpPr>
        <p:spPr>
          <a:xfrm>
            <a:off x="7684940" y="6537890"/>
            <a:ext cx="3345815" cy="148780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79400" marR="470534">
              <a:lnSpc>
                <a:spcPct val="105000"/>
              </a:lnSpc>
              <a:spcBef>
                <a:spcPts val="555"/>
              </a:spcBef>
            </a:pPr>
            <a:r>
              <a:rPr sz="2500" b="1" spc="60" dirty="0">
                <a:solidFill>
                  <a:srgbClr val="FFFFFF"/>
                </a:solidFill>
                <a:latin typeface="Tahoma"/>
                <a:cs typeface="Tahoma"/>
              </a:rPr>
              <a:t>Nuevas</a:t>
            </a:r>
            <a:r>
              <a:rPr sz="25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55" dirty="0">
                <a:solidFill>
                  <a:srgbClr val="FFFFFF"/>
                </a:solidFill>
                <a:latin typeface="Tahoma"/>
                <a:cs typeface="Tahoma"/>
              </a:rPr>
              <a:t>fuentes </a:t>
            </a:r>
            <a:r>
              <a:rPr sz="2500" b="1" spc="11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5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35" dirty="0">
                <a:solidFill>
                  <a:srgbClr val="FFFFFF"/>
                </a:solidFill>
                <a:latin typeface="Tahoma"/>
                <a:cs typeface="Tahoma"/>
              </a:rPr>
              <a:t>materias </a:t>
            </a:r>
            <a:r>
              <a:rPr sz="2500" b="1" spc="-10" dirty="0">
                <a:solidFill>
                  <a:srgbClr val="FFFFFF"/>
                </a:solidFill>
                <a:latin typeface="Tahoma"/>
                <a:cs typeface="Tahoma"/>
              </a:rPr>
              <a:t>primas.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82167" y="6537890"/>
            <a:ext cx="3345815" cy="148780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236220" marR="434340">
              <a:lnSpc>
                <a:spcPct val="105000"/>
              </a:lnSpc>
              <a:spcBef>
                <a:spcPts val="870"/>
              </a:spcBef>
            </a:pPr>
            <a:r>
              <a:rPr sz="2500" b="1" spc="55" dirty="0">
                <a:solidFill>
                  <a:srgbClr val="FFFFFF"/>
                </a:solidFill>
                <a:latin typeface="Tahoma"/>
                <a:cs typeface="Tahoma"/>
              </a:rPr>
              <a:t>Nueva </a:t>
            </a:r>
            <a:r>
              <a:rPr sz="2500" b="1" spc="65" dirty="0">
                <a:solidFill>
                  <a:srgbClr val="FFFFFF"/>
                </a:solidFill>
                <a:latin typeface="Tahoma"/>
                <a:cs typeface="Tahoma"/>
              </a:rPr>
              <a:t>organización</a:t>
            </a:r>
            <a:r>
              <a:rPr sz="25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80" dirty="0">
                <a:solidFill>
                  <a:srgbClr val="FFFFFF"/>
                </a:solidFill>
                <a:latin typeface="Tahoma"/>
                <a:cs typeface="Tahoma"/>
              </a:rPr>
              <a:t>en </a:t>
            </a:r>
            <a:r>
              <a:rPr sz="2500" b="1" spc="85" dirty="0">
                <a:solidFill>
                  <a:srgbClr val="FFFFFF"/>
                </a:solidFill>
                <a:latin typeface="Tahoma"/>
                <a:cs typeface="Tahoma"/>
              </a:rPr>
              <a:t>una</a:t>
            </a:r>
            <a:r>
              <a:rPr sz="25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ahoma"/>
                <a:cs typeface="Tahoma"/>
              </a:rPr>
              <a:t>industria.</a:t>
            </a:r>
            <a:endParaRPr sz="25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19645" y="393514"/>
            <a:ext cx="249555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-40" dirty="0">
                <a:solidFill>
                  <a:srgbClr val="006BCC"/>
                </a:solidFill>
                <a:latin typeface="Trebuchet MS"/>
                <a:cs typeface="Trebuchet MS"/>
              </a:rPr>
              <a:t>Ti´pos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81893" y="3798638"/>
            <a:ext cx="407554" cy="40755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41442" y="3702075"/>
            <a:ext cx="3345796" cy="222351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379119" y="3798638"/>
            <a:ext cx="407554" cy="40755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038641" y="3702075"/>
            <a:ext cx="3914625" cy="222351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541442" y="3702075"/>
            <a:ext cx="3345815" cy="2223770"/>
          </a:xfrm>
          <a:prstGeom prst="rect">
            <a:avLst/>
          </a:prstGeom>
        </p:spPr>
        <p:txBody>
          <a:bodyPr vert="horz" wrap="square" lIns="0" tIns="257810" rIns="0" bIns="0" rtlCol="0">
            <a:spAutoFit/>
          </a:bodyPr>
          <a:lstStyle/>
          <a:p>
            <a:pPr marL="288290" marR="589915">
              <a:lnSpc>
                <a:spcPct val="105000"/>
              </a:lnSpc>
              <a:spcBef>
                <a:spcPts val="2030"/>
              </a:spcBef>
            </a:pPr>
            <a:r>
              <a:rPr sz="2500" b="1" spc="70" dirty="0">
                <a:solidFill>
                  <a:srgbClr val="FFFFFF"/>
                </a:solidFill>
                <a:latin typeface="Tahoma"/>
                <a:cs typeface="Tahoma"/>
              </a:rPr>
              <a:t>Nuevos</a:t>
            </a:r>
            <a:r>
              <a:rPr sz="25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70" dirty="0">
                <a:solidFill>
                  <a:srgbClr val="FFFFFF"/>
                </a:solidFill>
                <a:latin typeface="Tahoma"/>
                <a:cs typeface="Tahoma"/>
              </a:rPr>
              <a:t>Bienes </a:t>
            </a:r>
            <a:r>
              <a:rPr sz="2500" b="1" spc="9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25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55" dirty="0">
                <a:solidFill>
                  <a:srgbClr val="FFFFFF"/>
                </a:solidFill>
                <a:latin typeface="Tahoma"/>
                <a:cs typeface="Tahoma"/>
              </a:rPr>
              <a:t>Calidades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38641" y="3702075"/>
            <a:ext cx="3914775" cy="222377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472440" marR="624205">
              <a:lnSpc>
                <a:spcPct val="105000"/>
              </a:lnSpc>
              <a:spcBef>
                <a:spcPts val="530"/>
              </a:spcBef>
            </a:pPr>
            <a:r>
              <a:rPr sz="2500" b="1" spc="70" dirty="0">
                <a:solidFill>
                  <a:srgbClr val="FFFFFF"/>
                </a:solidFill>
                <a:latin typeface="Tahoma"/>
                <a:cs typeface="Tahoma"/>
              </a:rPr>
              <a:t>Nuevos</a:t>
            </a:r>
            <a:r>
              <a:rPr sz="25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85" dirty="0">
                <a:solidFill>
                  <a:srgbClr val="FFFFFF"/>
                </a:solidFill>
                <a:latin typeface="Tahoma"/>
                <a:cs typeface="Tahoma"/>
              </a:rPr>
              <a:t>métodos </a:t>
            </a:r>
            <a:r>
              <a:rPr sz="2500" b="1" spc="55" dirty="0">
                <a:solidFill>
                  <a:srgbClr val="FFFFFF"/>
                </a:solidFill>
                <a:latin typeface="Tahoma"/>
                <a:cs typeface="Tahoma"/>
              </a:rPr>
              <a:t>productivos,</a:t>
            </a:r>
            <a:r>
              <a:rPr sz="25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80" dirty="0">
                <a:solidFill>
                  <a:srgbClr val="FFFFFF"/>
                </a:solidFill>
                <a:latin typeface="Tahoma"/>
                <a:cs typeface="Tahoma"/>
              </a:rPr>
              <a:t>no </a:t>
            </a:r>
            <a:r>
              <a:rPr sz="2500" b="1" spc="55" dirty="0">
                <a:solidFill>
                  <a:srgbClr val="FFFFFF"/>
                </a:solidFill>
                <a:latin typeface="Tahoma"/>
                <a:cs typeface="Tahoma"/>
              </a:rPr>
              <a:t>derivados</a:t>
            </a:r>
            <a:r>
              <a:rPr sz="250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85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2500" b="1" spc="70" dirty="0">
                <a:solidFill>
                  <a:srgbClr val="FFFFFF"/>
                </a:solidFill>
                <a:latin typeface="Tahoma"/>
                <a:cs typeface="Tahoma"/>
              </a:rPr>
              <a:t>descubrimientos </a:t>
            </a:r>
            <a:r>
              <a:rPr sz="2500" b="1" spc="-10" dirty="0">
                <a:solidFill>
                  <a:srgbClr val="FFFFFF"/>
                </a:solidFill>
                <a:latin typeface="Tahoma"/>
                <a:cs typeface="Tahoma"/>
              </a:rPr>
              <a:t>científicos.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3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140" dirty="0"/>
              <a:t>DESTRUCCIÓN</a:t>
            </a:r>
            <a:r>
              <a:rPr sz="7000" spc="-50" dirty="0"/>
              <a:t> </a:t>
            </a:r>
            <a:r>
              <a:rPr sz="7000" spc="150" dirty="0"/>
              <a:t>CREATIVA</a:t>
            </a:r>
            <a:endParaRPr sz="70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990599"/>
            <a:ext cx="18287999" cy="7277343"/>
            <a:chOff x="0" y="990599"/>
            <a:chExt cx="18287999" cy="7277343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90599"/>
              <a:ext cx="18287999" cy="380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19800" y="4770363"/>
              <a:ext cx="0" cy="3497579"/>
            </a:xfrm>
            <a:custGeom>
              <a:avLst/>
              <a:gdLst/>
              <a:ahLst/>
              <a:cxnLst/>
              <a:rect l="l" t="t" r="r" b="b"/>
              <a:pathLst>
                <a:path h="3497579">
                  <a:moveTo>
                    <a:pt x="0" y="3497530"/>
                  </a:moveTo>
                  <a:lnTo>
                    <a:pt x="0" y="0"/>
                  </a:lnTo>
                </a:path>
              </a:pathLst>
            </a:custGeom>
            <a:ln w="43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56355" y="4770363"/>
              <a:ext cx="4909820" cy="3497579"/>
            </a:xfrm>
            <a:custGeom>
              <a:avLst/>
              <a:gdLst/>
              <a:ahLst/>
              <a:cxnLst/>
              <a:rect l="l" t="t" r="r" b="b"/>
              <a:pathLst>
                <a:path w="4909820" h="3497579">
                  <a:moveTo>
                    <a:pt x="0" y="3497530"/>
                  </a:moveTo>
                  <a:lnTo>
                    <a:pt x="0" y="0"/>
                  </a:lnTo>
                </a:path>
                <a:path w="4909820" h="3497579">
                  <a:moveTo>
                    <a:pt x="1636555" y="3497530"/>
                  </a:moveTo>
                  <a:lnTo>
                    <a:pt x="1636555" y="0"/>
                  </a:lnTo>
                </a:path>
                <a:path w="4909820" h="3497579">
                  <a:moveTo>
                    <a:pt x="3273110" y="3497530"/>
                  </a:moveTo>
                  <a:lnTo>
                    <a:pt x="3273110" y="0"/>
                  </a:lnTo>
                </a:path>
                <a:path w="4909820" h="3497579">
                  <a:moveTo>
                    <a:pt x="4909665" y="3497530"/>
                  </a:moveTo>
                  <a:lnTo>
                    <a:pt x="4909665" y="0"/>
                  </a:lnTo>
                </a:path>
              </a:pathLst>
            </a:custGeom>
            <a:ln w="43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66552" y="8285419"/>
            <a:ext cx="102870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50" dirty="0">
                <a:latin typeface="Arial MT"/>
                <a:cs typeface="Arial MT"/>
              </a:rPr>
              <a:t>0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64651" y="8285419"/>
            <a:ext cx="179705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 MT"/>
                <a:cs typeface="Arial MT"/>
              </a:rPr>
              <a:t>10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03364" y="8285419"/>
            <a:ext cx="179705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 MT"/>
                <a:cs typeface="Arial MT"/>
              </a:rPr>
              <a:t>20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39920" y="8285419"/>
            <a:ext cx="179705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 MT"/>
                <a:cs typeface="Arial MT"/>
              </a:rPr>
              <a:t>30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78634" y="8285419"/>
            <a:ext cx="179705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 MT"/>
                <a:cs typeface="Arial MT"/>
              </a:rPr>
              <a:t>40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9457" y="5072707"/>
            <a:ext cx="417195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latin typeface="Arial MT"/>
                <a:cs typeface="Arial MT"/>
              </a:rPr>
              <a:t>País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9457" y="5969510"/>
            <a:ext cx="417195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latin typeface="Arial MT"/>
                <a:cs typeface="Arial MT"/>
              </a:rPr>
              <a:t>País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09457" y="6866312"/>
            <a:ext cx="417195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latin typeface="Arial MT"/>
                <a:cs typeface="Arial MT"/>
              </a:rPr>
              <a:t>País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09457" y="7763115"/>
            <a:ext cx="417195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latin typeface="Arial MT"/>
                <a:cs typeface="Arial MT"/>
              </a:rPr>
              <a:t>País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4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619800" y="4770363"/>
            <a:ext cx="15944215" cy="4248785"/>
            <a:chOff x="1619800" y="4770363"/>
            <a:chExt cx="15944215" cy="4248785"/>
          </a:xfrm>
        </p:grpSpPr>
        <p:sp>
          <p:nvSpPr>
            <p:cNvPr id="23" name="object 23"/>
            <p:cNvSpPr/>
            <p:nvPr/>
          </p:nvSpPr>
          <p:spPr>
            <a:xfrm>
              <a:off x="1619796" y="4770373"/>
              <a:ext cx="6546215" cy="3497579"/>
            </a:xfrm>
            <a:custGeom>
              <a:avLst/>
              <a:gdLst/>
              <a:ahLst/>
              <a:cxnLst/>
              <a:rect l="l" t="t" r="r" b="b"/>
              <a:pathLst>
                <a:path w="6546215" h="3497579">
                  <a:moveTo>
                    <a:pt x="1636547" y="60325"/>
                  </a:moveTo>
                  <a:lnTo>
                    <a:pt x="1620634" y="21907"/>
                  </a:lnTo>
                  <a:lnTo>
                    <a:pt x="1580426" y="406"/>
                  </a:lnTo>
                  <a:lnTo>
                    <a:pt x="1576222" y="0"/>
                  </a:lnTo>
                  <a:lnTo>
                    <a:pt x="0" y="0"/>
                  </a:lnTo>
                  <a:lnTo>
                    <a:pt x="0" y="807123"/>
                  </a:lnTo>
                  <a:lnTo>
                    <a:pt x="1576222" y="807123"/>
                  </a:lnTo>
                  <a:lnTo>
                    <a:pt x="1614639" y="791210"/>
                  </a:lnTo>
                  <a:lnTo>
                    <a:pt x="1636141" y="750989"/>
                  </a:lnTo>
                  <a:lnTo>
                    <a:pt x="1636547" y="746785"/>
                  </a:lnTo>
                  <a:lnTo>
                    <a:pt x="1636547" y="60325"/>
                  </a:lnTo>
                  <a:close/>
                </a:path>
                <a:path w="6546215" h="3497579">
                  <a:moveTo>
                    <a:pt x="3273107" y="957135"/>
                  </a:moveTo>
                  <a:lnTo>
                    <a:pt x="3257194" y="918705"/>
                  </a:lnTo>
                  <a:lnTo>
                    <a:pt x="3216973" y="897216"/>
                  </a:lnTo>
                  <a:lnTo>
                    <a:pt x="3212782" y="896797"/>
                  </a:lnTo>
                  <a:lnTo>
                    <a:pt x="0" y="896797"/>
                  </a:lnTo>
                  <a:lnTo>
                    <a:pt x="0" y="1703920"/>
                  </a:lnTo>
                  <a:lnTo>
                    <a:pt x="3212782" y="1703920"/>
                  </a:lnTo>
                  <a:lnTo>
                    <a:pt x="3251200" y="1688007"/>
                  </a:lnTo>
                  <a:lnTo>
                    <a:pt x="3272688" y="1647786"/>
                  </a:lnTo>
                  <a:lnTo>
                    <a:pt x="3273107" y="1643595"/>
                  </a:lnTo>
                  <a:lnTo>
                    <a:pt x="3273107" y="957135"/>
                  </a:lnTo>
                  <a:close/>
                </a:path>
                <a:path w="6546215" h="3497579">
                  <a:moveTo>
                    <a:pt x="4909667" y="1853933"/>
                  </a:moveTo>
                  <a:lnTo>
                    <a:pt x="4893754" y="1815515"/>
                  </a:lnTo>
                  <a:lnTo>
                    <a:pt x="4853533" y="1794014"/>
                  </a:lnTo>
                  <a:lnTo>
                    <a:pt x="4849330" y="1793595"/>
                  </a:lnTo>
                  <a:lnTo>
                    <a:pt x="0" y="1793595"/>
                  </a:lnTo>
                  <a:lnTo>
                    <a:pt x="0" y="2600718"/>
                  </a:lnTo>
                  <a:lnTo>
                    <a:pt x="4849330" y="2600718"/>
                  </a:lnTo>
                  <a:lnTo>
                    <a:pt x="4887747" y="2584805"/>
                  </a:lnTo>
                  <a:lnTo>
                    <a:pt x="4909248" y="2544597"/>
                  </a:lnTo>
                  <a:lnTo>
                    <a:pt x="4909667" y="2540393"/>
                  </a:lnTo>
                  <a:lnTo>
                    <a:pt x="4909667" y="1853933"/>
                  </a:lnTo>
                  <a:close/>
                </a:path>
                <a:path w="6546215" h="3497579">
                  <a:moveTo>
                    <a:pt x="6546215" y="2750731"/>
                  </a:moveTo>
                  <a:lnTo>
                    <a:pt x="6530302" y="2712313"/>
                  </a:lnTo>
                  <a:lnTo>
                    <a:pt x="6490081" y="2690812"/>
                  </a:lnTo>
                  <a:lnTo>
                    <a:pt x="6485890" y="2690406"/>
                  </a:lnTo>
                  <a:lnTo>
                    <a:pt x="0" y="2690406"/>
                  </a:lnTo>
                  <a:lnTo>
                    <a:pt x="0" y="3497529"/>
                  </a:lnTo>
                  <a:lnTo>
                    <a:pt x="6485890" y="3497529"/>
                  </a:lnTo>
                  <a:lnTo>
                    <a:pt x="6524307" y="3481616"/>
                  </a:lnTo>
                  <a:lnTo>
                    <a:pt x="6545808" y="3441395"/>
                  </a:lnTo>
                  <a:lnTo>
                    <a:pt x="6546215" y="3437191"/>
                  </a:lnTo>
                  <a:lnTo>
                    <a:pt x="6546215" y="2750731"/>
                  </a:lnTo>
                  <a:close/>
                </a:path>
              </a:pathLst>
            </a:custGeom>
            <a:solidFill>
              <a:srgbClr val="38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2141" y="5008878"/>
              <a:ext cx="9191624" cy="4010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58300"/>
            <a:ext cx="726598" cy="10286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48906" y="8515891"/>
            <a:ext cx="1318118" cy="13181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376981" y="1341110"/>
            <a:ext cx="16390038" cy="110671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100" spc="105" dirty="0"/>
              <a:t>Teoría</a:t>
            </a:r>
            <a:r>
              <a:rPr sz="7100" spc="-70" dirty="0"/>
              <a:t> </a:t>
            </a:r>
            <a:r>
              <a:rPr sz="7100" spc="345" dirty="0"/>
              <a:t>de</a:t>
            </a:r>
            <a:r>
              <a:rPr sz="7100" spc="-65" dirty="0"/>
              <a:t> </a:t>
            </a:r>
            <a:r>
              <a:rPr sz="7100" spc="120" dirty="0"/>
              <a:t>los</a:t>
            </a:r>
            <a:r>
              <a:rPr sz="7100" spc="-65" dirty="0"/>
              <a:t> </a:t>
            </a:r>
            <a:r>
              <a:rPr sz="7100" spc="210" dirty="0"/>
              <a:t>Ciclos</a:t>
            </a:r>
            <a:r>
              <a:rPr sz="7100" spc="-65" dirty="0"/>
              <a:t> </a:t>
            </a:r>
            <a:r>
              <a:rPr sz="7100" spc="300" dirty="0"/>
              <a:t>Ecnonómicos</a:t>
            </a:r>
            <a:endParaRPr sz="710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80000" y="3226012"/>
            <a:ext cx="14969730" cy="64674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58300"/>
            <a:ext cx="726598" cy="10286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48906" y="8515891"/>
            <a:ext cx="1318118" cy="13181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100" spc="105" dirty="0"/>
              <a:t>Teoría</a:t>
            </a:r>
            <a:r>
              <a:rPr sz="7100" spc="-70" dirty="0"/>
              <a:t> </a:t>
            </a:r>
            <a:r>
              <a:rPr sz="7100" spc="345" dirty="0"/>
              <a:t>de</a:t>
            </a:r>
            <a:r>
              <a:rPr sz="7100" spc="-65" dirty="0"/>
              <a:t> </a:t>
            </a:r>
            <a:r>
              <a:rPr sz="7100" spc="120" dirty="0"/>
              <a:t>los</a:t>
            </a:r>
            <a:r>
              <a:rPr sz="7100" spc="-65" dirty="0"/>
              <a:t> </a:t>
            </a:r>
            <a:r>
              <a:rPr sz="7100" spc="210" dirty="0"/>
              <a:t>Ciclos</a:t>
            </a:r>
            <a:r>
              <a:rPr sz="7100" spc="-65" dirty="0"/>
              <a:t> </a:t>
            </a:r>
            <a:r>
              <a:rPr sz="7100" spc="300" dirty="0"/>
              <a:t>Ecnonómicos</a:t>
            </a:r>
            <a:endParaRPr sz="7100"/>
          </a:p>
        </p:txBody>
      </p:sp>
      <p:sp>
        <p:nvSpPr>
          <p:cNvPr id="9" name="object 9"/>
          <p:cNvSpPr txBox="1"/>
          <p:nvPr/>
        </p:nvSpPr>
        <p:spPr>
          <a:xfrm>
            <a:off x="1119645" y="393514"/>
            <a:ext cx="288798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65" dirty="0">
                <a:solidFill>
                  <a:srgbClr val="006BCC"/>
                </a:solidFill>
                <a:latin typeface="Trebuchet MS"/>
                <a:cs typeface="Trebuchet MS"/>
              </a:rPr>
              <a:t>Curvas</a:t>
            </a:r>
            <a:r>
              <a:rPr sz="1850" b="1" spc="-114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4" dirty="0">
                <a:solidFill>
                  <a:srgbClr val="006BCC"/>
                </a:solidFill>
                <a:latin typeface="Trebuchet MS"/>
                <a:cs typeface="Trebuchet MS"/>
              </a:rPr>
              <a:t>la</a:t>
            </a:r>
            <a:r>
              <a:rPr sz="1850" b="1" spc="-110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27878" y="3446765"/>
            <a:ext cx="13782674" cy="62198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19645" y="2934549"/>
            <a:ext cx="43738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120" dirty="0">
                <a:solidFill>
                  <a:srgbClr val="3D66C7"/>
                </a:solidFill>
                <a:latin typeface="Tahoma"/>
                <a:cs typeface="Tahoma"/>
              </a:rPr>
              <a:t>Concepción</a:t>
            </a:r>
            <a:r>
              <a:rPr sz="3500" b="1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500" b="1" spc="45" dirty="0">
                <a:solidFill>
                  <a:srgbClr val="3D66C7"/>
                </a:solidFill>
                <a:latin typeface="Tahoma"/>
                <a:cs typeface="Tahoma"/>
              </a:rPr>
              <a:t>Cíclica</a:t>
            </a:r>
            <a:endParaRPr sz="3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07506" y="5301095"/>
            <a:ext cx="5380492" cy="49859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891" y="2149042"/>
            <a:ext cx="4785953" cy="4775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91230" y="3224007"/>
            <a:ext cx="2229683" cy="22296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05640" y="2801450"/>
            <a:ext cx="5543549" cy="627697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143999" y="4000500"/>
            <a:ext cx="6174105" cy="32289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8825"/>
              </a:lnSpc>
              <a:spcBef>
                <a:spcPts val="110"/>
              </a:spcBef>
            </a:pPr>
            <a:r>
              <a:rPr spc="265" dirty="0"/>
              <a:t>Gestión</a:t>
            </a:r>
          </a:p>
          <a:p>
            <a:pPr marL="12700" marR="5080">
              <a:lnSpc>
                <a:spcPct val="74100"/>
              </a:lnSpc>
              <a:spcBef>
                <a:spcPts val="1270"/>
              </a:spcBef>
            </a:pPr>
            <a:r>
              <a:rPr spc="335" dirty="0"/>
              <a:t>de</a:t>
            </a:r>
            <a:r>
              <a:rPr spc="-140" dirty="0"/>
              <a:t> </a:t>
            </a:r>
            <a:r>
              <a:rPr spc="-25" dirty="0"/>
              <a:t>la </a:t>
            </a:r>
            <a:r>
              <a:rPr spc="165" dirty="0"/>
              <a:t>innovación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19645" y="393514"/>
            <a:ext cx="271589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95" dirty="0">
                <a:solidFill>
                  <a:srgbClr val="006BCC"/>
                </a:solidFill>
                <a:latin typeface="Trebuchet MS"/>
                <a:cs typeface="Trebuchet MS"/>
              </a:rPr>
              <a:t>Gestión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9799"/>
            <a:ext cx="4750435" cy="9827260"/>
            <a:chOff x="0" y="459799"/>
            <a:chExt cx="4750435" cy="9827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053712"/>
              <a:ext cx="1649685" cy="22332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9799"/>
              <a:ext cx="4750175" cy="822959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119645" y="1527997"/>
            <a:ext cx="15078710" cy="2282190"/>
          </a:xfrm>
          <a:prstGeom prst="rect">
            <a:avLst/>
          </a:prstGeom>
        </p:spPr>
        <p:txBody>
          <a:bodyPr vert="horz" wrap="square" lIns="0" tIns="349250" rIns="0" bIns="0" rtlCol="0">
            <a:spAutoFit/>
          </a:bodyPr>
          <a:lstStyle/>
          <a:p>
            <a:pPr marL="12700" marR="5080">
              <a:lnSpc>
                <a:spcPct val="74100"/>
              </a:lnSpc>
              <a:spcBef>
                <a:spcPts val="2750"/>
              </a:spcBef>
            </a:pPr>
            <a:r>
              <a:rPr spc="225" dirty="0"/>
              <a:t>Los</a:t>
            </a:r>
            <a:r>
              <a:rPr spc="-80" dirty="0"/>
              <a:t> </a:t>
            </a:r>
            <a:r>
              <a:rPr spc="-900" dirty="0"/>
              <a:t>10</a:t>
            </a:r>
            <a:r>
              <a:rPr spc="-80" dirty="0"/>
              <a:t> </a:t>
            </a:r>
            <a:r>
              <a:rPr spc="185" dirty="0"/>
              <a:t>Tipos</a:t>
            </a:r>
            <a:r>
              <a:rPr spc="-80" dirty="0"/>
              <a:t> </a:t>
            </a:r>
            <a:r>
              <a:rPr spc="415" dirty="0"/>
              <a:t>de</a:t>
            </a:r>
            <a:r>
              <a:rPr spc="-75" dirty="0"/>
              <a:t> </a:t>
            </a:r>
            <a:r>
              <a:rPr spc="120" dirty="0"/>
              <a:t>Innovación </a:t>
            </a:r>
            <a:r>
              <a:rPr spc="360" dirty="0"/>
              <a:t>según</a:t>
            </a:r>
            <a:r>
              <a:rPr spc="-70" dirty="0"/>
              <a:t> </a:t>
            </a:r>
            <a:r>
              <a:rPr spc="275" dirty="0"/>
              <a:t>Doblin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990599"/>
            <a:ext cx="18288000" cy="8266430"/>
            <a:chOff x="0" y="990599"/>
            <a:chExt cx="18288000" cy="826643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90599"/>
              <a:ext cx="18287999" cy="380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25806" y="4084383"/>
              <a:ext cx="13849349" cy="517207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19645" y="393514"/>
            <a:ext cx="271589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95" dirty="0">
                <a:solidFill>
                  <a:srgbClr val="006BCC"/>
                </a:solidFill>
                <a:latin typeface="Trebuchet MS"/>
                <a:cs typeface="Trebuchet MS"/>
              </a:rPr>
              <a:t>Gestión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9799"/>
            <a:ext cx="4750435" cy="9827260"/>
            <a:chOff x="0" y="459799"/>
            <a:chExt cx="4750435" cy="9827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053712"/>
              <a:ext cx="1649685" cy="22332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9799"/>
              <a:ext cx="4750175" cy="822959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/>
          <p:nvPr/>
        </p:nvSpPr>
        <p:spPr>
          <a:xfrm>
            <a:off x="1119645" y="2106849"/>
            <a:ext cx="6550025" cy="210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740"/>
              </a:lnSpc>
              <a:spcBef>
                <a:spcPts val="100"/>
              </a:spcBef>
            </a:pPr>
            <a:r>
              <a:rPr sz="5500" b="1" spc="130" dirty="0">
                <a:solidFill>
                  <a:srgbClr val="3D66C7"/>
                </a:solidFill>
                <a:latin typeface="Tahoma"/>
                <a:cs typeface="Tahoma"/>
              </a:rPr>
              <a:t>Los</a:t>
            </a:r>
            <a:r>
              <a:rPr sz="5500" b="1" spc="-4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5500" b="1" spc="-580" dirty="0">
                <a:solidFill>
                  <a:srgbClr val="3D66C7"/>
                </a:solidFill>
                <a:latin typeface="Tahoma"/>
                <a:cs typeface="Tahoma"/>
              </a:rPr>
              <a:t>10</a:t>
            </a:r>
            <a:r>
              <a:rPr sz="5500" b="1" spc="-4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5500" b="1" spc="110" dirty="0">
                <a:solidFill>
                  <a:srgbClr val="3D66C7"/>
                </a:solidFill>
                <a:latin typeface="Tahoma"/>
                <a:cs typeface="Tahoma"/>
              </a:rPr>
              <a:t>Tipos</a:t>
            </a:r>
            <a:r>
              <a:rPr sz="5500" b="1" spc="-4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5500" b="1" spc="225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endParaRPr sz="5500">
              <a:latin typeface="Tahoma"/>
              <a:cs typeface="Tahoma"/>
            </a:endParaRPr>
          </a:p>
          <a:p>
            <a:pPr marL="12700" marR="5080">
              <a:lnSpc>
                <a:spcPct val="73900"/>
              </a:lnSpc>
              <a:spcBef>
                <a:spcPts val="860"/>
              </a:spcBef>
            </a:pPr>
            <a:r>
              <a:rPr sz="5500" b="1" spc="65" dirty="0">
                <a:solidFill>
                  <a:srgbClr val="3D66C7"/>
                </a:solidFill>
                <a:latin typeface="Tahoma"/>
                <a:cs typeface="Tahoma"/>
              </a:rPr>
              <a:t>Innovación</a:t>
            </a:r>
            <a:r>
              <a:rPr sz="5500" b="1" spc="-1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5500" b="1" spc="215" dirty="0">
                <a:solidFill>
                  <a:srgbClr val="3D66C7"/>
                </a:solidFill>
                <a:latin typeface="Tahoma"/>
                <a:cs typeface="Tahoma"/>
              </a:rPr>
              <a:t>según </a:t>
            </a:r>
            <a:r>
              <a:rPr sz="5500" b="1" spc="165" dirty="0">
                <a:solidFill>
                  <a:srgbClr val="3D66C7"/>
                </a:solidFill>
                <a:latin typeface="Tahoma"/>
                <a:cs typeface="Tahoma"/>
              </a:rPr>
              <a:t>Doblin</a:t>
            </a:r>
            <a:endParaRPr sz="5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990599"/>
            <a:ext cx="18288000" cy="8267065"/>
            <a:chOff x="0" y="990599"/>
            <a:chExt cx="18288000" cy="826706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90599"/>
              <a:ext cx="18287999" cy="380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0217" y="1837329"/>
              <a:ext cx="8786815" cy="74199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19645" y="393514"/>
            <a:ext cx="271589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95" dirty="0">
                <a:solidFill>
                  <a:srgbClr val="006BCC"/>
                </a:solidFill>
                <a:latin typeface="Trebuchet MS"/>
                <a:cs typeface="Trebuchet MS"/>
              </a:rPr>
              <a:t>Gestión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19645" y="4646929"/>
            <a:ext cx="20923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-10" dirty="0">
                <a:solidFill>
                  <a:srgbClr val="3D66C7"/>
                </a:solidFill>
                <a:latin typeface="Verdana"/>
                <a:cs typeface="Verdana"/>
              </a:rPr>
              <a:t>Funciones: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9799"/>
            <a:ext cx="4750435" cy="9827260"/>
            <a:chOff x="0" y="459799"/>
            <a:chExt cx="4750435" cy="9827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053712"/>
              <a:ext cx="1649685" cy="22332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9799"/>
              <a:ext cx="4750175" cy="822959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130" dirty="0"/>
              <a:t>Los</a:t>
            </a:r>
            <a:r>
              <a:rPr sz="5500" spc="-45" dirty="0"/>
              <a:t> </a:t>
            </a:r>
            <a:r>
              <a:rPr sz="5500" spc="-580" dirty="0"/>
              <a:t>10</a:t>
            </a:r>
            <a:r>
              <a:rPr sz="5500" spc="-40" dirty="0"/>
              <a:t> </a:t>
            </a:r>
            <a:r>
              <a:rPr sz="5500" spc="110" dirty="0"/>
              <a:t>Tipos</a:t>
            </a:r>
            <a:r>
              <a:rPr sz="5500" spc="-40" dirty="0"/>
              <a:t> </a:t>
            </a:r>
            <a:r>
              <a:rPr sz="5500" spc="250" dirty="0"/>
              <a:t>de</a:t>
            </a:r>
            <a:r>
              <a:rPr sz="5500" spc="-40" dirty="0"/>
              <a:t> </a:t>
            </a:r>
            <a:r>
              <a:rPr sz="5500" spc="65" dirty="0"/>
              <a:t>Innovación</a:t>
            </a:r>
            <a:r>
              <a:rPr sz="5500" spc="-40" dirty="0"/>
              <a:t> </a:t>
            </a:r>
            <a:r>
              <a:rPr sz="5500" spc="225" dirty="0"/>
              <a:t>según</a:t>
            </a:r>
            <a:r>
              <a:rPr sz="5500" spc="-40" dirty="0"/>
              <a:t> </a:t>
            </a:r>
            <a:r>
              <a:rPr sz="5500" spc="165" dirty="0"/>
              <a:t>Doblin</a:t>
            </a:r>
            <a:endParaRPr sz="55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990599"/>
            <a:ext cx="18288000" cy="8239759"/>
            <a:chOff x="0" y="990599"/>
            <a:chExt cx="18288000" cy="8239759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90599"/>
              <a:ext cx="18287999" cy="380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0903" y="2696020"/>
              <a:ext cx="15544799" cy="65341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19645" y="393514"/>
            <a:ext cx="271589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95" dirty="0">
                <a:solidFill>
                  <a:srgbClr val="006BCC"/>
                </a:solidFill>
                <a:latin typeface="Trebuchet MS"/>
                <a:cs typeface="Trebuchet MS"/>
              </a:rPr>
              <a:t>Gestión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800" y="2933700"/>
            <a:ext cx="5466080" cy="9588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50"/>
              </a:spcBef>
            </a:pP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Impacto</a:t>
            </a:r>
            <a:r>
              <a:rPr sz="3000" i="1" spc="-15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65" dirty="0">
                <a:solidFill>
                  <a:srgbClr val="3D66C7"/>
                </a:solidFill>
                <a:latin typeface="Verdana"/>
                <a:cs typeface="Verdana"/>
              </a:rPr>
              <a:t>en</a:t>
            </a:r>
            <a:r>
              <a:rPr sz="3000" i="1" spc="-15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las</a:t>
            </a:r>
            <a:r>
              <a:rPr sz="3000" i="1" spc="-15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3D66C7"/>
                </a:solidFill>
                <a:latin typeface="Verdana"/>
                <a:cs typeface="Verdana"/>
              </a:rPr>
              <a:t>funciones</a:t>
            </a:r>
            <a:r>
              <a:rPr sz="3000" i="1" spc="-150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55" dirty="0">
                <a:solidFill>
                  <a:srgbClr val="3D66C7"/>
                </a:solidFill>
                <a:latin typeface="Verdana"/>
                <a:cs typeface="Verdana"/>
              </a:rPr>
              <a:t>de </a:t>
            </a:r>
            <a:r>
              <a:rPr sz="3000" i="1" spc="100" dirty="0">
                <a:solidFill>
                  <a:srgbClr val="3D66C7"/>
                </a:solidFill>
                <a:latin typeface="Verdana"/>
                <a:cs typeface="Verdana"/>
              </a:rPr>
              <a:t>la</a:t>
            </a:r>
            <a:r>
              <a:rPr sz="3000" i="1" spc="-265" dirty="0">
                <a:solidFill>
                  <a:srgbClr val="3D66C7"/>
                </a:solidFill>
                <a:latin typeface="Verdana"/>
                <a:cs typeface="Verdana"/>
              </a:rPr>
              <a:t> </a:t>
            </a:r>
            <a:r>
              <a:rPr sz="3000" i="1" spc="55" dirty="0">
                <a:solidFill>
                  <a:srgbClr val="3D66C7"/>
                </a:solidFill>
                <a:latin typeface="Verdana"/>
                <a:cs typeface="Verdana"/>
              </a:rPr>
              <a:t>empresa</a:t>
            </a:r>
            <a:endParaRPr sz="3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94126"/>
            <a:ext cx="10335260" cy="5753100"/>
            <a:chOff x="0" y="1194126"/>
            <a:chExt cx="10335260" cy="5753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26162"/>
              <a:ext cx="10335236" cy="26173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94126"/>
              <a:ext cx="2743353" cy="5753098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57400" y="2846716"/>
            <a:ext cx="6767614" cy="22967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8940"/>
              </a:lnSpc>
              <a:spcBef>
                <a:spcPts val="110"/>
              </a:spcBef>
            </a:pPr>
            <a:r>
              <a:rPr spc="270" dirty="0"/>
              <a:t>La</a:t>
            </a:r>
            <a:r>
              <a:rPr spc="-15" dirty="0"/>
              <a:t> </a:t>
            </a:r>
            <a:r>
              <a:rPr spc="315" dirty="0"/>
              <a:t>mirada</a:t>
            </a:r>
          </a:p>
          <a:p>
            <a:pPr marL="12700">
              <a:lnSpc>
                <a:spcPts val="8940"/>
              </a:lnSpc>
            </a:pPr>
            <a:r>
              <a:rPr spc="225" dirty="0"/>
              <a:t>Moderna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19645" y="393514"/>
            <a:ext cx="271589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95" dirty="0">
                <a:solidFill>
                  <a:srgbClr val="006BCC"/>
                </a:solidFill>
                <a:latin typeface="Trebuchet MS"/>
                <a:cs typeface="Trebuchet MS"/>
              </a:rPr>
              <a:t>Gestión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21188" y="6099942"/>
            <a:ext cx="13093065" cy="802640"/>
            <a:chOff x="3021188" y="6099942"/>
            <a:chExt cx="13093065" cy="80264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21188" y="6228932"/>
              <a:ext cx="544421" cy="54442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02280" y="6099942"/>
              <a:ext cx="12211493" cy="802401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97006" y="7917812"/>
            <a:ext cx="544421" cy="54442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78082" y="7788822"/>
            <a:ext cx="11378761" cy="80240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902280" y="6099942"/>
            <a:ext cx="12211685" cy="8026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631190">
              <a:lnSpc>
                <a:spcPct val="100000"/>
              </a:lnSpc>
              <a:spcBef>
                <a:spcPts val="894"/>
              </a:spcBef>
            </a:pPr>
            <a:r>
              <a:rPr sz="3350" b="1" spc="70" dirty="0">
                <a:solidFill>
                  <a:srgbClr val="FFFFFF"/>
                </a:solidFill>
                <a:latin typeface="Tahoma"/>
                <a:cs typeface="Tahoma"/>
              </a:rPr>
              <a:t>Gestión</a:t>
            </a:r>
            <a:r>
              <a:rPr sz="3350" b="1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50" b="1" spc="15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3350" b="1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50" b="1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3350" b="1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50" b="1" dirty="0">
                <a:solidFill>
                  <a:srgbClr val="FFFFFF"/>
                </a:solidFill>
                <a:latin typeface="Tahoma"/>
                <a:cs typeface="Tahoma"/>
              </a:rPr>
              <a:t>Innovación</a:t>
            </a:r>
            <a:r>
              <a:rPr sz="3350" b="1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50" b="1" spc="-25" dirty="0">
                <a:solidFill>
                  <a:srgbClr val="FFFFFF"/>
                </a:solidFill>
                <a:latin typeface="Tahoma"/>
                <a:cs typeface="Tahoma"/>
              </a:rPr>
              <a:t>2.0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78082" y="7788822"/>
            <a:ext cx="11379200" cy="8026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631190">
              <a:lnSpc>
                <a:spcPct val="100000"/>
              </a:lnSpc>
              <a:spcBef>
                <a:spcPts val="894"/>
              </a:spcBef>
            </a:pPr>
            <a:r>
              <a:rPr sz="3350" b="1" spc="80" dirty="0">
                <a:solidFill>
                  <a:srgbClr val="FFFFFF"/>
                </a:solidFill>
                <a:latin typeface="Tahoma"/>
                <a:cs typeface="Tahoma"/>
              </a:rPr>
              <a:t>Habilidades</a:t>
            </a:r>
            <a:r>
              <a:rPr sz="335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50" b="1" spc="90" dirty="0">
                <a:solidFill>
                  <a:srgbClr val="FFFFFF"/>
                </a:solidFill>
                <a:latin typeface="Tahoma"/>
                <a:cs typeface="Tahoma"/>
              </a:rPr>
              <a:t>Blandas</a:t>
            </a:r>
            <a:endParaRPr sz="3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309" y="4440355"/>
            <a:ext cx="407554" cy="4075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869" y="4343793"/>
            <a:ext cx="3345793" cy="10022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25354" y="4440355"/>
            <a:ext cx="407554" cy="4075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03" y="4343793"/>
            <a:ext cx="3546555" cy="10022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22580" y="4440355"/>
            <a:ext cx="407553" cy="4075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182141" y="4343793"/>
            <a:ext cx="3345793" cy="10022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86204" y="5602363"/>
            <a:ext cx="4753610" cy="27495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065" marR="5080" algn="ctr">
              <a:lnSpc>
                <a:spcPct val="102499"/>
              </a:lnSpc>
              <a:spcBef>
                <a:spcPts val="25"/>
              </a:spcBef>
            </a:pPr>
            <a:r>
              <a:rPr sz="2500" spc="190" dirty="0">
                <a:solidFill>
                  <a:srgbClr val="006BCC"/>
                </a:solidFill>
                <a:latin typeface="Tahoma"/>
                <a:cs typeface="Tahoma"/>
              </a:rPr>
              <a:t>El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45" dirty="0">
                <a:solidFill>
                  <a:srgbClr val="006BCC"/>
                </a:solidFill>
                <a:latin typeface="Tahoma"/>
                <a:cs typeface="Tahoma"/>
              </a:rPr>
              <a:t>rol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04" dirty="0">
                <a:solidFill>
                  <a:srgbClr val="006BCC"/>
                </a:solidFill>
                <a:latin typeface="Tahoma"/>
                <a:cs typeface="Tahoma"/>
              </a:rPr>
              <a:t>del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90" dirty="0">
                <a:solidFill>
                  <a:srgbClr val="006BCC"/>
                </a:solidFill>
                <a:latin typeface="Tahoma"/>
                <a:cs typeface="Tahoma"/>
              </a:rPr>
              <a:t>director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35" dirty="0">
                <a:solidFill>
                  <a:srgbClr val="006BCC"/>
                </a:solidFill>
                <a:latin typeface="Tahoma"/>
                <a:cs typeface="Tahoma"/>
              </a:rPr>
              <a:t>y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35" dirty="0">
                <a:solidFill>
                  <a:srgbClr val="006BCC"/>
                </a:solidFill>
                <a:latin typeface="Tahoma"/>
                <a:cs typeface="Tahoma"/>
              </a:rPr>
              <a:t>equipo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9" dirty="0">
                <a:solidFill>
                  <a:srgbClr val="006BCC"/>
                </a:solidFill>
                <a:latin typeface="Tahoma"/>
                <a:cs typeface="Tahoma"/>
              </a:rPr>
              <a:t>de </a:t>
            </a:r>
            <a:r>
              <a:rPr sz="2500" spc="170" dirty="0">
                <a:solidFill>
                  <a:srgbClr val="006BCC"/>
                </a:solidFill>
                <a:latin typeface="Tahoma"/>
                <a:cs typeface="Tahoma"/>
              </a:rPr>
              <a:t>alto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04" dirty="0">
                <a:solidFill>
                  <a:srgbClr val="006BCC"/>
                </a:solidFill>
                <a:latin typeface="Tahoma"/>
                <a:cs typeface="Tahoma"/>
              </a:rPr>
              <a:t>carga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60" dirty="0">
                <a:solidFill>
                  <a:srgbClr val="006BCC"/>
                </a:solidFill>
                <a:latin typeface="Tahoma"/>
                <a:cs typeface="Tahoma"/>
              </a:rPr>
              <a:t>que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0" dirty="0">
                <a:solidFill>
                  <a:srgbClr val="006BCC"/>
                </a:solidFill>
                <a:latin typeface="Tahoma"/>
                <a:cs typeface="Tahoma"/>
              </a:rPr>
              <a:t>poseen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85" dirty="0">
                <a:solidFill>
                  <a:srgbClr val="006BCC"/>
                </a:solidFill>
                <a:latin typeface="Tahoma"/>
                <a:cs typeface="Tahoma"/>
              </a:rPr>
              <a:t>y </a:t>
            </a:r>
            <a:r>
              <a:rPr sz="2500" spc="275" dirty="0">
                <a:solidFill>
                  <a:srgbClr val="006BCC"/>
                </a:solidFill>
                <a:latin typeface="Tahoma"/>
                <a:cs typeface="Tahoma"/>
              </a:rPr>
              <a:t>toman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55" dirty="0">
                <a:solidFill>
                  <a:srgbClr val="006BCC"/>
                </a:solidFill>
                <a:latin typeface="Tahoma"/>
                <a:cs typeface="Tahoma"/>
              </a:rPr>
              <a:t>roles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54" dirty="0">
                <a:solidFill>
                  <a:srgbClr val="006BCC"/>
                </a:solidFill>
                <a:latin typeface="Tahoma"/>
                <a:cs typeface="Tahoma"/>
              </a:rPr>
              <a:t>de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20" dirty="0">
                <a:solidFill>
                  <a:srgbClr val="006BCC"/>
                </a:solidFill>
                <a:latin typeface="Tahoma"/>
                <a:cs typeface="Tahoma"/>
              </a:rPr>
              <a:t>líderes,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20" dirty="0">
                <a:solidFill>
                  <a:srgbClr val="006BCC"/>
                </a:solidFill>
                <a:latin typeface="Tahoma"/>
                <a:cs typeface="Tahoma"/>
              </a:rPr>
              <a:t>si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5" dirty="0">
                <a:solidFill>
                  <a:srgbClr val="006BCC"/>
                </a:solidFill>
                <a:latin typeface="Tahoma"/>
                <a:cs typeface="Tahoma"/>
              </a:rPr>
              <a:t>no brindan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60" dirty="0">
                <a:solidFill>
                  <a:srgbClr val="006BCC"/>
                </a:solidFill>
                <a:latin typeface="Tahoma"/>
                <a:cs typeface="Tahoma"/>
              </a:rPr>
              <a:t>el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35" dirty="0">
                <a:solidFill>
                  <a:srgbClr val="006BCC"/>
                </a:solidFill>
                <a:latin typeface="Tahoma"/>
                <a:cs typeface="Tahoma"/>
              </a:rPr>
              <a:t>ambiente </a:t>
            </a:r>
            <a:r>
              <a:rPr sz="2500" spc="165" dirty="0">
                <a:solidFill>
                  <a:srgbClr val="006BCC"/>
                </a:solidFill>
                <a:latin typeface="Tahoma"/>
                <a:cs typeface="Tahoma"/>
              </a:rPr>
              <a:t>favorable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85" dirty="0">
                <a:solidFill>
                  <a:srgbClr val="006BCC"/>
                </a:solidFill>
                <a:latin typeface="Tahoma"/>
                <a:cs typeface="Tahoma"/>
              </a:rPr>
              <a:t>para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45" dirty="0">
                <a:solidFill>
                  <a:srgbClr val="006BCC"/>
                </a:solidFill>
                <a:latin typeface="Tahoma"/>
                <a:cs typeface="Tahoma"/>
              </a:rPr>
              <a:t>la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60" dirty="0">
                <a:solidFill>
                  <a:srgbClr val="006BCC"/>
                </a:solidFill>
                <a:latin typeface="Tahoma"/>
                <a:cs typeface="Tahoma"/>
              </a:rPr>
              <a:t>innovación, </a:t>
            </a:r>
            <a:r>
              <a:rPr sz="2500" spc="254" dirty="0">
                <a:solidFill>
                  <a:srgbClr val="006BCC"/>
                </a:solidFill>
                <a:latin typeface="Tahoma"/>
                <a:cs typeface="Tahoma"/>
              </a:rPr>
              <a:t>nunca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15" dirty="0">
                <a:solidFill>
                  <a:srgbClr val="006BCC"/>
                </a:solidFill>
                <a:latin typeface="Tahoma"/>
                <a:cs typeface="Tahoma"/>
              </a:rPr>
              <a:t>podrá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40" dirty="0">
                <a:solidFill>
                  <a:srgbClr val="006BCC"/>
                </a:solidFill>
                <a:latin typeface="Tahoma"/>
                <a:cs typeface="Tahoma"/>
              </a:rPr>
              <a:t>emerger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04" dirty="0">
                <a:solidFill>
                  <a:srgbClr val="006BCC"/>
                </a:solidFill>
                <a:latin typeface="Tahoma"/>
                <a:cs typeface="Tahoma"/>
              </a:rPr>
              <a:t>dentro </a:t>
            </a:r>
            <a:r>
              <a:rPr sz="2500" spc="254" dirty="0">
                <a:solidFill>
                  <a:srgbClr val="006BCC"/>
                </a:solidFill>
                <a:latin typeface="Tahoma"/>
                <a:cs typeface="Tahoma"/>
              </a:rPr>
              <a:t>de</a:t>
            </a:r>
            <a:r>
              <a:rPr sz="2500" spc="-11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45" dirty="0">
                <a:solidFill>
                  <a:srgbClr val="006BCC"/>
                </a:solidFill>
                <a:latin typeface="Tahoma"/>
                <a:cs typeface="Tahoma"/>
              </a:rPr>
              <a:t>la</a:t>
            </a:r>
            <a:r>
              <a:rPr sz="2500" spc="-11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60" dirty="0">
                <a:solidFill>
                  <a:srgbClr val="006BCC"/>
                </a:solidFill>
                <a:latin typeface="Tahoma"/>
                <a:cs typeface="Tahoma"/>
              </a:rPr>
              <a:t>organización.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7869" y="4343793"/>
            <a:ext cx="3345815" cy="10026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38125" marR="1247140">
              <a:lnSpc>
                <a:spcPct val="105000"/>
              </a:lnSpc>
              <a:spcBef>
                <a:spcPts val="530"/>
              </a:spcBef>
            </a:pPr>
            <a:r>
              <a:rPr sz="2500" b="1" spc="85" dirty="0">
                <a:solidFill>
                  <a:srgbClr val="FFFFFF"/>
                </a:solidFill>
                <a:latin typeface="Tahoma"/>
                <a:cs typeface="Tahoma"/>
              </a:rPr>
              <a:t>Proceso</a:t>
            </a:r>
            <a:r>
              <a:rPr sz="25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85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2500" b="1" spc="55" dirty="0">
                <a:solidFill>
                  <a:srgbClr val="FFFFFF"/>
                </a:solidFill>
                <a:latin typeface="Tahoma"/>
                <a:cs typeface="Tahoma"/>
              </a:rPr>
              <a:t>Liderazgo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386204" y="899596"/>
            <a:ext cx="15512526" cy="22967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58595">
              <a:lnSpc>
                <a:spcPts val="8875"/>
              </a:lnSpc>
              <a:spcBef>
                <a:spcPts val="110"/>
              </a:spcBef>
            </a:pPr>
            <a:r>
              <a:rPr sz="8000" spc="204" dirty="0"/>
              <a:t>Gestión</a:t>
            </a:r>
            <a:r>
              <a:rPr sz="8000" spc="-905" dirty="0"/>
              <a:t> </a:t>
            </a:r>
            <a:r>
              <a:rPr sz="8000" spc="335" dirty="0"/>
              <a:t>de</a:t>
            </a:r>
            <a:r>
              <a:rPr sz="8000" spc="-180" dirty="0"/>
              <a:t> </a:t>
            </a:r>
            <a:r>
              <a:rPr sz="8000" dirty="0"/>
              <a:t>la</a:t>
            </a:r>
            <a:r>
              <a:rPr sz="8000" spc="-160" dirty="0"/>
              <a:t> </a:t>
            </a:r>
            <a:r>
              <a:rPr sz="8000" spc="165" dirty="0"/>
              <a:t>innovación</a:t>
            </a:r>
          </a:p>
          <a:p>
            <a:pPr marL="5998845">
              <a:lnSpc>
                <a:spcPts val="8875"/>
              </a:lnSpc>
            </a:pPr>
            <a:r>
              <a:rPr sz="8000" spc="-305" dirty="0"/>
              <a:t>2.0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27549" y="5602363"/>
            <a:ext cx="4489450" cy="35306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34925" algn="ctr">
              <a:lnSpc>
                <a:spcPct val="102499"/>
              </a:lnSpc>
              <a:spcBef>
                <a:spcPts val="25"/>
              </a:spcBef>
            </a:pPr>
            <a:r>
              <a:rPr sz="2500" spc="175" dirty="0">
                <a:solidFill>
                  <a:srgbClr val="006BCC"/>
                </a:solidFill>
                <a:latin typeface="Tahoma"/>
                <a:cs typeface="Tahoma"/>
              </a:rPr>
              <a:t>Se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90" dirty="0">
                <a:solidFill>
                  <a:srgbClr val="006BCC"/>
                </a:solidFill>
                <a:latin typeface="Tahoma"/>
                <a:cs typeface="Tahoma"/>
              </a:rPr>
              <a:t>requiere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30" dirty="0">
                <a:solidFill>
                  <a:srgbClr val="006BCC"/>
                </a:solidFill>
                <a:latin typeface="Tahoma"/>
                <a:cs typeface="Tahoma"/>
              </a:rPr>
              <a:t>inversión, </a:t>
            </a:r>
            <a:r>
              <a:rPr sz="2500" spc="195" dirty="0">
                <a:solidFill>
                  <a:srgbClr val="006BCC"/>
                </a:solidFill>
                <a:latin typeface="Tahoma"/>
                <a:cs typeface="Tahoma"/>
              </a:rPr>
              <a:t>procesos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35" dirty="0">
                <a:solidFill>
                  <a:srgbClr val="006BCC"/>
                </a:solidFill>
                <a:latin typeface="Tahoma"/>
                <a:cs typeface="Tahoma"/>
              </a:rPr>
              <a:t>y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95" dirty="0">
                <a:solidFill>
                  <a:srgbClr val="006BCC"/>
                </a:solidFill>
                <a:latin typeface="Tahoma"/>
                <a:cs typeface="Tahoma"/>
              </a:rPr>
              <a:t>sistemas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35" dirty="0">
                <a:solidFill>
                  <a:srgbClr val="006BCC"/>
                </a:solidFill>
                <a:latin typeface="Tahoma"/>
                <a:cs typeface="Tahoma"/>
              </a:rPr>
              <a:t>que </a:t>
            </a:r>
            <a:r>
              <a:rPr sz="2500" spc="220" dirty="0">
                <a:solidFill>
                  <a:srgbClr val="006BCC"/>
                </a:solidFill>
                <a:latin typeface="Tahoma"/>
                <a:cs typeface="Tahoma"/>
              </a:rPr>
              <a:t>operen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10" dirty="0">
                <a:solidFill>
                  <a:srgbClr val="006BCC"/>
                </a:solidFill>
                <a:latin typeface="Tahoma"/>
                <a:cs typeface="Tahoma"/>
              </a:rPr>
              <a:t>coherentemente.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65" dirty="0">
                <a:solidFill>
                  <a:srgbClr val="006BCC"/>
                </a:solidFill>
                <a:latin typeface="Tahoma"/>
                <a:cs typeface="Tahoma"/>
              </a:rPr>
              <a:t>El </a:t>
            </a:r>
            <a:r>
              <a:rPr sz="2500" spc="200" dirty="0">
                <a:solidFill>
                  <a:srgbClr val="006BCC"/>
                </a:solidFill>
                <a:latin typeface="Tahoma"/>
                <a:cs typeface="Tahoma"/>
              </a:rPr>
              <a:t>corto</a:t>
            </a:r>
            <a:r>
              <a:rPr sz="2500" spc="-11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30" dirty="0">
                <a:solidFill>
                  <a:srgbClr val="006BCC"/>
                </a:solidFill>
                <a:latin typeface="Tahoma"/>
                <a:cs typeface="Tahoma"/>
              </a:rPr>
              <a:t>plazo,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55" dirty="0">
                <a:solidFill>
                  <a:srgbClr val="006BCC"/>
                </a:solidFill>
                <a:latin typeface="Tahoma"/>
                <a:cs typeface="Tahoma"/>
              </a:rPr>
              <a:t>los</a:t>
            </a:r>
            <a:r>
              <a:rPr sz="2500" spc="-11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70" dirty="0">
                <a:solidFill>
                  <a:srgbClr val="006BCC"/>
                </a:solidFill>
                <a:latin typeface="Tahoma"/>
                <a:cs typeface="Tahoma"/>
              </a:rPr>
              <a:t>resultados </a:t>
            </a:r>
            <a:r>
              <a:rPr sz="2500" spc="225" dirty="0">
                <a:solidFill>
                  <a:srgbClr val="006BCC"/>
                </a:solidFill>
                <a:latin typeface="Tahoma"/>
                <a:cs typeface="Tahoma"/>
              </a:rPr>
              <a:t>inmediatos</a:t>
            </a:r>
            <a:r>
              <a:rPr sz="2500" spc="-11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35" dirty="0">
                <a:solidFill>
                  <a:srgbClr val="006BCC"/>
                </a:solidFill>
                <a:latin typeface="Tahoma"/>
                <a:cs typeface="Tahoma"/>
              </a:rPr>
              <a:t>y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20" dirty="0">
                <a:solidFill>
                  <a:srgbClr val="006BCC"/>
                </a:solidFill>
                <a:latin typeface="Tahoma"/>
                <a:cs typeface="Tahoma"/>
              </a:rPr>
              <a:t>la </a:t>
            </a:r>
            <a:r>
              <a:rPr sz="2500" spc="215" dirty="0">
                <a:solidFill>
                  <a:srgbClr val="006BCC"/>
                </a:solidFill>
                <a:latin typeface="Tahoma"/>
                <a:cs typeface="Tahoma"/>
              </a:rPr>
              <a:t>preponderancia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70" dirty="0">
                <a:solidFill>
                  <a:srgbClr val="006BCC"/>
                </a:solidFill>
                <a:latin typeface="Tahoma"/>
                <a:cs typeface="Tahoma"/>
              </a:rPr>
              <a:t>a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30" dirty="0">
                <a:solidFill>
                  <a:srgbClr val="006BCC"/>
                </a:solidFill>
                <a:latin typeface="Tahoma"/>
                <a:cs typeface="Tahoma"/>
              </a:rPr>
              <a:t>lo </a:t>
            </a:r>
            <a:r>
              <a:rPr sz="2500" spc="180" dirty="0">
                <a:solidFill>
                  <a:srgbClr val="006BCC"/>
                </a:solidFill>
                <a:latin typeface="Tahoma"/>
                <a:cs typeface="Tahoma"/>
              </a:rPr>
              <a:t>operativo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90" dirty="0">
                <a:solidFill>
                  <a:srgbClr val="006BCC"/>
                </a:solidFill>
                <a:latin typeface="Tahoma"/>
                <a:cs typeface="Tahoma"/>
              </a:rPr>
              <a:t>sobre</a:t>
            </a:r>
            <a:r>
              <a:rPr sz="2500" spc="-8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40" dirty="0">
                <a:solidFill>
                  <a:srgbClr val="006BCC"/>
                </a:solidFill>
                <a:latin typeface="Tahoma"/>
                <a:cs typeface="Tahoma"/>
              </a:rPr>
              <a:t>lo </a:t>
            </a:r>
            <a:r>
              <a:rPr sz="2500" spc="190" dirty="0">
                <a:solidFill>
                  <a:srgbClr val="006BCC"/>
                </a:solidFill>
                <a:latin typeface="Tahoma"/>
                <a:cs typeface="Tahoma"/>
              </a:rPr>
              <a:t>estratégico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95" dirty="0">
                <a:solidFill>
                  <a:srgbClr val="006BCC"/>
                </a:solidFill>
                <a:latin typeface="Tahoma"/>
                <a:cs typeface="Tahoma"/>
              </a:rPr>
              <a:t>van</a:t>
            </a:r>
            <a:r>
              <a:rPr sz="2500" spc="-8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0" dirty="0">
                <a:solidFill>
                  <a:srgbClr val="006BCC"/>
                </a:solidFill>
                <a:latin typeface="Tahoma"/>
                <a:cs typeface="Tahoma"/>
              </a:rPr>
              <a:t>en </a:t>
            </a:r>
            <a:r>
              <a:rPr sz="2500" spc="229" dirty="0">
                <a:solidFill>
                  <a:srgbClr val="006BCC"/>
                </a:solidFill>
                <a:latin typeface="Tahoma"/>
                <a:cs typeface="Tahoma"/>
              </a:rPr>
              <a:t>detrimento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70" dirty="0">
                <a:solidFill>
                  <a:srgbClr val="006BCC"/>
                </a:solidFill>
                <a:latin typeface="Tahoma"/>
                <a:cs typeface="Tahoma"/>
              </a:rPr>
              <a:t>a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45" dirty="0">
                <a:solidFill>
                  <a:srgbClr val="006BCC"/>
                </a:solidFill>
                <a:latin typeface="Tahoma"/>
                <a:cs typeface="Tahoma"/>
              </a:rPr>
              <a:t>la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60" dirty="0">
                <a:solidFill>
                  <a:srgbClr val="006BCC"/>
                </a:solidFill>
                <a:latin typeface="Tahoma"/>
                <a:cs typeface="Tahoma"/>
              </a:rPr>
              <a:t>innovación.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0003" y="4343793"/>
            <a:ext cx="3547110" cy="10026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07975" marR="186055">
              <a:lnSpc>
                <a:spcPct val="105000"/>
              </a:lnSpc>
              <a:spcBef>
                <a:spcPts val="530"/>
              </a:spcBef>
            </a:pPr>
            <a:r>
              <a:rPr sz="2500" b="1" dirty="0">
                <a:solidFill>
                  <a:srgbClr val="FFFFFF"/>
                </a:solidFill>
                <a:latin typeface="Tahoma"/>
                <a:cs typeface="Tahoma"/>
              </a:rPr>
              <a:t>Inversión,</a:t>
            </a:r>
            <a:r>
              <a:rPr sz="25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70" dirty="0">
                <a:solidFill>
                  <a:srgbClr val="FFFFFF"/>
                </a:solidFill>
                <a:latin typeface="Tahoma"/>
                <a:cs typeface="Tahoma"/>
              </a:rPr>
              <a:t>proceso </a:t>
            </a:r>
            <a:r>
              <a:rPr sz="2500" b="1" spc="5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5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45" dirty="0">
                <a:solidFill>
                  <a:srgbClr val="FFFFFF"/>
                </a:solidFill>
                <a:latin typeface="Tahoma"/>
                <a:cs typeface="Tahoma"/>
              </a:rPr>
              <a:t>sistemas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99370" y="5602363"/>
            <a:ext cx="4390390" cy="27495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algn="ctr">
              <a:lnSpc>
                <a:spcPct val="102499"/>
              </a:lnSpc>
              <a:spcBef>
                <a:spcPts val="25"/>
              </a:spcBef>
            </a:pPr>
            <a:r>
              <a:rPr sz="2500" spc="185" dirty="0">
                <a:solidFill>
                  <a:srgbClr val="006BCC"/>
                </a:solidFill>
                <a:latin typeface="Tahoma"/>
                <a:cs typeface="Tahoma"/>
              </a:rPr>
              <a:t>Los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40" dirty="0">
                <a:solidFill>
                  <a:srgbClr val="006BCC"/>
                </a:solidFill>
                <a:latin typeface="Tahoma"/>
                <a:cs typeface="Tahoma"/>
              </a:rPr>
              <a:t>modelos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50" dirty="0">
                <a:solidFill>
                  <a:srgbClr val="006BCC"/>
                </a:solidFill>
                <a:latin typeface="Tahoma"/>
                <a:cs typeface="Tahoma"/>
              </a:rPr>
              <a:t>jerárquica-</a:t>
            </a:r>
            <a:r>
              <a:rPr sz="2500" spc="210" dirty="0">
                <a:solidFill>
                  <a:srgbClr val="006BCC"/>
                </a:solidFill>
                <a:latin typeface="Tahoma"/>
                <a:cs typeface="Tahoma"/>
              </a:rPr>
              <a:t>piramidal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65" dirty="0">
                <a:solidFill>
                  <a:srgbClr val="006BCC"/>
                </a:solidFill>
                <a:latin typeface="Tahoma"/>
                <a:cs typeface="Tahoma"/>
              </a:rPr>
              <a:t>es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54" dirty="0">
                <a:solidFill>
                  <a:srgbClr val="006BCC"/>
                </a:solidFill>
                <a:latin typeface="Tahoma"/>
                <a:cs typeface="Tahoma"/>
              </a:rPr>
              <a:t>un </a:t>
            </a:r>
            <a:r>
              <a:rPr sz="2500" spc="170" dirty="0">
                <a:solidFill>
                  <a:srgbClr val="006BCC"/>
                </a:solidFill>
                <a:latin typeface="Tahoma"/>
                <a:cs typeface="Tahoma"/>
              </a:rPr>
              <a:t>detractor/freno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54" dirty="0">
                <a:solidFill>
                  <a:srgbClr val="006BCC"/>
                </a:solidFill>
                <a:latin typeface="Tahoma"/>
                <a:cs typeface="Tahoma"/>
              </a:rPr>
              <a:t>de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20" dirty="0">
                <a:solidFill>
                  <a:srgbClr val="006BCC"/>
                </a:solidFill>
                <a:latin typeface="Tahoma"/>
                <a:cs typeface="Tahoma"/>
              </a:rPr>
              <a:t>la </a:t>
            </a:r>
            <a:r>
              <a:rPr sz="2500" spc="170" dirty="0">
                <a:solidFill>
                  <a:srgbClr val="006BCC"/>
                </a:solidFill>
                <a:latin typeface="Tahoma"/>
                <a:cs typeface="Tahoma"/>
              </a:rPr>
              <a:t>innovación.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95" dirty="0">
                <a:solidFill>
                  <a:srgbClr val="006BCC"/>
                </a:solidFill>
                <a:latin typeface="Tahoma"/>
                <a:cs typeface="Tahoma"/>
              </a:rPr>
              <a:t>La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04" dirty="0">
                <a:solidFill>
                  <a:srgbClr val="006BCC"/>
                </a:solidFill>
                <a:latin typeface="Tahoma"/>
                <a:cs typeface="Tahoma"/>
              </a:rPr>
              <a:t>evolución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20" dirty="0">
                <a:solidFill>
                  <a:srgbClr val="006BCC"/>
                </a:solidFill>
                <a:latin typeface="Tahoma"/>
                <a:cs typeface="Tahoma"/>
              </a:rPr>
              <a:t>a </a:t>
            </a:r>
            <a:r>
              <a:rPr sz="2500" spc="240" dirty="0">
                <a:solidFill>
                  <a:srgbClr val="006BCC"/>
                </a:solidFill>
                <a:latin typeface="Tahoma"/>
                <a:cs typeface="Tahoma"/>
              </a:rPr>
              <a:t>modelos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45" dirty="0">
                <a:solidFill>
                  <a:srgbClr val="006BCC"/>
                </a:solidFill>
                <a:latin typeface="Tahoma"/>
                <a:cs typeface="Tahoma"/>
              </a:rPr>
              <a:t>en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35" dirty="0">
                <a:solidFill>
                  <a:srgbClr val="006BCC"/>
                </a:solidFill>
                <a:latin typeface="Tahoma"/>
                <a:cs typeface="Tahoma"/>
              </a:rPr>
              <a:t>"Red"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15" dirty="0">
                <a:solidFill>
                  <a:srgbClr val="006BCC"/>
                </a:solidFill>
                <a:latin typeface="Tahoma"/>
                <a:cs typeface="Tahoma"/>
              </a:rPr>
              <a:t>operan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85" dirty="0">
                <a:solidFill>
                  <a:srgbClr val="006BCC"/>
                </a:solidFill>
                <a:latin typeface="Tahoma"/>
                <a:cs typeface="Tahoma"/>
              </a:rPr>
              <a:t>y </a:t>
            </a:r>
            <a:r>
              <a:rPr sz="2500" spc="165" dirty="0">
                <a:solidFill>
                  <a:srgbClr val="006BCC"/>
                </a:solidFill>
                <a:latin typeface="Tahoma"/>
                <a:cs typeface="Tahoma"/>
              </a:rPr>
              <a:t>se</a:t>
            </a:r>
            <a:r>
              <a:rPr sz="2500" spc="-11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5" dirty="0">
                <a:solidFill>
                  <a:srgbClr val="006BCC"/>
                </a:solidFill>
                <a:latin typeface="Tahoma"/>
                <a:cs typeface="Tahoma"/>
              </a:rPr>
              <a:t>adaptan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70" dirty="0">
                <a:solidFill>
                  <a:srgbClr val="006BCC"/>
                </a:solidFill>
                <a:latin typeface="Tahoma"/>
                <a:cs typeface="Tahoma"/>
              </a:rPr>
              <a:t>a</a:t>
            </a:r>
            <a:r>
              <a:rPr sz="2500" spc="-11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40" dirty="0">
                <a:solidFill>
                  <a:srgbClr val="006BCC"/>
                </a:solidFill>
                <a:latin typeface="Tahoma"/>
                <a:cs typeface="Tahoma"/>
              </a:rPr>
              <a:t>las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0" dirty="0">
                <a:solidFill>
                  <a:srgbClr val="006BCC"/>
                </a:solidFill>
                <a:latin typeface="Tahoma"/>
                <a:cs typeface="Tahoma"/>
              </a:rPr>
              <a:t>dinámicas </a:t>
            </a:r>
            <a:r>
              <a:rPr sz="2500" spc="175" dirty="0">
                <a:solidFill>
                  <a:srgbClr val="006BCC"/>
                </a:solidFill>
                <a:latin typeface="Tahoma"/>
                <a:cs typeface="Tahoma"/>
              </a:rPr>
              <a:t>necesarias</a:t>
            </a:r>
            <a:r>
              <a:rPr sz="2500" spc="-8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85" dirty="0">
                <a:solidFill>
                  <a:srgbClr val="006BCC"/>
                </a:solidFill>
                <a:latin typeface="Tahoma"/>
                <a:cs typeface="Tahoma"/>
              </a:rPr>
              <a:t>para</a:t>
            </a:r>
            <a:r>
              <a:rPr sz="2500" spc="-8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30" dirty="0">
                <a:solidFill>
                  <a:srgbClr val="006BCC"/>
                </a:solidFill>
                <a:latin typeface="Tahoma"/>
                <a:cs typeface="Tahoma"/>
              </a:rPr>
              <a:t>innovar.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82141" y="4343793"/>
            <a:ext cx="3345815" cy="10026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25120" marR="503555">
              <a:lnSpc>
                <a:spcPct val="105000"/>
              </a:lnSpc>
              <a:spcBef>
                <a:spcPts val="530"/>
              </a:spcBef>
            </a:pPr>
            <a:r>
              <a:rPr sz="2500" b="1" spc="50" dirty="0">
                <a:solidFill>
                  <a:srgbClr val="FFFFFF"/>
                </a:solidFill>
                <a:latin typeface="Tahoma"/>
                <a:cs typeface="Tahoma"/>
              </a:rPr>
              <a:t>Estructura Organizacional</a:t>
            </a:r>
            <a:endParaRPr sz="25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19645" y="393514"/>
            <a:ext cx="271589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95" dirty="0">
                <a:solidFill>
                  <a:srgbClr val="006BCC"/>
                </a:solidFill>
                <a:latin typeface="Trebuchet MS"/>
                <a:cs typeface="Trebuchet MS"/>
              </a:rPr>
              <a:t>Gestión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309" y="4440355"/>
            <a:ext cx="407554" cy="4075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869" y="4343793"/>
            <a:ext cx="3345793" cy="10022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25354" y="4440355"/>
            <a:ext cx="407554" cy="4075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03" y="4343793"/>
            <a:ext cx="3546555" cy="10022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22580" y="4440355"/>
            <a:ext cx="407553" cy="4075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182141" y="4343793"/>
            <a:ext cx="3345793" cy="10022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10761" y="5602363"/>
            <a:ext cx="4704080" cy="235902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algn="ctr">
              <a:lnSpc>
                <a:spcPct val="102499"/>
              </a:lnSpc>
              <a:spcBef>
                <a:spcPts val="25"/>
              </a:spcBef>
            </a:pPr>
            <a:r>
              <a:rPr sz="2500" spc="185" dirty="0">
                <a:solidFill>
                  <a:srgbClr val="006BCC"/>
                </a:solidFill>
                <a:latin typeface="Tahoma"/>
                <a:cs typeface="Tahoma"/>
              </a:rPr>
              <a:t>Los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55" dirty="0">
                <a:solidFill>
                  <a:srgbClr val="006BCC"/>
                </a:solidFill>
                <a:latin typeface="Tahoma"/>
                <a:cs typeface="Tahoma"/>
              </a:rPr>
              <a:t>estilos</a:t>
            </a:r>
            <a:r>
              <a:rPr sz="2500" spc="-8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85" dirty="0">
                <a:solidFill>
                  <a:srgbClr val="006BCC"/>
                </a:solidFill>
                <a:latin typeface="Tahoma"/>
                <a:cs typeface="Tahoma"/>
              </a:rPr>
              <a:t>rígidos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85" dirty="0">
                <a:solidFill>
                  <a:srgbClr val="006BCC"/>
                </a:solidFill>
                <a:latin typeface="Tahoma"/>
                <a:cs typeface="Tahoma"/>
              </a:rPr>
              <a:t>son </a:t>
            </a:r>
            <a:r>
              <a:rPr sz="2500" spc="215" dirty="0">
                <a:solidFill>
                  <a:srgbClr val="006BCC"/>
                </a:solidFill>
                <a:latin typeface="Tahoma"/>
                <a:cs typeface="Tahoma"/>
              </a:rPr>
              <a:t>reemplazados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10" dirty="0">
                <a:solidFill>
                  <a:srgbClr val="006BCC"/>
                </a:solidFill>
                <a:latin typeface="Tahoma"/>
                <a:cs typeface="Tahoma"/>
              </a:rPr>
              <a:t>por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55" dirty="0">
                <a:solidFill>
                  <a:srgbClr val="006BCC"/>
                </a:solidFill>
                <a:latin typeface="Tahoma"/>
                <a:cs typeface="Tahoma"/>
              </a:rPr>
              <a:t>los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10" dirty="0">
                <a:solidFill>
                  <a:srgbClr val="006BCC"/>
                </a:solidFill>
                <a:latin typeface="Tahoma"/>
                <a:cs typeface="Tahoma"/>
              </a:rPr>
              <a:t>líderes, </a:t>
            </a:r>
            <a:r>
              <a:rPr sz="2500" spc="260" dirty="0">
                <a:solidFill>
                  <a:srgbClr val="006BCC"/>
                </a:solidFill>
                <a:latin typeface="Tahoma"/>
                <a:cs typeface="Tahoma"/>
              </a:rPr>
              <a:t>que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10" dirty="0">
                <a:solidFill>
                  <a:srgbClr val="006BCC"/>
                </a:solidFill>
                <a:latin typeface="Tahoma"/>
                <a:cs typeface="Tahoma"/>
              </a:rPr>
              <a:t>poseen </a:t>
            </a:r>
            <a:r>
              <a:rPr sz="2500" spc="240" dirty="0">
                <a:solidFill>
                  <a:srgbClr val="006BCC"/>
                </a:solidFill>
                <a:latin typeface="Tahoma"/>
                <a:cs typeface="Tahoma"/>
              </a:rPr>
              <a:t>comportamientos</a:t>
            </a:r>
            <a:r>
              <a:rPr sz="2500" spc="-6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9" dirty="0">
                <a:solidFill>
                  <a:srgbClr val="006BCC"/>
                </a:solidFill>
                <a:latin typeface="Tahoma"/>
                <a:cs typeface="Tahoma"/>
              </a:rPr>
              <a:t>de </a:t>
            </a:r>
            <a:r>
              <a:rPr sz="2500" spc="130" dirty="0">
                <a:solidFill>
                  <a:srgbClr val="006BCC"/>
                </a:solidFill>
                <a:latin typeface="Tahoma"/>
                <a:cs typeface="Tahoma"/>
              </a:rPr>
              <a:t>afiliación,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80" dirty="0">
                <a:solidFill>
                  <a:srgbClr val="006BCC"/>
                </a:solidFill>
                <a:latin typeface="Tahoma"/>
                <a:cs typeface="Tahoma"/>
              </a:rPr>
              <a:t>colaborativos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85" dirty="0">
                <a:solidFill>
                  <a:srgbClr val="006BCC"/>
                </a:solidFill>
                <a:latin typeface="Tahoma"/>
                <a:cs typeface="Tahoma"/>
              </a:rPr>
              <a:t>y </a:t>
            </a:r>
            <a:r>
              <a:rPr sz="2500" spc="114" dirty="0">
                <a:solidFill>
                  <a:srgbClr val="006BCC"/>
                </a:solidFill>
                <a:latin typeface="Tahoma"/>
                <a:cs typeface="Tahoma"/>
              </a:rPr>
              <a:t>visionarios.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7869" y="4343793"/>
            <a:ext cx="3345815" cy="10026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38125" marR="1383665">
              <a:lnSpc>
                <a:spcPct val="105000"/>
              </a:lnSpc>
              <a:spcBef>
                <a:spcPts val="530"/>
              </a:spcBef>
            </a:pPr>
            <a:r>
              <a:rPr sz="2500" b="1" spc="45" dirty="0">
                <a:solidFill>
                  <a:srgbClr val="FFFFFF"/>
                </a:solidFill>
                <a:latin typeface="Tahoma"/>
                <a:cs typeface="Tahoma"/>
              </a:rPr>
              <a:t>Estilos</a:t>
            </a:r>
            <a:r>
              <a:rPr sz="25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85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2500" b="1" spc="40" dirty="0">
                <a:solidFill>
                  <a:srgbClr val="FFFFFF"/>
                </a:solidFill>
                <a:latin typeface="Tahoma"/>
                <a:cs typeface="Tahoma"/>
              </a:rPr>
              <a:t>liderazgos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805863" y="929538"/>
            <a:ext cx="15304444" cy="22967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58595">
              <a:lnSpc>
                <a:spcPts val="8875"/>
              </a:lnSpc>
              <a:spcBef>
                <a:spcPts val="110"/>
              </a:spcBef>
            </a:pPr>
            <a:r>
              <a:rPr sz="8000" spc="204" dirty="0"/>
              <a:t>Gestión</a:t>
            </a:r>
            <a:r>
              <a:rPr sz="8000" spc="-905" dirty="0"/>
              <a:t> </a:t>
            </a:r>
            <a:r>
              <a:rPr sz="8000" spc="335" dirty="0"/>
              <a:t>de</a:t>
            </a:r>
            <a:r>
              <a:rPr sz="8000" spc="-180" dirty="0"/>
              <a:t> </a:t>
            </a:r>
            <a:r>
              <a:rPr sz="8000" dirty="0"/>
              <a:t>la</a:t>
            </a:r>
            <a:r>
              <a:rPr sz="8000" spc="-160" dirty="0"/>
              <a:t> </a:t>
            </a:r>
            <a:r>
              <a:rPr sz="8000" spc="165" dirty="0"/>
              <a:t>innovación</a:t>
            </a:r>
          </a:p>
          <a:p>
            <a:pPr marL="5998845">
              <a:lnSpc>
                <a:spcPts val="8875"/>
              </a:lnSpc>
            </a:pPr>
            <a:r>
              <a:rPr sz="8000" spc="-305" dirty="0"/>
              <a:t>2.0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68613" y="5602363"/>
            <a:ext cx="4642485" cy="235902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algn="ctr">
              <a:lnSpc>
                <a:spcPct val="102499"/>
              </a:lnSpc>
              <a:spcBef>
                <a:spcPts val="25"/>
              </a:spcBef>
            </a:pPr>
            <a:r>
              <a:rPr sz="2500" spc="185" dirty="0">
                <a:solidFill>
                  <a:srgbClr val="006BCC"/>
                </a:solidFill>
                <a:latin typeface="Tahoma"/>
                <a:cs typeface="Tahoma"/>
              </a:rPr>
              <a:t>Está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9" dirty="0">
                <a:solidFill>
                  <a:srgbClr val="006BCC"/>
                </a:solidFill>
                <a:latin typeface="Tahoma"/>
                <a:cs typeface="Tahoma"/>
              </a:rPr>
              <a:t>bien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10" dirty="0">
                <a:solidFill>
                  <a:srgbClr val="006BCC"/>
                </a:solidFill>
                <a:latin typeface="Tahoma"/>
                <a:cs typeface="Tahoma"/>
              </a:rPr>
              <a:t>fracasar.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85" dirty="0">
                <a:solidFill>
                  <a:srgbClr val="006BCC"/>
                </a:solidFill>
                <a:latin typeface="Tahoma"/>
                <a:cs typeface="Tahoma"/>
              </a:rPr>
              <a:t>No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70" dirty="0">
                <a:solidFill>
                  <a:srgbClr val="006BCC"/>
                </a:solidFill>
                <a:latin typeface="Tahoma"/>
                <a:cs typeface="Tahoma"/>
              </a:rPr>
              <a:t>hay </a:t>
            </a:r>
            <a:r>
              <a:rPr sz="2500" spc="195" dirty="0">
                <a:solidFill>
                  <a:srgbClr val="006BCC"/>
                </a:solidFill>
                <a:latin typeface="Tahoma"/>
                <a:cs typeface="Tahoma"/>
              </a:rPr>
              <a:t>posibilidad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54" dirty="0">
                <a:solidFill>
                  <a:srgbClr val="006BCC"/>
                </a:solidFill>
                <a:latin typeface="Tahoma"/>
                <a:cs typeface="Tahoma"/>
              </a:rPr>
              <a:t>de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75" dirty="0">
                <a:solidFill>
                  <a:srgbClr val="006BCC"/>
                </a:solidFill>
                <a:latin typeface="Tahoma"/>
                <a:cs typeface="Tahoma"/>
              </a:rPr>
              <a:t>lograr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75" dirty="0">
                <a:solidFill>
                  <a:srgbClr val="006BCC"/>
                </a:solidFill>
                <a:latin typeface="Tahoma"/>
                <a:cs typeface="Tahoma"/>
              </a:rPr>
              <a:t>innovar </a:t>
            </a:r>
            <a:r>
              <a:rPr sz="2500" spc="120" dirty="0">
                <a:solidFill>
                  <a:srgbClr val="006BCC"/>
                </a:solidFill>
                <a:latin typeface="Tahoma"/>
                <a:cs typeface="Tahoma"/>
              </a:rPr>
              <a:t>si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50" dirty="0">
                <a:solidFill>
                  <a:srgbClr val="006BCC"/>
                </a:solidFill>
                <a:latin typeface="Tahoma"/>
                <a:cs typeface="Tahoma"/>
              </a:rPr>
              <a:t>no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65" dirty="0">
                <a:solidFill>
                  <a:srgbClr val="006BCC"/>
                </a:solidFill>
                <a:latin typeface="Tahoma"/>
                <a:cs typeface="Tahoma"/>
              </a:rPr>
              <a:t>se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10" dirty="0">
                <a:solidFill>
                  <a:srgbClr val="006BCC"/>
                </a:solidFill>
                <a:latin typeface="Tahoma"/>
                <a:cs typeface="Tahoma"/>
              </a:rPr>
              <a:t>posee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5" dirty="0">
                <a:solidFill>
                  <a:srgbClr val="006BCC"/>
                </a:solidFill>
                <a:latin typeface="Tahoma"/>
                <a:cs typeface="Tahoma"/>
              </a:rPr>
              <a:t>capacidad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9" dirty="0">
                <a:solidFill>
                  <a:srgbClr val="006BCC"/>
                </a:solidFill>
                <a:latin typeface="Tahoma"/>
                <a:cs typeface="Tahoma"/>
              </a:rPr>
              <a:t>de </a:t>
            </a:r>
            <a:r>
              <a:rPr sz="2500" spc="200" dirty="0">
                <a:solidFill>
                  <a:srgbClr val="006BCC"/>
                </a:solidFill>
                <a:latin typeface="Tahoma"/>
                <a:cs typeface="Tahoma"/>
              </a:rPr>
              <a:t>aceptar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55" dirty="0">
                <a:solidFill>
                  <a:srgbClr val="006BCC"/>
                </a:solidFill>
                <a:latin typeface="Tahoma"/>
                <a:cs typeface="Tahoma"/>
              </a:rPr>
              <a:t>los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55" dirty="0">
                <a:solidFill>
                  <a:srgbClr val="006BCC"/>
                </a:solidFill>
                <a:latin typeface="Tahoma"/>
                <a:cs typeface="Tahoma"/>
              </a:rPr>
              <a:t>fracasos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85" dirty="0">
                <a:solidFill>
                  <a:srgbClr val="006BCC"/>
                </a:solidFill>
                <a:latin typeface="Tahoma"/>
                <a:cs typeface="Tahoma"/>
              </a:rPr>
              <a:t>y </a:t>
            </a:r>
            <a:r>
              <a:rPr sz="2500" spc="190" dirty="0">
                <a:solidFill>
                  <a:srgbClr val="006BCC"/>
                </a:solidFill>
                <a:latin typeface="Tahoma"/>
                <a:cs typeface="Tahoma"/>
              </a:rPr>
              <a:t>mejorar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90" dirty="0">
                <a:solidFill>
                  <a:srgbClr val="006BCC"/>
                </a:solidFill>
                <a:latin typeface="Tahoma"/>
                <a:cs typeface="Tahoma"/>
              </a:rPr>
              <a:t>sobre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95" dirty="0">
                <a:solidFill>
                  <a:srgbClr val="006BCC"/>
                </a:solidFill>
                <a:latin typeface="Tahoma"/>
                <a:cs typeface="Tahoma"/>
              </a:rPr>
              <a:t>ellos.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00" dirty="0">
                <a:solidFill>
                  <a:srgbClr val="006BCC"/>
                </a:solidFill>
                <a:latin typeface="Tahoma"/>
                <a:cs typeface="Tahoma"/>
              </a:rPr>
              <a:t>Iterar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85" dirty="0">
                <a:solidFill>
                  <a:srgbClr val="006BCC"/>
                </a:solidFill>
                <a:latin typeface="Tahoma"/>
                <a:cs typeface="Tahoma"/>
              </a:rPr>
              <a:t>y </a:t>
            </a:r>
            <a:r>
              <a:rPr sz="2500" spc="140" dirty="0">
                <a:solidFill>
                  <a:srgbClr val="006BCC"/>
                </a:solidFill>
                <a:latin typeface="Tahoma"/>
                <a:cs typeface="Tahoma"/>
              </a:rPr>
              <a:t>Resilencia.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0003" y="4343793"/>
            <a:ext cx="3547110" cy="10026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680"/>
              </a:spcBef>
            </a:pPr>
            <a:r>
              <a:rPr sz="2500" b="1" spc="50" dirty="0">
                <a:solidFill>
                  <a:srgbClr val="FFFFFF"/>
                </a:solidFill>
                <a:latin typeface="Tahoma"/>
                <a:cs typeface="Tahoma"/>
              </a:rPr>
              <a:t>Fracaso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79278" y="5602363"/>
            <a:ext cx="4431030" cy="27495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algn="ctr">
              <a:lnSpc>
                <a:spcPct val="102499"/>
              </a:lnSpc>
              <a:spcBef>
                <a:spcPts val="25"/>
              </a:spcBef>
            </a:pPr>
            <a:r>
              <a:rPr sz="2500" spc="185" dirty="0">
                <a:solidFill>
                  <a:srgbClr val="006BCC"/>
                </a:solidFill>
                <a:latin typeface="Tahoma"/>
                <a:cs typeface="Tahoma"/>
              </a:rPr>
              <a:t>Los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0" dirty="0">
                <a:solidFill>
                  <a:srgbClr val="006BCC"/>
                </a:solidFill>
                <a:latin typeface="Tahoma"/>
                <a:cs typeface="Tahoma"/>
              </a:rPr>
              <a:t>equipos</a:t>
            </a:r>
            <a:r>
              <a:rPr sz="2500" spc="-10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10" dirty="0">
                <a:solidFill>
                  <a:srgbClr val="006BCC"/>
                </a:solidFill>
                <a:latin typeface="Tahoma"/>
                <a:cs typeface="Tahoma"/>
              </a:rPr>
              <a:t>poseen </a:t>
            </a:r>
            <a:r>
              <a:rPr sz="2500" spc="160" dirty="0">
                <a:solidFill>
                  <a:srgbClr val="006BCC"/>
                </a:solidFill>
                <a:latin typeface="Tahoma"/>
                <a:cs typeface="Tahoma"/>
              </a:rPr>
              <a:t>características </a:t>
            </a:r>
            <a:r>
              <a:rPr sz="2500" spc="150" dirty="0">
                <a:solidFill>
                  <a:srgbClr val="006BCC"/>
                </a:solidFill>
                <a:latin typeface="Tahoma"/>
                <a:cs typeface="Tahoma"/>
              </a:rPr>
              <a:t>interdisiplinaria.</a:t>
            </a:r>
            <a:r>
              <a:rPr sz="2500" spc="-7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85" dirty="0">
                <a:solidFill>
                  <a:srgbClr val="006BCC"/>
                </a:solidFill>
                <a:latin typeface="Tahoma"/>
                <a:cs typeface="Tahoma"/>
              </a:rPr>
              <a:t>No</a:t>
            </a:r>
            <a:r>
              <a:rPr sz="2500" spc="-6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40" dirty="0">
                <a:solidFill>
                  <a:srgbClr val="006BCC"/>
                </a:solidFill>
                <a:latin typeface="Tahoma"/>
                <a:cs typeface="Tahoma"/>
              </a:rPr>
              <a:t>es </a:t>
            </a:r>
            <a:r>
              <a:rPr sz="2500" spc="145" dirty="0">
                <a:solidFill>
                  <a:srgbClr val="006BCC"/>
                </a:solidFill>
                <a:latin typeface="Tahoma"/>
                <a:cs typeface="Tahoma"/>
              </a:rPr>
              <a:t>realizar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04" dirty="0">
                <a:solidFill>
                  <a:srgbClr val="006BCC"/>
                </a:solidFill>
                <a:latin typeface="Tahoma"/>
                <a:cs typeface="Tahoma"/>
              </a:rPr>
              <a:t>algo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54" dirty="0">
                <a:solidFill>
                  <a:srgbClr val="006BCC"/>
                </a:solidFill>
                <a:latin typeface="Tahoma"/>
                <a:cs typeface="Tahoma"/>
              </a:rPr>
              <a:t>con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35" dirty="0">
                <a:solidFill>
                  <a:srgbClr val="006BCC"/>
                </a:solidFill>
                <a:latin typeface="Tahoma"/>
                <a:cs typeface="Tahoma"/>
              </a:rPr>
              <a:t>varios </a:t>
            </a:r>
            <a:r>
              <a:rPr sz="2500" spc="180" dirty="0">
                <a:solidFill>
                  <a:srgbClr val="006BCC"/>
                </a:solidFill>
                <a:latin typeface="Tahoma"/>
                <a:cs typeface="Tahoma"/>
              </a:rPr>
              <a:t>sectores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65" dirty="0">
                <a:solidFill>
                  <a:srgbClr val="006BCC"/>
                </a:solidFill>
                <a:latin typeface="Tahoma"/>
                <a:cs typeface="Tahoma"/>
              </a:rPr>
              <a:t>es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45" dirty="0">
                <a:solidFill>
                  <a:srgbClr val="006BCC"/>
                </a:solidFill>
                <a:latin typeface="Tahoma"/>
                <a:cs typeface="Tahoma"/>
              </a:rPr>
              <a:t>la</a:t>
            </a:r>
            <a:r>
              <a:rPr sz="2500" spc="-9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5" dirty="0">
                <a:solidFill>
                  <a:srgbClr val="006BCC"/>
                </a:solidFill>
                <a:latin typeface="Tahoma"/>
                <a:cs typeface="Tahoma"/>
              </a:rPr>
              <a:t>capacidad</a:t>
            </a:r>
            <a:r>
              <a:rPr sz="2500" spc="-9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29" dirty="0">
                <a:solidFill>
                  <a:srgbClr val="006BCC"/>
                </a:solidFill>
                <a:latin typeface="Tahoma"/>
                <a:cs typeface="Tahoma"/>
              </a:rPr>
              <a:t>de </a:t>
            </a:r>
            <a:r>
              <a:rPr sz="2500" spc="280" dirty="0">
                <a:solidFill>
                  <a:srgbClr val="006BCC"/>
                </a:solidFill>
                <a:latin typeface="Tahoma"/>
                <a:cs typeface="Tahoma"/>
              </a:rPr>
              <a:t>un</a:t>
            </a:r>
            <a:r>
              <a:rPr sz="2500" spc="-11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10" dirty="0">
                <a:solidFill>
                  <a:srgbClr val="006BCC"/>
                </a:solidFill>
                <a:latin typeface="Tahoma"/>
                <a:cs typeface="Tahoma"/>
              </a:rPr>
              <a:t>diseño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35" dirty="0">
                <a:solidFill>
                  <a:srgbClr val="006BCC"/>
                </a:solidFill>
                <a:latin typeface="Tahoma"/>
                <a:cs typeface="Tahoma"/>
              </a:rPr>
              <a:t>y</a:t>
            </a:r>
            <a:r>
              <a:rPr sz="2500" spc="-105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155" dirty="0">
                <a:solidFill>
                  <a:srgbClr val="006BCC"/>
                </a:solidFill>
                <a:latin typeface="Tahoma"/>
                <a:cs typeface="Tahoma"/>
              </a:rPr>
              <a:t>trabajo </a:t>
            </a:r>
            <a:r>
              <a:rPr sz="2500" spc="185" dirty="0">
                <a:solidFill>
                  <a:srgbClr val="006BCC"/>
                </a:solidFill>
                <a:latin typeface="Tahoma"/>
                <a:cs typeface="Tahoma"/>
              </a:rPr>
              <a:t>colaborativo</a:t>
            </a:r>
            <a:r>
              <a:rPr sz="2500" spc="-11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200" dirty="0">
                <a:solidFill>
                  <a:srgbClr val="006BCC"/>
                </a:solidFill>
                <a:latin typeface="Tahoma"/>
                <a:cs typeface="Tahoma"/>
              </a:rPr>
              <a:t>entre</a:t>
            </a:r>
            <a:r>
              <a:rPr sz="2500" spc="-110" dirty="0">
                <a:solidFill>
                  <a:srgbClr val="006BCC"/>
                </a:solidFill>
                <a:latin typeface="Tahoma"/>
                <a:cs typeface="Tahoma"/>
              </a:rPr>
              <a:t> </a:t>
            </a:r>
            <a:r>
              <a:rPr sz="2500" spc="85" dirty="0">
                <a:solidFill>
                  <a:srgbClr val="006BCC"/>
                </a:solidFill>
                <a:latin typeface="Tahoma"/>
                <a:cs typeface="Tahoma"/>
              </a:rPr>
              <a:t>ellos.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82141" y="4343793"/>
            <a:ext cx="3345815" cy="10026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25120" marR="1252855">
              <a:lnSpc>
                <a:spcPct val="105000"/>
              </a:lnSpc>
              <a:spcBef>
                <a:spcPts val="530"/>
              </a:spcBef>
            </a:pPr>
            <a:r>
              <a:rPr sz="2500" b="1" dirty="0">
                <a:solidFill>
                  <a:srgbClr val="FFFFFF"/>
                </a:solidFill>
                <a:latin typeface="Tahoma"/>
                <a:cs typeface="Tahoma"/>
              </a:rPr>
              <a:t>Trabajo</a:t>
            </a:r>
            <a:r>
              <a:rPr sz="2500" b="1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b="1" spc="80" dirty="0">
                <a:solidFill>
                  <a:srgbClr val="FFFFFF"/>
                </a:solidFill>
                <a:latin typeface="Tahoma"/>
                <a:cs typeface="Tahoma"/>
              </a:rPr>
              <a:t>en </a:t>
            </a:r>
            <a:r>
              <a:rPr sz="2500" b="1" spc="90" dirty="0">
                <a:solidFill>
                  <a:srgbClr val="FFFFFF"/>
                </a:solidFill>
                <a:latin typeface="Tahoma"/>
                <a:cs typeface="Tahoma"/>
              </a:rPr>
              <a:t>Equipo</a:t>
            </a:r>
            <a:endParaRPr sz="25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19645" y="393514"/>
            <a:ext cx="271589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95" dirty="0">
                <a:solidFill>
                  <a:srgbClr val="006BCC"/>
                </a:solidFill>
                <a:latin typeface="Trebuchet MS"/>
                <a:cs typeface="Trebuchet MS"/>
              </a:rPr>
              <a:t>Gestión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30" dirty="0">
                <a:solidFill>
                  <a:srgbClr val="006BCC"/>
                </a:solidFill>
                <a:latin typeface="Trebuchet MS"/>
                <a:cs typeface="Trebuchet MS"/>
              </a:rPr>
              <a:t>de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07506" y="5301095"/>
            <a:ext cx="5380492" cy="49859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891" y="2149042"/>
            <a:ext cx="4785953" cy="4775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91230" y="3224007"/>
            <a:ext cx="2229683" cy="22296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05640" y="2801450"/>
            <a:ext cx="5543549" cy="627697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772400" y="4338848"/>
            <a:ext cx="6506616" cy="1142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8825"/>
              </a:lnSpc>
              <a:spcBef>
                <a:spcPts val="110"/>
              </a:spcBef>
            </a:pPr>
            <a:r>
              <a:rPr spc="204" dirty="0" err="1"/>
              <a:t>Crea</a:t>
            </a:r>
            <a:r>
              <a:rPr spc="100" dirty="0" err="1"/>
              <a:t>tividad</a:t>
            </a:r>
            <a:endParaRPr spc="10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110" dirty="0"/>
              <a:t>Tecnología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05" dirty="0"/>
              <a:t> </a:t>
            </a:r>
            <a:r>
              <a:rPr spc="110" dirty="0"/>
              <a:t>Innovación</a:t>
            </a: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19645" y="393514"/>
            <a:ext cx="145669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00" dirty="0">
                <a:solidFill>
                  <a:srgbClr val="006BCC"/>
                </a:solidFill>
                <a:latin typeface="Trebuchet MS"/>
                <a:cs typeface="Trebuchet MS"/>
              </a:rPr>
              <a:t>Creatividad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799"/>
            <a:ext cx="4750175" cy="82295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645542" y="2127224"/>
            <a:ext cx="10121900" cy="7706995"/>
            <a:chOff x="7645542" y="2127224"/>
            <a:chExt cx="10121900" cy="770699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2643" y="2613345"/>
              <a:ext cx="8836288" cy="65616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22643" y="2613343"/>
              <a:ext cx="8836660" cy="6562090"/>
            </a:xfrm>
            <a:custGeom>
              <a:avLst/>
              <a:gdLst/>
              <a:ahLst/>
              <a:cxnLst/>
              <a:rect l="l" t="t" r="r" b="b"/>
              <a:pathLst>
                <a:path w="8836660" h="6562090">
                  <a:moveTo>
                    <a:pt x="219086" y="1"/>
                  </a:moveTo>
                  <a:lnTo>
                    <a:pt x="8617136" y="1"/>
                  </a:lnTo>
                  <a:lnTo>
                    <a:pt x="8660081" y="4227"/>
                  </a:lnTo>
                  <a:lnTo>
                    <a:pt x="8700988" y="16644"/>
                  </a:lnTo>
                  <a:lnTo>
                    <a:pt x="8738709" y="36769"/>
                  </a:lnTo>
                  <a:lnTo>
                    <a:pt x="8772090" y="64127"/>
                  </a:lnTo>
                  <a:lnTo>
                    <a:pt x="8799462" y="97499"/>
                  </a:lnTo>
                  <a:lnTo>
                    <a:pt x="8819604" y="135216"/>
                  </a:lnTo>
                  <a:lnTo>
                    <a:pt x="8832038" y="176127"/>
                  </a:lnTo>
                  <a:lnTo>
                    <a:pt x="8836288" y="219073"/>
                  </a:lnTo>
                  <a:lnTo>
                    <a:pt x="8836294" y="6342471"/>
                  </a:lnTo>
                  <a:lnTo>
                    <a:pt x="8832052" y="6385429"/>
                  </a:lnTo>
                  <a:lnTo>
                    <a:pt x="8819622" y="6426346"/>
                  </a:lnTo>
                  <a:lnTo>
                    <a:pt x="8799482" y="6464070"/>
                  </a:lnTo>
                  <a:lnTo>
                    <a:pt x="8772109" y="6497450"/>
                  </a:lnTo>
                  <a:lnTo>
                    <a:pt x="8738724" y="6524815"/>
                  </a:lnTo>
                  <a:lnTo>
                    <a:pt x="8700997" y="6544945"/>
                  </a:lnTo>
                  <a:lnTo>
                    <a:pt x="8660082" y="6557364"/>
                  </a:lnTo>
                  <a:lnTo>
                    <a:pt x="8617136" y="6561605"/>
                  </a:lnTo>
                  <a:lnTo>
                    <a:pt x="219079" y="6561606"/>
                  </a:lnTo>
                  <a:lnTo>
                    <a:pt x="176127" y="6557354"/>
                  </a:lnTo>
                  <a:lnTo>
                    <a:pt x="135219" y="6544919"/>
                  </a:lnTo>
                  <a:lnTo>
                    <a:pt x="97505" y="6524777"/>
                  </a:lnTo>
                  <a:lnTo>
                    <a:pt x="64137" y="6497405"/>
                  </a:lnTo>
                  <a:lnTo>
                    <a:pt x="36781" y="6464025"/>
                  </a:lnTo>
                  <a:lnTo>
                    <a:pt x="16658" y="6426308"/>
                  </a:lnTo>
                  <a:lnTo>
                    <a:pt x="4241" y="6385403"/>
                  </a:lnTo>
                  <a:lnTo>
                    <a:pt x="0" y="6342462"/>
                  </a:lnTo>
                  <a:lnTo>
                    <a:pt x="0" y="219072"/>
                  </a:lnTo>
                  <a:lnTo>
                    <a:pt x="4250" y="176131"/>
                  </a:lnTo>
                  <a:lnTo>
                    <a:pt x="16679" y="135232"/>
                  </a:lnTo>
                  <a:lnTo>
                    <a:pt x="36813" y="97525"/>
                  </a:lnTo>
                  <a:lnTo>
                    <a:pt x="64174" y="64159"/>
                  </a:lnTo>
                  <a:lnTo>
                    <a:pt x="97542" y="36802"/>
                  </a:lnTo>
                  <a:lnTo>
                    <a:pt x="135250" y="16673"/>
                  </a:lnTo>
                  <a:lnTo>
                    <a:pt x="176148" y="4248"/>
                  </a:lnTo>
                  <a:lnTo>
                    <a:pt x="219086" y="0"/>
                  </a:lnTo>
                </a:path>
              </a:pathLst>
            </a:custGeom>
            <a:ln w="152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5542" y="2127224"/>
              <a:ext cx="1453196" cy="14531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48905" y="8515890"/>
              <a:ext cx="1318118" cy="131811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95400" y="4000500"/>
            <a:ext cx="5815965" cy="173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40"/>
              </a:lnSpc>
              <a:spcBef>
                <a:spcPts val="100"/>
              </a:spcBef>
            </a:pPr>
            <a:r>
              <a:rPr sz="3500" b="1" spc="100" dirty="0">
                <a:solidFill>
                  <a:srgbClr val="3D66C7"/>
                </a:solidFill>
                <a:latin typeface="Tahoma"/>
                <a:cs typeface="Tahoma"/>
              </a:rPr>
              <a:t>Capacidad</a:t>
            </a:r>
            <a:r>
              <a:rPr sz="3500" b="1" spc="-4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500" b="1" spc="135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3500" b="1" spc="-4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500" b="1" spc="50" dirty="0">
                <a:solidFill>
                  <a:srgbClr val="3D66C7"/>
                </a:solidFill>
                <a:latin typeface="Tahoma"/>
                <a:cs typeface="Tahoma"/>
              </a:rPr>
              <a:t>generar</a:t>
            </a:r>
            <a:endParaRPr sz="3500" dirty="0">
              <a:latin typeface="Tahoma"/>
              <a:cs typeface="Tahoma"/>
            </a:endParaRPr>
          </a:p>
          <a:p>
            <a:pPr marL="12700">
              <a:lnSpc>
                <a:spcPts val="3075"/>
              </a:lnSpc>
            </a:pPr>
            <a:r>
              <a:rPr sz="3500" b="1" spc="55" dirty="0">
                <a:solidFill>
                  <a:srgbClr val="3D66C7"/>
                </a:solidFill>
                <a:latin typeface="Tahoma"/>
                <a:cs typeface="Tahoma"/>
              </a:rPr>
              <a:t>nuevas</a:t>
            </a:r>
            <a:r>
              <a:rPr sz="3500" b="1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500" b="1" dirty="0">
                <a:solidFill>
                  <a:srgbClr val="3D66C7"/>
                </a:solidFill>
                <a:latin typeface="Tahoma"/>
                <a:cs typeface="Tahoma"/>
              </a:rPr>
              <a:t>ideas,</a:t>
            </a:r>
            <a:r>
              <a:rPr sz="3500" b="1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500" b="1" spc="90" dirty="0">
                <a:solidFill>
                  <a:srgbClr val="3D66C7"/>
                </a:solidFill>
                <a:latin typeface="Tahoma"/>
                <a:cs typeface="Tahoma"/>
              </a:rPr>
              <a:t>conceptos</a:t>
            </a:r>
            <a:endParaRPr sz="3500" dirty="0">
              <a:latin typeface="Tahoma"/>
              <a:cs typeface="Tahoma"/>
            </a:endParaRPr>
          </a:p>
          <a:p>
            <a:pPr marL="12700" marR="5080">
              <a:lnSpc>
                <a:spcPct val="73200"/>
              </a:lnSpc>
              <a:spcBef>
                <a:spcPts val="560"/>
              </a:spcBef>
            </a:pPr>
            <a:r>
              <a:rPr sz="3500" b="1" spc="75" dirty="0">
                <a:solidFill>
                  <a:srgbClr val="3D66C7"/>
                </a:solidFill>
                <a:latin typeface="Tahoma"/>
                <a:cs typeface="Tahoma"/>
              </a:rPr>
              <a:t>por</a:t>
            </a:r>
            <a:r>
              <a:rPr sz="3500" b="1" spc="-6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500" b="1" spc="125" dirty="0">
                <a:solidFill>
                  <a:srgbClr val="3D66C7"/>
                </a:solidFill>
                <a:latin typeface="Tahoma"/>
                <a:cs typeface="Tahoma"/>
              </a:rPr>
              <a:t>medio</a:t>
            </a:r>
            <a:r>
              <a:rPr sz="3500" b="1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500" b="1" spc="135" dirty="0">
                <a:solidFill>
                  <a:srgbClr val="3D66C7"/>
                </a:solidFill>
                <a:latin typeface="Tahoma"/>
                <a:cs typeface="Tahoma"/>
              </a:rPr>
              <a:t>de</a:t>
            </a:r>
            <a:r>
              <a:rPr sz="3500" b="1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500" b="1" dirty="0">
                <a:solidFill>
                  <a:srgbClr val="3D66C7"/>
                </a:solidFill>
                <a:latin typeface="Tahoma"/>
                <a:cs typeface="Tahoma"/>
              </a:rPr>
              <a:t>la</a:t>
            </a:r>
            <a:r>
              <a:rPr sz="3500" b="1" spc="-60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500" b="1" spc="-10" dirty="0">
                <a:solidFill>
                  <a:srgbClr val="3D66C7"/>
                </a:solidFill>
                <a:latin typeface="Tahoma"/>
                <a:cs typeface="Tahoma"/>
              </a:rPr>
              <a:t>creación, </a:t>
            </a:r>
            <a:r>
              <a:rPr sz="3500" b="1" spc="100" dirty="0">
                <a:solidFill>
                  <a:srgbClr val="3D66C7"/>
                </a:solidFill>
                <a:latin typeface="Tahoma"/>
                <a:cs typeface="Tahoma"/>
              </a:rPr>
              <a:t>cambios</a:t>
            </a:r>
            <a:r>
              <a:rPr sz="3500" b="1" spc="-5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500" b="1" dirty="0">
                <a:solidFill>
                  <a:srgbClr val="3D66C7"/>
                </a:solidFill>
                <a:latin typeface="Tahoma"/>
                <a:cs typeface="Tahoma"/>
              </a:rPr>
              <a:t>y</a:t>
            </a:r>
            <a:r>
              <a:rPr sz="3500" b="1" spc="-55" dirty="0">
                <a:solidFill>
                  <a:srgbClr val="3D66C7"/>
                </a:solidFill>
                <a:latin typeface="Tahoma"/>
                <a:cs typeface="Tahoma"/>
              </a:rPr>
              <a:t> </a:t>
            </a:r>
            <a:r>
              <a:rPr sz="3500" b="1" spc="-10" dirty="0">
                <a:solidFill>
                  <a:srgbClr val="3D66C7"/>
                </a:solidFill>
                <a:latin typeface="Tahoma"/>
                <a:cs typeface="Tahoma"/>
              </a:rPr>
              <a:t>mejoras.</a:t>
            </a:r>
            <a:endParaRPr sz="3500" dirty="0">
              <a:latin typeface="Tahoma"/>
              <a:cs typeface="Tahoma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078364" y="1498119"/>
            <a:ext cx="6117590" cy="14914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35" dirty="0" err="1"/>
              <a:t>Definición</a:t>
            </a:r>
            <a:endParaRPr spc="135" dirty="0"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67862" y="392866"/>
            <a:ext cx="399157" cy="632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67862" y="535255"/>
            <a:ext cx="399157" cy="632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90599"/>
            <a:ext cx="18287999" cy="380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19645" y="393514"/>
            <a:ext cx="145669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00" dirty="0">
                <a:solidFill>
                  <a:srgbClr val="006BCC"/>
                </a:solidFill>
                <a:latin typeface="Trebuchet MS"/>
                <a:cs typeface="Trebuchet MS"/>
              </a:rPr>
              <a:t>Creatividad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67862" y="1100865"/>
            <a:ext cx="399157" cy="632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67862" y="1243254"/>
            <a:ext cx="399157" cy="632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698599"/>
            <a:ext cx="18287999" cy="380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948411" y="4633393"/>
            <a:ext cx="6278245" cy="1322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8500" b="1" spc="385" dirty="0">
                <a:solidFill>
                  <a:srgbClr val="3D66C7"/>
                </a:solidFill>
                <a:latin typeface="Tahoma"/>
                <a:cs typeface="Tahoma"/>
              </a:rPr>
              <a:t>GRACIAS</a:t>
            </a:r>
            <a:endParaRPr sz="8500" dirty="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19645" y="993542"/>
            <a:ext cx="297243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Tecnología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85" dirty="0">
                <a:solidFill>
                  <a:srgbClr val="006BCC"/>
                </a:solidFill>
                <a:latin typeface="Trebuchet MS"/>
                <a:cs typeface="Trebuchet MS"/>
              </a:rPr>
              <a:t>e</a:t>
            </a:r>
            <a:r>
              <a:rPr sz="1850" b="1" spc="-105" dirty="0">
                <a:solidFill>
                  <a:srgbClr val="006BCC"/>
                </a:solidFill>
                <a:latin typeface="Trebuchet MS"/>
                <a:cs typeface="Trebuchet MS"/>
              </a:rPr>
              <a:t> </a:t>
            </a:r>
            <a:r>
              <a:rPr sz="1850" b="1" spc="110" dirty="0">
                <a:solidFill>
                  <a:srgbClr val="006BCC"/>
                </a:solidFill>
                <a:latin typeface="Trebuchet MS"/>
                <a:cs typeface="Trebuchet MS"/>
              </a:rPr>
              <a:t>Innovación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DBA4C13E70F5418B418D8012459F21" ma:contentTypeVersion="3" ma:contentTypeDescription="Crear nuevo documento." ma:contentTypeScope="" ma:versionID="0a304ccaa1773ffe5d2b1e682fa7860d">
  <xsd:schema xmlns:xsd="http://www.w3.org/2001/XMLSchema" xmlns:xs="http://www.w3.org/2001/XMLSchema" xmlns:p="http://schemas.microsoft.com/office/2006/metadata/properties" xmlns:ns2="de7ef2da-48b3-49aa-9fec-64c55b664b94" targetNamespace="http://schemas.microsoft.com/office/2006/metadata/properties" ma:root="true" ma:fieldsID="cf8310444cf7183a730381c58d7a84d3" ns2:_="">
    <xsd:import namespace="de7ef2da-48b3-49aa-9fec-64c55b664b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ef2da-48b3-49aa-9fec-64c55b664b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021FBC-C999-4DC1-9CE0-1C56A5030B8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E49B15E-2BEC-413E-B9A8-7BF34E07DF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67F138-E1B4-4206-94CB-DFAECDE0C74F}"/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393</TotalTime>
  <Words>1211</Words>
  <Application>Microsoft Office PowerPoint</Application>
  <PresentationFormat>Personalizado</PresentationFormat>
  <Paragraphs>177</Paragraphs>
  <Slides>28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29" baseType="lpstr">
      <vt:lpstr>Cartoné</vt:lpstr>
      <vt:lpstr>Presentación de PowerPoint</vt:lpstr>
      <vt:lpstr>ENCUENTRE LA METÁFORA</vt:lpstr>
      <vt:lpstr>Empresas</vt:lpstr>
      <vt:lpstr>Opinión Pública</vt:lpstr>
      <vt:lpstr>Curvas “S” de Clayton</vt:lpstr>
      <vt:lpstr>Curvas “S” de Clayton</vt:lpstr>
      <vt:lpstr>Curvas “S” de Clayton</vt:lpstr>
      <vt:lpstr>Presentación de PowerPoint</vt:lpstr>
      <vt:lpstr>Ciclo de expectativas tecnológicas</vt:lpstr>
      <vt:lpstr>Presentación de PowerPoint</vt:lpstr>
      <vt:lpstr>Ciclo de expectativas tecnológicas Gartner</vt:lpstr>
      <vt:lpstr>Adopcion tecnológicas</vt:lpstr>
      <vt:lpstr>Desarrollo de tecnologías Proyectos</vt:lpstr>
      <vt:lpstr>DESTRUCCIÓN CREATIVA</vt:lpstr>
      <vt:lpstr>Según la Destrucción Creativa</vt:lpstr>
      <vt:lpstr>DESTRUCCIÓN CREATIVA</vt:lpstr>
      <vt:lpstr>Teoría de los Ciclos Ecnonómicos</vt:lpstr>
      <vt:lpstr>Teoría de los Ciclos Ecnonómicos</vt:lpstr>
      <vt:lpstr>Gestión de la innovación</vt:lpstr>
      <vt:lpstr>Los 10 Tipos de Innovación según Doblin</vt:lpstr>
      <vt:lpstr>Presentación de PowerPoint</vt:lpstr>
      <vt:lpstr>Los 10 Tipos de Innovación según Doblin</vt:lpstr>
      <vt:lpstr>La mirada Moderna</vt:lpstr>
      <vt:lpstr>Gestión de la innovación 2.0</vt:lpstr>
      <vt:lpstr>Gestión de la innovación 2.0</vt:lpstr>
      <vt:lpstr>Creatividad</vt:lpstr>
      <vt:lpstr>Definición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Tecnología e Innovación - Clase 2</dc:title>
  <dc:creator>Ezequiel Pietracupa</dc:creator>
  <cp:keywords>DAGiBfjoSoU,BACkfd1TKsc,0</cp:keywords>
  <cp:lastModifiedBy>Barrios, Mario</cp:lastModifiedBy>
  <cp:revision>4</cp:revision>
  <dcterms:created xsi:type="dcterms:W3CDTF">2026-08-11T12:58:38Z</dcterms:created>
  <dcterms:modified xsi:type="dcterms:W3CDTF">2026-08-18T19:03:05Z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2025-03-18T00:00:00Z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2026-08-11T00:00:00Z</vt:filetime>
  </property>
  <property fmtid="{D5CDD505-2E9C-101B-9397-08002B2CF9AE}" pid="6" name="Producer">
    <vt:lpwstr>Canva</vt:lpwstr>
  </property>
  <property fmtid="{D5CDD505-2E9C-101B-9397-08002B2CF9AE}" pid="7" name="ContentTypeId">
    <vt:lpwstr>0x0101008EDBA4C13E70F5418B418D8012459F21</vt:lpwstr>
  </property>
</Properties>
</file>