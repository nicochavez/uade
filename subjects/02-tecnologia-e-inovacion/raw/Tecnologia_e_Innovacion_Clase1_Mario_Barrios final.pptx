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20.xml" ContentType="application/vnd.openxmlformats-officedocument.presentationml.notesSlide+xml"/>
  <Override PartName="/ppt/charts/chart6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7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3"/>
  </p:notesMasterIdLst>
  <p:sldIdLst>
    <p:sldId id="256" r:id="rId5"/>
    <p:sldId id="257" r:id="rId6"/>
    <p:sldId id="258" r:id="rId7"/>
    <p:sldId id="259" r:id="rId8"/>
    <p:sldId id="260" r:id="rId9"/>
    <p:sldId id="261" r:id="rId10"/>
    <p:sldId id="293" r:id="rId11"/>
    <p:sldId id="262" r:id="rId12"/>
    <p:sldId id="294" r:id="rId13"/>
    <p:sldId id="263" r:id="rId14"/>
    <p:sldId id="292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90" r:id="rId41"/>
    <p:sldId id="291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387" autoAdjust="0"/>
  </p:normalViewPr>
  <p:slideViewPr>
    <p:cSldViewPr snapToGrid="0" snapToObjects="1">
      <p:cViewPr varScale="1">
        <p:scale>
          <a:sx n="73" d="100"/>
          <a:sy n="73" d="100"/>
        </p:scale>
        <p:origin x="173" y="62"/>
      </p:cViewPr>
      <p:guideLst/>
    </p:cSldViewPr>
  </p:slideViewPr>
  <p:outlineViewPr>
    <p:cViewPr>
      <p:scale>
        <a:sx n="33" d="100"/>
        <a:sy n="33" d="100"/>
      </p:scale>
      <p:origin x="0" y="-219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Necesidad del cliente premium</c:v>
                </c:pt>
              </c:strCache>
            </c:strRef>
          </c:tx>
          <c:spPr>
            <a:ln w="31750" cap="flat">
              <a:solidFill>
                <a:srgbClr val="6B759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5.6</c:v>
                </c:pt>
                <c:pt idx="4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68-9A41-94B3-ED35DFE96B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Innovación sostenida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3.4</c:v>
                </c:pt>
                <c:pt idx="2">
                  <c:v>5</c:v>
                </c:pt>
                <c:pt idx="3">
                  <c:v>6.8</c:v>
                </c:pt>
                <c:pt idx="4">
                  <c:v>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68-9A41-94B3-ED35DFE96B3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Innovación disruptiva</c:v>
                </c:pt>
              </c:strCache>
            </c:strRef>
          </c:tx>
          <c:spPr>
            <a:ln w="31750" cap="flat">
              <a:solidFill>
                <a:srgbClr val="00C2D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0.5</c:v>
                </c:pt>
                <c:pt idx="1">
                  <c:v>1.2</c:v>
                </c:pt>
                <c:pt idx="2">
                  <c:v>2.6</c:v>
                </c:pt>
                <c:pt idx="3">
                  <c:v>5.2</c:v>
                </c:pt>
                <c:pt idx="4">
                  <c:v>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068-9A41-94B3-ED35DFE96B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93"/>
                </a:solidFill>
                <a:latin typeface="Arial"/>
              </a:defRPr>
            </a:pPr>
            <a:endParaRPr lang="es-A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s-A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del mercado</c:v>
                </c:pt>
              </c:strCache>
            </c:strRef>
          </c:tx>
          <c:spPr>
            <a:solidFill>
              <a:srgbClr val="00C2D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83A"/>
                    </a:solidFill>
                    <a:latin typeface="Arial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Innovadores
2.5%</c:v>
                </c:pt>
                <c:pt idx="1">
                  <c:v>Adoptadores
tempranos 13.5%</c:v>
                </c:pt>
                <c:pt idx="2">
                  <c:v>Mayoría
temprana 34%</c:v>
                </c:pt>
                <c:pt idx="3">
                  <c:v>Mayoría
tardía 34%</c:v>
                </c:pt>
                <c:pt idx="4">
                  <c:v>Rezagados
16%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</c:v>
                </c:pt>
                <c:pt idx="1">
                  <c:v>13.5</c:v>
                </c:pt>
                <c:pt idx="2">
                  <c:v>34</c:v>
                </c:pt>
                <c:pt idx="3">
                  <c:v>34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C3-1C48-A6DE-7839F92FFD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2283A"/>
                </a:solidFill>
                <a:latin typeface="Arial"/>
              </a:defRPr>
            </a:pPr>
            <a:endParaRPr lang="es-A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Capacidad de cómputo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1970</c:v>
                </c:pt>
                <c:pt idx="1">
                  <c:v>1980</c:v>
                </c:pt>
                <c:pt idx="2">
                  <c:v>1990</c:v>
                </c:pt>
                <c:pt idx="3">
                  <c:v>2000</c:v>
                </c:pt>
                <c:pt idx="4">
                  <c:v>2010</c:v>
                </c:pt>
                <c:pt idx="5">
                  <c:v>2020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4</c:v>
                </c:pt>
                <c:pt idx="2">
                  <c:v>16</c:v>
                </c:pt>
                <c:pt idx="3">
                  <c:v>64</c:v>
                </c:pt>
                <c:pt idx="4">
                  <c:v>256</c:v>
                </c:pt>
                <c:pt idx="5">
                  <c:v>1024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F6-1343-8087-25DF0619FA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93"/>
                </a:solidFill>
                <a:latin typeface="Arial"/>
              </a:defRPr>
            </a:pPr>
            <a:endParaRPr lang="es-A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Tecnología</c:v>
                </c:pt>
              </c:strCache>
            </c:strRef>
          </c:tx>
          <c:spPr>
            <a:ln w="27940" cap="flat">
              <a:solidFill>
                <a:srgbClr val="00C2D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2.5</c:v>
                </c:pt>
                <c:pt idx="2">
                  <c:v>5</c:v>
                </c:pt>
                <c:pt idx="3">
                  <c:v>9</c:v>
                </c:pt>
                <c:pt idx="4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15-B24C-B60A-88C32CF5D3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Negocios</c:v>
                </c:pt>
              </c:strCache>
            </c:strRef>
          </c:tx>
          <c:spPr>
            <a:ln w="2794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1.6</c:v>
                </c:pt>
                <c:pt idx="2">
                  <c:v>2.2999999999999998</c:v>
                </c:pt>
                <c:pt idx="3">
                  <c:v>3.1</c:v>
                </c:pt>
                <c:pt idx="4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15-B24C-B60A-88C32CF5D30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Social</c:v>
                </c:pt>
              </c:strCache>
            </c:strRef>
          </c:tx>
          <c:spPr>
            <a:ln w="27940" cap="flat">
              <a:solidFill>
                <a:srgbClr val="8A93B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1.4</c:v>
                </c:pt>
                <c:pt idx="2">
                  <c:v>1.9</c:v>
                </c:pt>
                <c:pt idx="3">
                  <c:v>2.4</c:v>
                </c:pt>
                <c:pt idx="4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915-B24C-B60A-88C32CF5D30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Política</c:v>
                </c:pt>
              </c:strCache>
            </c:strRef>
          </c:tx>
          <c:spPr>
            <a:ln w="27940" cap="flat">
              <a:solidFill>
                <a:srgbClr val="C7CCE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</c:v>
                </c:pt>
                <c:pt idx="1">
                  <c:v>1.2</c:v>
                </c:pt>
                <c:pt idx="2">
                  <c:v>1.5</c:v>
                </c:pt>
                <c:pt idx="3">
                  <c:v>1.8</c:v>
                </c:pt>
                <c:pt idx="4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915-B24C-B60A-88C32CF5D3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s-A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Cambio tecnológico</c:v>
                </c:pt>
              </c:strCache>
            </c:strRef>
          </c:tx>
          <c:spPr>
            <a:ln w="27940" cap="flat">
              <a:solidFill>
                <a:srgbClr val="00C2D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13</c:v>
                </c:pt>
                <c:pt idx="4">
                  <c:v>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00-C34F-AA22-BF7F921D5A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Cambio organizacional</c:v>
                </c:pt>
              </c:strCache>
            </c:strRef>
          </c:tx>
          <c:spPr>
            <a:ln w="27940" cap="flat">
              <a:solidFill>
                <a:srgbClr val="6E7BC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3.2</c:v>
                </c:pt>
                <c:pt idx="2">
                  <c:v>4.5999999999999996</c:v>
                </c:pt>
                <c:pt idx="3">
                  <c:v>5.6</c:v>
                </c:pt>
                <c:pt idx="4">
                  <c:v>6.3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00-C34F-AA22-BF7F921D5A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FFFFFF"/>
              </a:solidFill>
            </a:defRPr>
          </a:pPr>
          <a:endParaRPr lang="es-A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miles de millones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2283A"/>
                    </a:solidFill>
                    <a:latin typeface="Arial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Amazon</c:v>
                </c:pt>
                <c:pt idx="1">
                  <c:v>Microsoft</c:v>
                </c:pt>
                <c:pt idx="2">
                  <c:v>Alphabet</c:v>
                </c:pt>
                <c:pt idx="3">
                  <c:v>Meta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190</c:v>
                </c:pt>
                <c:pt idx="2">
                  <c:v>180</c:v>
                </c:pt>
                <c:pt idx="3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2E-4B46-8112-786ECBFDA2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83A"/>
                </a:solidFill>
                <a:latin typeface="Arial"/>
              </a:defRPr>
            </a:pPr>
            <a:endParaRPr lang="es-A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Crecimiento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E2761"/>
              </a:solidFill>
              <a:ln w="25400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Digitalizado</c:v>
                </c:pt>
                <c:pt idx="1">
                  <c:v>Deceptivo</c:v>
                </c:pt>
                <c:pt idx="2">
                  <c:v>Disruptivo</c:v>
                </c:pt>
                <c:pt idx="3">
                  <c:v>Desmonetizado</c:v>
                </c:pt>
                <c:pt idx="4">
                  <c:v>Desmaterializado</c:v>
                </c:pt>
                <c:pt idx="5">
                  <c:v>Democratizado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1.6</c:v>
                </c:pt>
                <c:pt idx="2">
                  <c:v>3.2</c:v>
                </c:pt>
                <c:pt idx="3">
                  <c:v>6.5</c:v>
                </c:pt>
                <c:pt idx="4">
                  <c:v>13</c:v>
                </c:pt>
                <c:pt idx="5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91-EC42-8767-41F0D9EF76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22283A"/>
                </a:solidFill>
                <a:latin typeface="Arial"/>
              </a:defRPr>
            </a:pPr>
            <a:endParaRPr lang="es-A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044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64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46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68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Cofundador</a:t>
            </a:r>
            <a:r>
              <a:rPr lang="en-US" baseline="0" dirty="0"/>
              <a:t> de Intel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MX" b="0" i="0" dirty="0">
                <a:solidFill>
                  <a:srgbClr val="0A0A0A"/>
                </a:solidFill>
                <a:effectLst/>
                <a:latin typeface="Google Sans"/>
              </a:rPr>
              <a:t>Un </a:t>
            </a:r>
            <a:r>
              <a:rPr lang="es-MX" b="1" i="0" dirty="0">
                <a:solidFill>
                  <a:srgbClr val="0A0A0A"/>
                </a:solidFill>
                <a:effectLst/>
                <a:latin typeface="Google Sans"/>
              </a:rPr>
              <a:t>pitch </a:t>
            </a:r>
            <a:r>
              <a:rPr lang="es-MX" b="1" i="0" dirty="0" err="1">
                <a:solidFill>
                  <a:srgbClr val="0A0A0A"/>
                </a:solidFill>
                <a:effectLst/>
                <a:latin typeface="Google Sans"/>
              </a:rPr>
              <a:t>companion</a:t>
            </a:r>
            <a:r>
              <a:rPr lang="es-MX" b="0" i="0" dirty="0">
                <a:solidFill>
                  <a:srgbClr val="0A0A0A"/>
                </a:solidFill>
                <a:effectLst/>
                <a:latin typeface="Google Sans"/>
              </a:rPr>
              <a:t> (o documento de acompañamiento para un pitch) es un material de apoyo escrito o visual que se entrega a los inversores o clientes junto con una presentación oral.</a:t>
            </a:r>
            <a:endParaRPr lang="es-MX" b="0" i="0" dirty="0">
              <a:solidFill>
                <a:srgbClr val="56595E"/>
              </a:solidFill>
              <a:effectLst/>
              <a:latin typeface="Google Sans"/>
            </a:endParaRPr>
          </a:p>
          <a:p>
            <a:pPr algn="l"/>
            <a:r>
              <a:rPr lang="es-MX" b="0" i="0" dirty="0">
                <a:solidFill>
                  <a:srgbClr val="0A0A0A"/>
                </a:solidFill>
                <a:effectLst/>
                <a:latin typeface="Google Sans"/>
              </a:rPr>
              <a:t>Sirve para:</a:t>
            </a:r>
            <a:endParaRPr lang="es-MX" b="0" i="0" dirty="0">
              <a:solidFill>
                <a:srgbClr val="56595E"/>
              </a:solidFill>
              <a:effectLst/>
              <a:latin typeface="Google Sans"/>
            </a:endParaRPr>
          </a:p>
          <a:p>
            <a:pPr algn="l"/>
            <a:r>
              <a:rPr lang="es-MX" b="0" i="0" dirty="0">
                <a:solidFill>
                  <a:srgbClr val="0A0A0A"/>
                </a:solidFill>
                <a:effectLst/>
                <a:latin typeface="Google Sans"/>
              </a:rPr>
              <a:t>Ampliar los datos clave del negocio sin saturar las diapositivas.</a:t>
            </a:r>
          </a:p>
          <a:p>
            <a:pPr algn="l"/>
            <a:r>
              <a:rPr lang="es-MX" b="0" i="0" dirty="0">
                <a:solidFill>
                  <a:srgbClr val="0A0A0A"/>
                </a:solidFill>
                <a:effectLst/>
                <a:latin typeface="Google Sans"/>
              </a:rPr>
              <a:t>Servir de guía o recordatorio tras la reunión.</a:t>
            </a:r>
          </a:p>
          <a:p>
            <a:pPr algn="l"/>
            <a:r>
              <a:rPr lang="es-MX" b="0" i="0" dirty="0">
                <a:solidFill>
                  <a:srgbClr val="0A0A0A"/>
                </a:solidFill>
                <a:effectLst/>
                <a:latin typeface="Google Sans"/>
              </a:rPr>
              <a:t>Detallar proyecciones financieras y hojas de ruta.</a:t>
            </a:r>
          </a:p>
          <a:p>
            <a:pPr algn="l"/>
            <a:endParaRPr lang="es-MX" b="0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 </a:t>
            </a:r>
            <a:r>
              <a:rPr lang="es-MX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pitch </a:t>
            </a:r>
            <a:r>
              <a:rPr lang="es-MX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competition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(o concurso de presentaciones) es un evento donde varios emprendedores muestran su proyecto o negocio en poco tiempo ante un jurado de inversores, con el fin de ganar dinero, premios o visibilidad. </a:t>
            </a:r>
          </a:p>
          <a:p>
            <a:r>
              <a:rPr lang="es-MX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Cómo funciona el formato</a:t>
            </a:r>
          </a:p>
          <a:p>
            <a:r>
              <a:rPr lang="es-MX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Tiempo límite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Cada participante tiene entre 1 y 5 minutos exactos para hablar.</a:t>
            </a:r>
          </a:p>
          <a:p>
            <a:r>
              <a:rPr lang="es-MX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Mensaje clave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Se explica el problema del mercado, la solución que ofrece el producto y por qué el equipo es el ideal.</a:t>
            </a:r>
          </a:p>
          <a:p>
            <a:r>
              <a:rPr lang="es-MX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Preguntas y respuestas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Al terminar, el jurado hace preguntas difíciles sobre las finanzas y el plan de trabajo. </a:t>
            </a:r>
          </a:p>
          <a:p>
            <a:br>
              <a:rPr lang="es-MX" dirty="0"/>
            </a:br>
            <a:endParaRPr lang="es-MX" b="0" i="0" dirty="0">
              <a:solidFill>
                <a:srgbClr val="0A0A0A"/>
              </a:solidFill>
              <a:effectLst/>
              <a:latin typeface="Google San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UADE · TECNOLOGÍA E INNOVACIÓN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</a:t>
            </a:r>
            <a:endParaRPr lang="en-US" sz="54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Innovación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la tecnología redefine productos, modelos de negocio y mercados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31750">
            <a:solidFill>
              <a:srgbClr val="00C2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257799"/>
            <a:ext cx="5486400" cy="51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Profesores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Mario Barrios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5954358"/>
            <a:ext cx="5486400" cy="589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  · 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mariobarrios@uade.edu.ar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clase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 4:00hs · 100% remota vía Teams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EF2F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icon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4067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18:45 – 20:15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2976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1 · Teoría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97680" y="24231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innovación, leyes del cambio tecnológico y frameworks clave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33832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EF2FA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3657600"/>
            <a:ext cx="640080" cy="64008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3" name="Image 1" descr="/home/claude/deck/icons/coffe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1" y="382402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74520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20:15 – 20:45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29768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297680" y="3840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de 30 minutos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40080" y="48006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EF2FA"/>
          </a:solidFill>
          <a:ln/>
        </p:spPr>
      </p:sp>
      <p:sp>
        <p:nvSpPr>
          <p:cNvPr id="18" name="Shape 14"/>
          <p:cNvSpPr/>
          <p:nvPr/>
        </p:nvSpPr>
        <p:spPr>
          <a:xfrm>
            <a:off x="914400" y="5074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deck/icons/edi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1" y="524134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74520" y="4937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20:45 – 22:15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29768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2 · Taller práctico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297680" y="52578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equipos sobre el TPO: proyecto SaaS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Bienvenidos a Tecnología e Innovación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000"/>
              </a:lnSpc>
              <a:buNone/>
            </a:pPr>
            <a:r>
              <a:rPr lang="en-US" sz="20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curso exploramos cómo la tecnología y la innovación impulsan el desarrollo de negocios y soluciones disruptivas. A lo largo de la cursada vamos a diseñar, validar y ejecutar un proyecto con impacto real en el mercado.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603504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70332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7" name="Image 0" descr="/home/claude/deck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384596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materia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45920" y="42062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Fomentar la capacidad de análisis, planificación y desarrollo de soluciones innovadoras, aplicando metodologías ágiles, estrategias de diferenciación y gestión empresarial.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04088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arrancar, pensemos: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040880" y="219456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EEF2FA"/>
          </a:solidFill>
          <a:ln/>
        </p:spPr>
      </p:sp>
      <p:sp>
        <p:nvSpPr>
          <p:cNvPr id="12" name="Shape 9"/>
          <p:cNvSpPr/>
          <p:nvPr/>
        </p:nvSpPr>
        <p:spPr>
          <a:xfrm>
            <a:off x="7223760" y="23500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deck/icons/messag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2" y="246888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8120" y="2194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consideran innovadores?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7040880" y="315468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EEF2FA"/>
          </a:solidFill>
          <a:ln/>
        </p:spPr>
      </p:sp>
      <p:sp>
        <p:nvSpPr>
          <p:cNvPr id="16" name="Shape 12"/>
          <p:cNvSpPr/>
          <p:nvPr/>
        </p:nvSpPr>
        <p:spPr>
          <a:xfrm>
            <a:off x="7223760" y="33101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deck/icons/messag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2" y="342900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18120" y="31546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consideran creativos?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040880" y="411480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EEF2FA"/>
          </a:solidFill>
          <a:ln/>
        </p:spPr>
      </p:sp>
      <p:sp>
        <p:nvSpPr>
          <p:cNvPr id="20" name="Shape 15"/>
          <p:cNvSpPr/>
          <p:nvPr/>
        </p:nvSpPr>
        <p:spPr>
          <a:xfrm>
            <a:off x="7223760" y="42702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deck/icons/messag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2" y="438912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18120" y="4114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innovación está disociada de la creatividad?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Modalidad de cursada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2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calend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 y horario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de 18:45 a 22:15 </a:t>
            </a:r>
            <a:r>
              <a:rPr lang="en-US" dirty="0" err="1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r>
              <a:rPr lang="en-US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3401568" y="17373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2FA"/>
          </a:solidFill>
          <a:ln/>
        </p:spPr>
      </p:sp>
      <p:sp>
        <p:nvSpPr>
          <p:cNvPr id="10" name="Shape 7"/>
          <p:cNvSpPr/>
          <p:nvPr/>
        </p:nvSpPr>
        <p:spPr>
          <a:xfrm>
            <a:off x="3630168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monito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589" y="21323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0168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74720" y="3246120"/>
            <a:ext cx="2350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Encuentros </a:t>
            </a:r>
            <a:r>
              <a:rPr lang="en-US" dirty="0" err="1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presenciales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6163056" y="17373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2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391656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eck/icons/c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077" y="21323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1656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Exámenes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91656" y="3246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dirty="0" err="1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Presenciales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8924544" y="17373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2FA"/>
          </a:solidFill>
          <a:ln/>
        </p:spPr>
      </p:sp>
      <p:sp>
        <p:nvSpPr>
          <p:cNvPr id="20" name="Shape 15"/>
          <p:cNvSpPr/>
          <p:nvPr/>
        </p:nvSpPr>
        <p:spPr>
          <a:xfrm>
            <a:off x="9153144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deck/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9565" y="213238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53144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Asistencia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53144" y="32461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</a:t>
            </a:r>
            <a:r>
              <a:rPr lang="en-US" dirty="0" err="1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</a:t>
            </a:r>
            <a:endParaRPr lang="en-US" dirty="0"/>
          </a:p>
        </p:txBody>
      </p:sp>
      <p:sp>
        <p:nvSpPr>
          <p:cNvPr id="24" name="Shape 18"/>
          <p:cNvSpPr/>
          <p:nvPr/>
        </p:nvSpPr>
        <p:spPr>
          <a:xfrm>
            <a:off x="640080" y="46177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868680" y="4800600"/>
            <a:ext cx="594360" cy="59436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26" name="Image 4" descr="/home/claude/deck/icons/us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214" y="49551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4736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Participación activa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645920" y="50566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clases quedan grabadas, pero la interacción en vivo es clave para la evaluación.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aprueba la materia?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EEF2FA"/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4" y="20747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Evaluaciones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14400" y="2679192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5328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promocionable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3246120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0998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Parciales presenciales en Sede Monserrat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914400" y="3813048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6667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oral del TPO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4379976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2336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20 alumnos → examen oral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914400" y="4946904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4800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20 alumnos → examen escrito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17220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sp>
        <p:nvSpPr>
          <p:cNvPr id="19" name="Shape 16"/>
          <p:cNvSpPr/>
          <p:nvPr/>
        </p:nvSpPr>
        <p:spPr>
          <a:xfrm>
            <a:off x="6446520" y="1920240"/>
            <a:ext cx="594360" cy="59436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20" name="Image 1" descr="/home/claude/deck/icons/aw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054" y="2074774"/>
            <a:ext cx="285293" cy="28529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23760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Práctico Obligatorio (TPO)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446520" y="2770632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3" name="Text 19"/>
          <p:cNvSpPr/>
          <p:nvPr/>
        </p:nvSpPr>
        <p:spPr>
          <a:xfrm>
            <a:off x="6675120" y="26243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 hasta 5 personas (máx. 10 equipos)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6446520" y="3483864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5" name="Text 21"/>
          <p:cNvSpPr/>
          <p:nvPr/>
        </p:nvSpPr>
        <p:spPr>
          <a:xfrm>
            <a:off x="6675120" y="3337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en dos fechas diferentes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6446520" y="4197096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7" name="Text 23"/>
          <p:cNvSpPr/>
          <p:nvPr/>
        </p:nvSpPr>
        <p:spPr>
          <a:xfrm>
            <a:off x="6675120" y="40507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 la presentación grupal y el desempeño individual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2A3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822960" y="3246120"/>
            <a:ext cx="822960" cy="82296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4" name="Image 0" descr="/home/claude/deck/icons/boo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930" y="346009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3291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1 · Teoría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965960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innovación, leyes del cambio tecnológico y frameworks clave 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8076" y="675631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innovación?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96112" y="190652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000"/>
              </a:lnSpc>
              <a:buNone/>
            </a:pPr>
            <a:r>
              <a:rPr lang="es-MX" sz="2000" b="1" i="0" dirty="0">
                <a:solidFill>
                  <a:srgbClr val="0A0A0A"/>
                </a:solidFill>
                <a:effectLst/>
                <a:latin typeface="Google Sans"/>
              </a:rPr>
              <a:t>Innovar en tecnología</a:t>
            </a:r>
            <a:r>
              <a:rPr lang="es-MX" sz="2000" b="0" i="0" dirty="0">
                <a:solidFill>
                  <a:srgbClr val="0A0A0A"/>
                </a:solidFill>
                <a:effectLst/>
                <a:latin typeface="Google Sans"/>
              </a:rPr>
              <a:t> significa utilizar herramientas, conocimientos científicos y desarrollos digitales para </a:t>
            </a:r>
            <a:r>
              <a:rPr lang="es-MX" sz="2000" b="1" i="0" dirty="0">
                <a:solidFill>
                  <a:srgbClr val="0A0A0A"/>
                </a:solidFill>
                <a:effectLst/>
                <a:latin typeface="Google Sans"/>
              </a:rPr>
              <a:t>crear nuevos productos, mejorar los existentes o transformar procesos</a:t>
            </a:r>
            <a:r>
              <a:rPr lang="es-MX" sz="2000" b="0" i="0" dirty="0">
                <a:solidFill>
                  <a:srgbClr val="0A0A0A"/>
                </a:solidFill>
                <a:effectLst/>
                <a:latin typeface="Google Sans"/>
              </a:rPr>
              <a:t> con el fin de resolver problemas reales y generar valor. No implica únicamente inventar algo desde cero; su verdadero éxito radica en </a:t>
            </a:r>
            <a:r>
              <a:rPr lang="es-MX" sz="2000" b="1" i="0" dirty="0">
                <a:solidFill>
                  <a:srgbClr val="0A0A0A"/>
                </a:solidFill>
                <a:effectLst/>
                <a:latin typeface="Google Sans"/>
              </a:rPr>
              <a:t>aplicar la tecnología de manera estratégica</a:t>
            </a:r>
            <a:r>
              <a:rPr lang="es-MX" sz="2000" b="0" i="0" dirty="0">
                <a:solidFill>
                  <a:srgbClr val="0A0A0A"/>
                </a:solidFill>
                <a:effectLst/>
                <a:latin typeface="Google Sans"/>
              </a:rPr>
              <a:t> para que tenga un impacto práctico y medible.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Manual de Oslo (OCD)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3291840"/>
            <a:ext cx="594360" cy="59436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9" name="Image 0" descr="/home/claude/deck/icons/brai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646" y="344637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Creatividad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96112" y="43891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generar ideas nuevas y de valor. Es materia prima, no el resultado final.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315968" y="3063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3291840"/>
            <a:ext cx="594360" cy="59436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4" name="Image 1" descr="/home/claude/deck/icons/bulb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534" y="344637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Invención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72000" y="43891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algo nuevo (idea, producto, proceso) que aún no llegó al mercado</a:t>
            </a: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7991856" y="3063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8247888" y="3291840"/>
            <a:ext cx="594360" cy="59436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9" name="Image 2" descr="/home/claude/deck/icons/trendU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422" y="344637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47888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Innovación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47888" y="43891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o invención llevada al mercado, adoptada y capaz de generar valor real.</a:t>
            </a: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93981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innovación?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EF2FA"/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de un producto (bien o servicio), proceso, método de comercialización o de organización nuevo o significativamente mejorado, que genera valor y logra adopción en el mercado.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Manual de Oslo (OCDE)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Invención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47888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Innovación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EB232C2B-43A8-4E5A-AFFF-DC97862DF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569233"/>
              </p:ext>
            </p:extLst>
          </p:nvPr>
        </p:nvGraphicFramePr>
        <p:xfrm>
          <a:off x="2890344" y="2924920"/>
          <a:ext cx="5970927" cy="3568480"/>
        </p:xfrm>
        <a:graphic>
          <a:graphicData uri="http://schemas.openxmlformats.org/drawingml/2006/table">
            <a:tbl>
              <a:tblPr/>
              <a:tblGrid>
                <a:gridCol w="1140644">
                  <a:extLst>
                    <a:ext uri="{9D8B030D-6E8A-4147-A177-3AD203B41FA5}">
                      <a16:colId xmlns:a16="http://schemas.microsoft.com/office/drawing/2014/main" val="313573771"/>
                    </a:ext>
                  </a:extLst>
                </a:gridCol>
                <a:gridCol w="2138584">
                  <a:extLst>
                    <a:ext uri="{9D8B030D-6E8A-4147-A177-3AD203B41FA5}">
                      <a16:colId xmlns:a16="http://schemas.microsoft.com/office/drawing/2014/main" val="3539779158"/>
                    </a:ext>
                  </a:extLst>
                </a:gridCol>
                <a:gridCol w="2691699">
                  <a:extLst>
                    <a:ext uri="{9D8B030D-6E8A-4147-A177-3AD203B41FA5}">
                      <a16:colId xmlns:a16="http://schemas.microsoft.com/office/drawing/2014/main" val="2513250210"/>
                    </a:ext>
                  </a:extLst>
                </a:gridCol>
              </a:tblGrid>
              <a:tr h="94948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AR" sz="1400" b="1" i="0" u="none" strike="noStrike" dirty="0">
                          <a:solidFill>
                            <a:srgbClr val="0A0A0A"/>
                          </a:solidFill>
                          <a:effectLst/>
                          <a:latin typeface="Arial" panose="020B0604020202020204" pitchFamily="34" charset="0"/>
                        </a:rPr>
                        <a:t>Cuadro comparativo rápido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546944"/>
                  </a:ext>
                </a:extLst>
              </a:tr>
              <a:tr h="445833">
                <a:tc>
                  <a:txBody>
                    <a:bodyPr/>
                    <a:lstStyle/>
                    <a:p>
                      <a:pPr algn="l" fontAlgn="b"/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"/>
                      <a:r>
                        <a:rPr lang="es-A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Criterio</a:t>
                      </a:r>
                    </a:p>
                  </a:txBody>
                  <a:tcPr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Tu definición (Edición 2005)</a:t>
                      </a:r>
                    </a:p>
                  </a:txBody>
                  <a:tcPr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Definición Moderna (Edición 2018)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8703669"/>
                  </a:ext>
                </a:extLst>
              </a:tr>
              <a:tr h="867731">
                <a:tc>
                  <a:txBody>
                    <a:bodyPr/>
                    <a:lstStyle/>
                    <a:p>
                      <a:pPr algn="l" fontAlgn="t"/>
                      <a:r>
                        <a:rPr lang="es-AR" sz="1400" b="1" i="0" u="none" strike="noStrike">
                          <a:solidFill>
                            <a:srgbClr val="0A0A0A"/>
                          </a:solidFill>
                          <a:effectLst/>
                          <a:latin typeface="Arial" panose="020B0604020202020204" pitchFamily="34" charset="0"/>
                        </a:rPr>
                        <a:t>Estructura</a:t>
                      </a:r>
                    </a:p>
                  </a:txBody>
                  <a:tcPr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1400" b="0" i="0" u="none" strike="noStrike" dirty="0">
                          <a:solidFill>
                            <a:srgbClr val="0A0A0A"/>
                          </a:solidFill>
                          <a:effectLst/>
                          <a:latin typeface="Arial" panose="020B0604020202020204" pitchFamily="34" charset="0"/>
                        </a:rPr>
                        <a:t>4 categorías rígidas (Producto, Proceso, Marketing, Organización).</a:t>
                      </a:r>
                    </a:p>
                  </a:txBody>
                  <a:tcPr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1400" b="0" i="0" u="none" strike="noStrike" dirty="0">
                          <a:solidFill>
                            <a:srgbClr val="0A0A0A"/>
                          </a:solidFill>
                          <a:effectLst/>
                          <a:latin typeface="Arial" panose="020B0604020202020204" pitchFamily="34" charset="0"/>
                        </a:rPr>
                        <a:t>2 categorías transversales (Producto y Proceso de negocio).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1961557"/>
                  </a:ext>
                </a:extLst>
              </a:tr>
              <a:tr h="652718">
                <a:tc>
                  <a:txBody>
                    <a:bodyPr/>
                    <a:lstStyle/>
                    <a:p>
                      <a:pPr algn="l" fontAlgn="t"/>
                      <a:r>
                        <a:rPr lang="es-AR" sz="1400" b="1" i="0" u="none" strike="noStrike">
                          <a:solidFill>
                            <a:srgbClr val="0A0A0A"/>
                          </a:solidFill>
                          <a:effectLst/>
                          <a:latin typeface="Arial" panose="020B0604020202020204" pitchFamily="34" charset="0"/>
                        </a:rPr>
                        <a:t>Foco principal</a:t>
                      </a:r>
                    </a:p>
                  </a:txBody>
                  <a:tcPr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1400" b="0" i="0" u="none" strike="noStrike" dirty="0">
                          <a:solidFill>
                            <a:srgbClr val="0A0A0A"/>
                          </a:solidFill>
                          <a:effectLst/>
                          <a:latin typeface="Arial" panose="020B0604020202020204" pitchFamily="34" charset="0"/>
                        </a:rPr>
                        <a:t>El acto de introducir la novedad al mercado.</a:t>
                      </a:r>
                    </a:p>
                  </a:txBody>
                  <a:tcPr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1400" b="0" i="0" u="none" strike="noStrike" dirty="0">
                          <a:solidFill>
                            <a:srgbClr val="0A0A0A"/>
                          </a:solidFill>
                          <a:effectLst/>
                          <a:latin typeface="Arial" panose="020B0604020202020204" pitchFamily="34" charset="0"/>
                        </a:rPr>
                        <a:t>El cambio significativo y la adopción real por el usuario.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932102"/>
                  </a:ext>
                </a:extLst>
              </a:tr>
              <a:tr h="652718">
                <a:tc>
                  <a:txBody>
                    <a:bodyPr/>
                    <a:lstStyle/>
                    <a:p>
                      <a:pPr algn="l" fontAlgn="t"/>
                      <a:r>
                        <a:rPr lang="es-AR" sz="1400" b="1" i="0" u="none" strike="noStrike">
                          <a:solidFill>
                            <a:srgbClr val="0A0A0A"/>
                          </a:solidFill>
                          <a:effectLst/>
                          <a:latin typeface="Arial" panose="020B0604020202020204" pitchFamily="34" charset="0"/>
                        </a:rPr>
                        <a:t>Tecnología</a:t>
                      </a:r>
                    </a:p>
                  </a:txBody>
                  <a:tcPr marR="7620" marT="762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F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AR" sz="1400" b="0" i="0" u="none" strike="noStrike" dirty="0">
                          <a:solidFill>
                            <a:srgbClr val="0A0A0A"/>
                          </a:solidFill>
                          <a:effectLst/>
                          <a:latin typeface="Arial" panose="020B0604020202020204" pitchFamily="34" charset="0"/>
                        </a:rPr>
                        <a:t>Separaba lo tecnológico de lo no tecnológico.</a:t>
                      </a:r>
                    </a:p>
                  </a:txBody>
                  <a:tcPr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2B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1400" b="0" i="0" u="none" strike="noStrike" dirty="0">
                          <a:solidFill>
                            <a:srgbClr val="0A0A0A"/>
                          </a:solidFill>
                          <a:effectLst/>
                          <a:latin typeface="Arial" panose="020B0604020202020204" pitchFamily="34" charset="0"/>
                        </a:rPr>
                        <a:t>Asume que la tecnología es el motor de cualquier proceso. 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C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3021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innovación?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79"/>
            <a:ext cx="10881360" cy="4383865"/>
          </a:xfrm>
          <a:prstGeom prst="roundRect">
            <a:avLst>
              <a:gd name="adj" fmla="val 6154"/>
            </a:avLst>
          </a:prstGeom>
          <a:solidFill>
            <a:srgbClr val="EEF2FA"/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5" name="Text 3"/>
          <p:cNvSpPr/>
          <p:nvPr/>
        </p:nvSpPr>
        <p:spPr>
          <a:xfrm>
            <a:off x="798786" y="3751141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s-MX" sz="200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operativas para tu carrera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s-MX" sz="200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Creatividad es divergente: Consiste en imaginar soluciones abstractas, realizar tormentas de ideas (</a:t>
            </a:r>
            <a:r>
              <a:rPr lang="es-MX" sz="2000" i="1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r>
              <a:rPr lang="es-MX" sz="200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conceptualizar arquitecturas de software sin restricciones de presupuesto o infraestructura. 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s-MX" sz="200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Innovación es convergente y pragmática: Consiste en tomar esa idea, escribir código limpio, refactorizar, realizar pruebas de estrés, resolver problemas de ciberseguridad y hacer que el sistema funcione en el mundo real. 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s-MX" sz="200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dice una máxima del sector tecnológico: "La creatividad es pensar cosas nuevas. La innovación es hacer cosas nuevas". Si el código se queda en un repositorio privado de GitHub sin compilar o sin usuarios, se quedó en fase creativa; si se despliega y resuelve un problema real, se convirtió en innovación. 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s-MX" sz="200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enriquecer tu marco conceptual, ¿te gustaría que vinculemos esta definición de creatividad con el concepto de Diseño de Software (</a:t>
            </a:r>
            <a:r>
              <a:rPr lang="es-MX" sz="2000" i="1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r>
              <a:rPr lang="es-MX" sz="200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MX" sz="2000" i="1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</a:t>
            </a:r>
            <a:r>
              <a:rPr lang="es-MX" sz="200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o preferís ver cómo se evalúa la transición de materia prima a producto final en metodologías ágiles como Scrum?</a:t>
            </a:r>
          </a:p>
          <a:p>
            <a:pPr marL="0" indent="0">
              <a:lnSpc>
                <a:spcPts val="2000"/>
              </a:lnSpc>
              <a:buNone/>
            </a:pPr>
            <a:endParaRPr lang="es-MX" sz="2000" i="1" dirty="0">
              <a:solidFill>
                <a:srgbClr val="2228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2000"/>
              </a:lnSpc>
              <a:buNone/>
            </a:pPr>
            <a:endParaRPr lang="es-MX" sz="2000" i="1" dirty="0">
              <a:solidFill>
                <a:srgbClr val="2228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2000"/>
              </a:lnSpc>
              <a:buNone/>
            </a:pPr>
            <a:endParaRPr lang="es-MX" sz="2000" i="1" dirty="0">
              <a:solidFill>
                <a:srgbClr val="2228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2000"/>
              </a:lnSpc>
              <a:buNone/>
            </a:pPr>
            <a:endParaRPr lang="es-MX" sz="2000" i="1" dirty="0">
              <a:solidFill>
                <a:srgbClr val="2228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57200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Invención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47888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Innovación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7318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HISTÓRICA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Arthur C. Clarke describe</a:t>
            </a:r>
            <a:endParaRPr lang="en-US" sz="28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en 1974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16726" y="2455216"/>
            <a:ext cx="6507164" cy="2485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entrevista de 1974, Clarke predijo que en el año 2001 cualquier persona podría acceder a información y a otras personas desde una terminal conectada a una red global — anticipando Internet casi dos décadas antes de su masificación.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5257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pensar: ¿qué tecnología de hoy nos va a parecer “obvia” en 20 años?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HISTÓRICA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42287" y="2377440"/>
            <a:ext cx="6908029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952580F-96E6-4C8D-A30C-7E670E47810F}"/>
              </a:ext>
            </a:extLst>
          </p:cNvPr>
          <p:cNvSpPr txBox="1"/>
          <p:nvPr/>
        </p:nvSpPr>
        <p:spPr>
          <a:xfrm>
            <a:off x="777240" y="2133600"/>
            <a:ext cx="9596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dirty="0">
              <a:solidFill>
                <a:schemeClr val="bg1"/>
              </a:solidFill>
            </a:endParaRP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38DB8067-3ED8-402F-AE81-0BFBFCEC9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984119"/>
              </p:ext>
            </p:extLst>
          </p:nvPr>
        </p:nvGraphicFramePr>
        <p:xfrm>
          <a:off x="1671144" y="1408388"/>
          <a:ext cx="8576441" cy="4352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8385">
                  <a:extLst>
                    <a:ext uri="{9D8B030D-6E8A-4147-A177-3AD203B41FA5}">
                      <a16:colId xmlns:a16="http://schemas.microsoft.com/office/drawing/2014/main" val="522308269"/>
                    </a:ext>
                  </a:extLst>
                </a:gridCol>
                <a:gridCol w="2340549">
                  <a:extLst>
                    <a:ext uri="{9D8B030D-6E8A-4147-A177-3AD203B41FA5}">
                      <a16:colId xmlns:a16="http://schemas.microsoft.com/office/drawing/2014/main" val="2065509528"/>
                    </a:ext>
                  </a:extLst>
                </a:gridCol>
                <a:gridCol w="4597507">
                  <a:extLst>
                    <a:ext uri="{9D8B030D-6E8A-4147-A177-3AD203B41FA5}">
                      <a16:colId xmlns:a16="http://schemas.microsoft.com/office/drawing/2014/main" val="122645823"/>
                    </a:ext>
                  </a:extLst>
                </a:gridCol>
              </a:tblGrid>
              <a:tr h="103878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s-AR" sz="1400" u="none" strike="noStrike" dirty="0">
                          <a:effectLst/>
                        </a:rPr>
                        <a:t>Tabla comparativa de enfoques </a:t>
                      </a:r>
                      <a:endParaRPr lang="es-AR" sz="14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761925"/>
                  </a:ext>
                </a:extLst>
              </a:tr>
              <a:tr h="592106">
                <a:tc>
                  <a:txBody>
                    <a:bodyPr/>
                    <a:lstStyle/>
                    <a:p>
                      <a:pPr algn="l" fontAlgn="b"/>
                      <a:endParaRPr lang="es-AR" sz="1400" u="none" strike="noStrike" dirty="0">
                        <a:effectLst/>
                      </a:endParaRPr>
                    </a:p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Referente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>
                          <a:effectLst/>
                        </a:rPr>
                        <a:t>Filosofía Central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400" u="none" strike="noStrike">
                          <a:effectLst/>
                        </a:rPr>
                        <a:t>¿Qué significa innovar para él?</a:t>
                      </a:r>
                      <a:endParaRPr lang="es-MX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68361427"/>
                  </a:ext>
                </a:extLst>
              </a:tr>
              <a:tr h="602493">
                <a:tc>
                  <a:txBody>
                    <a:bodyPr/>
                    <a:lstStyle/>
                    <a:p>
                      <a:pPr algn="l" fontAlgn="t"/>
                      <a:r>
                        <a:rPr lang="es-AR" sz="1400" u="sng" strike="noStrike" dirty="0">
                          <a:effectLst/>
                        </a:rPr>
                        <a:t>Alan Kay</a:t>
                      </a:r>
                      <a:endParaRPr lang="es-AR" sz="1400" b="1" i="0" u="sng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AR" sz="1400" u="none" strike="noStrike">
                          <a:effectLst/>
                        </a:rPr>
                        <a:t>Disrupción conceptual</a:t>
                      </a:r>
                      <a:endParaRPr lang="es-AR" sz="14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1400" u="none" strike="noStrike" dirty="0">
                          <a:effectLst/>
                        </a:rPr>
                        <a:t>Crear herramientas conceptuales y arquitecturas completamente nuevas.</a:t>
                      </a:r>
                      <a:endParaRPr lang="es-MX" sz="14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101276909"/>
                  </a:ext>
                </a:extLst>
              </a:tr>
              <a:tr h="602493">
                <a:tc>
                  <a:txBody>
                    <a:bodyPr/>
                    <a:lstStyle/>
                    <a:p>
                      <a:pPr algn="l" fontAlgn="t"/>
                      <a:r>
                        <a:rPr lang="es-AR" sz="1400" u="sng" strike="noStrike">
                          <a:effectLst/>
                        </a:rPr>
                        <a:t>Linus Torvalds</a:t>
                      </a:r>
                      <a:endParaRPr lang="es-AR" sz="1400" b="1" i="0" u="sng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AR" sz="1400" u="none" strike="noStrike" dirty="0">
                          <a:effectLst/>
                        </a:rPr>
                        <a:t>Pragmatismo puro</a:t>
                      </a:r>
                      <a:endParaRPr lang="es-AR" sz="14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1400" u="none" strike="noStrike">
                          <a:effectLst/>
                        </a:rPr>
                        <a:t>Resolver problemas reales optimizando el código línea por línea en el día a día.</a:t>
                      </a:r>
                      <a:endParaRPr lang="es-MX" sz="14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61519032"/>
                  </a:ext>
                </a:extLst>
              </a:tr>
              <a:tr h="903738">
                <a:tc>
                  <a:txBody>
                    <a:bodyPr/>
                    <a:lstStyle/>
                    <a:p>
                      <a:pPr algn="l" fontAlgn="t"/>
                      <a:r>
                        <a:rPr lang="es-AR" sz="1400" u="sng" strike="noStrike">
                          <a:effectLst/>
                        </a:rPr>
                        <a:t>Martin Fowler</a:t>
                      </a:r>
                      <a:endParaRPr lang="es-AR" sz="1400" b="1" i="0" u="sng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AR" sz="1400" u="none" strike="noStrike">
                          <a:effectLst/>
                        </a:rPr>
                        <a:t>Calidad interna</a:t>
                      </a:r>
                      <a:endParaRPr lang="es-AR" sz="14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1400" u="none" strike="noStrike">
                          <a:effectLst/>
                        </a:rPr>
                        <a:t>Diseñar sistemas limpios, legibles y mantenibles para habilitar el cambio constante.</a:t>
                      </a:r>
                      <a:endParaRPr lang="es-MX" sz="14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777608247"/>
                  </a:ext>
                </a:extLst>
              </a:tr>
              <a:tr h="612880">
                <a:tc>
                  <a:txBody>
                    <a:bodyPr/>
                    <a:lstStyle/>
                    <a:p>
                      <a:pPr algn="l" fontAlgn="t"/>
                      <a:r>
                        <a:rPr lang="es-AR" sz="1400" u="sng" strike="noStrike">
                          <a:effectLst/>
                        </a:rPr>
                        <a:t>Marc Andreessen</a:t>
                      </a:r>
                      <a:endParaRPr lang="es-AR" sz="1400" b="1" i="0" u="sng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AR" sz="1400" u="none" strike="noStrike" dirty="0">
                          <a:effectLst/>
                        </a:rPr>
                        <a:t>Transformación digital</a:t>
                      </a:r>
                      <a:endParaRPr lang="es-AR" sz="14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1400" u="none" strike="noStrike" dirty="0">
                          <a:effectLst/>
                        </a:rPr>
                        <a:t>Reemplazar infraestructuras físicas por código y automatización algorítmica. </a:t>
                      </a:r>
                      <a:endParaRPr lang="es-MX" sz="14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597544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250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CLASIFICACIÓN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innovación según su objeto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clásica del Manual de Oslo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EEF2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icons/puzz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234909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 o servicios nuevos o mejorados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4526280"/>
            <a:ext cx="21488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68680" y="4937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iPhone, Netflix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01568" y="196596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EEF2FA"/>
          </a:solidFill>
          <a:ln/>
        </p:spPr>
      </p:sp>
      <p:sp>
        <p:nvSpPr>
          <p:cNvPr id="14" name="Shape 11"/>
          <p:cNvSpPr/>
          <p:nvPr/>
        </p:nvSpPr>
        <p:spPr>
          <a:xfrm>
            <a:off x="3630168" y="21945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/home/claude/deck/icons/git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702" y="2349094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0168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630168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métodos de producción o distribución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630168" y="4526280"/>
            <a:ext cx="21488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30168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630168" y="4937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Just-in-time, automatización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163056" y="196596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EEF2FA"/>
          </a:solidFill>
          <a:ln/>
        </p:spPr>
      </p:sp>
      <p:sp>
        <p:nvSpPr>
          <p:cNvPr id="22" name="Shape 18"/>
          <p:cNvSpPr/>
          <p:nvPr/>
        </p:nvSpPr>
        <p:spPr>
          <a:xfrm>
            <a:off x="6391656" y="21945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2" descr="/home/claude/deck/icons/trendU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6190" y="2349094"/>
            <a:ext cx="285293" cy="28529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91656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391656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forma de crear y capturar valor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391656" y="4526280"/>
            <a:ext cx="21488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91656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391656" y="4937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Suscripción, marketplace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924544" y="196596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EEF2FA"/>
          </a:solidFill>
          <a:ln/>
        </p:spPr>
      </p:sp>
      <p:sp>
        <p:nvSpPr>
          <p:cNvPr id="30" name="Shape 25"/>
          <p:cNvSpPr/>
          <p:nvPr/>
        </p:nvSpPr>
        <p:spPr>
          <a:xfrm>
            <a:off x="9153144" y="21945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3" descr="/home/claude/deck/icons/fla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7678" y="2349094"/>
            <a:ext cx="285293" cy="285293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53144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153144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métodos de comercialización o diseño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9153144" y="4526280"/>
            <a:ext cx="21488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153144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9153144" y="4937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hacking, branding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CLASIFICACIÓN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Innovación incremental vs. radical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el grado de novedad y cambio que introducen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EEF2F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icons/trend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3609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progresivas sobre productos, procesos o servicios existentes. Bajo riesgo, adopción rápida.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4617720"/>
            <a:ext cx="475488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0" y="5029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versión de un smartphone, mejora de un algoritmo de recomendación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96596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6520" y="2194560"/>
            <a:ext cx="640080" cy="64008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5" name="Image 1" descr="/home/claude/deck/icons/bulb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236098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4652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Radical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446520" y="3474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profundos que rompen con lo existente y crean nuevas categorías de producto o mercado.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46520" y="4617720"/>
            <a:ext cx="4754880" cy="0"/>
          </a:xfrm>
          <a:prstGeom prst="line">
            <a:avLst/>
          </a:prstGeom>
          <a:noFill/>
          <a:ln w="12700">
            <a:solidFill>
              <a:srgbClr val="00C2D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4652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446520" y="5029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automóvil frente al carruaje, la IA generativa frente al software tradicional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CLAYTON CHRISTENSEN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Innovación sostenida vs. disruptiva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innovación sostenida mejora el producto para los clientes más exigentes de un mercado existente. La innovación disruptiva ingresa por abajo —más simple, barata o accesible— y termina desplazando a los líderes establecidos.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trend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0449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9077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Blockbuster → Netflix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3182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Alquiler físico desplazado por streaming accesible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deck/icons/trend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8221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6850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→ cámara digital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34440" y="3959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Kodak, líder del mercado anterior, no logró adaptarse a tiempo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deck/icons/trend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59943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4622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Taxis → Uber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34440" y="4736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más simple y accesible redefinió el mercado de transporte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537960" y="1417320"/>
            <a:ext cx="5029200" cy="4709160"/>
          </a:xfrm>
          <a:prstGeom prst="roundRect">
            <a:avLst>
              <a:gd name="adj" fmla="val 1553"/>
            </a:avLst>
          </a:prstGeom>
          <a:solidFill>
            <a:srgbClr val="EEF2FA"/>
          </a:solidFill>
          <a:ln/>
        </p:spPr>
      </p:sp>
      <p:sp>
        <p:nvSpPr>
          <p:cNvPr id="18" name="Text 13"/>
          <p:cNvSpPr/>
          <p:nvPr/>
        </p:nvSpPr>
        <p:spPr>
          <a:xfrm>
            <a:off x="681228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Trayectorias de desempeño</a:t>
            </a:r>
            <a:endParaRPr lang="en-US" sz="13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6720840" y="2011680"/>
          <a:ext cx="47091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EVERETT ROGERS, 1962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de difusión de innovaciones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adopta una novedad a lo largo del tiempo en un mercado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828800"/>
          <a:ext cx="69494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82880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1E2761"/>
          </a:solidFill>
          <a:ln/>
        </p:spPr>
      </p:sp>
      <p:sp>
        <p:nvSpPr>
          <p:cNvPr id="7" name="Shape 4"/>
          <p:cNvSpPr/>
          <p:nvPr/>
        </p:nvSpPr>
        <p:spPr>
          <a:xfrm>
            <a:off x="8138160" y="205740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8" name="Image 0" descr="/home/claude/deck/icons/compas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919" y="218815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3816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abismo ("the chasm")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138160" y="320040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Geoffrey Moore identificó una brecha crítica entre los adoptadores tempranos (entusiastas) y la mayoría temprana (pragmáticos). Muchos productos innovadores fracasan justo ahí, al no lograr el salto hacia el mercado masivo.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MOORE, 1965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Ley de Moore 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transistores en un chip de circuito integrado se duplica aproximadamente cada dos años, lo que mejora el rendimiento y reduce el costo de la tecnología. Ha sido una regla clave en la evolución de la computación durante seis décadas.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cp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39154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3794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crecimiento exponencial, no lineal: lo que empieza lento termina transformando industrias enteras.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0" y="1554480"/>
            <a:ext cx="5166360" cy="4572000"/>
          </a:xfrm>
          <a:prstGeom prst="roundRect">
            <a:avLst>
              <a:gd name="adj" fmla="val 1600"/>
            </a:avLst>
          </a:prstGeom>
          <a:solidFill>
            <a:srgbClr val="EEF2FA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Crecimiento exponencial (ilustrativo)</a:t>
            </a:r>
            <a:endParaRPr lang="en-US" sz="13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583680" y="2148840"/>
          <a:ext cx="48006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Y REFLEXIÓN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consecuencias directas de la Ley de Moore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65960"/>
            <a:ext cx="640080" cy="64008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6" name="Image 0" descr="/home/claude/deck/icons/char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transistores por chip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4290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miles a decenas de miles de millones de transistores por circuito integrado en cinco décadas.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15968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1" name="Image 1" descr="/home/claude/deck/icons/dolla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21323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Abaratamiento del almacenamiento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34290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por gigabyte de memoria y almacenamiento cayó de forma exponencial desde los años 50.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91856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247888" y="1965960"/>
            <a:ext cx="640080" cy="64008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6" name="Image 2" descr="/home/claude/deck/icons/trendU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4309" y="21323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7888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velocidad de transferencia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47888" y="34290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 megabit Ethernet (1980s) a 400 gigabit Ethernet (2020s): la red creció al mismo ritmo.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APLICADO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Cuarenta años de evolución en comunicación móvil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05840" y="3931920"/>
            <a:ext cx="101498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611880"/>
            <a:ext cx="640080" cy="6400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" y="4389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analógica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23260" y="3611880"/>
            <a:ext cx="640080" cy="6400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326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6606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83180" y="4389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digital, 14 kbps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760720" y="3611880"/>
            <a:ext cx="640080" cy="6400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20640" y="4389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multimedia, 2 Mbps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298180" y="3611880"/>
            <a:ext cx="640080" cy="6400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818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4098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58100" y="4389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HD, 300 Mbps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0835640" y="3611880"/>
            <a:ext cx="640080" cy="640080"/>
          </a:xfrm>
          <a:prstGeom prst="ellipse">
            <a:avLst/>
          </a:prstGeom>
          <a:solidFill>
            <a:srgbClr val="00C2D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3564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37844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195560" y="4389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VR, IoT, 1 Gbps+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40080" y="160020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EEF2F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1783080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generación multiplicó la velocidad de transferencia anterior por 10 o más, habilitando nuevos modelos de negocio: el streaming de video no existía comercialmente sin 4G, así como el IoT masivo depende de 5G.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ENTRE TECNOLOGÍA Y ORGANIZACIONES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Ley de la Disrupción y Martec's Law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03520" cy="4617720"/>
          </a:xfrm>
          <a:prstGeom prst="roundRect">
            <a:avLst>
              <a:gd name="adj" fmla="val 1584"/>
            </a:avLst>
          </a:prstGeom>
          <a:solidFill>
            <a:srgbClr val="EEF2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Ley de la Disrupción · Larry Downes, 2009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sistemas sociales, políticos y económicos cambian incrementalmente, pero la tecnología cambia exponencialmente."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914400" y="3246120"/>
          <a:ext cx="47548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50876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1691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Martec's Law · Scott Brinker, 2019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46520" y="2240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tecnología cambia de forma exponencial, pero las organizaciones sólo pueden cambiar de forma logarítmica. La gestión tecnológica consiste, entonces, en decidir bien qué cambios adoptar y cuándo.</a:t>
            </a:r>
            <a:endParaRPr lang="en-US" sz="125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6446520" y="3703320"/>
          <a:ext cx="48463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MERCADO · 2025-2026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carrera de inversión en tecnología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en infraestructura (capex) proyectada para 2026, impulsada por IA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874520"/>
          <a:ext cx="66751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87452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7" name="Shape 4"/>
          <p:cNvSpPr/>
          <p:nvPr/>
        </p:nvSpPr>
        <p:spPr>
          <a:xfrm>
            <a:off x="7909560" y="210312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8" name="Image 0" descr="/home/claude/deck/icons/trendU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206" y="2245766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09560" y="2743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de US$ 690 mil millones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909560" y="34290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Amazon, Microsoft, Alphabet y Meta planean invertir en infraestructura durante 2026, la mayoría en centros de datos e IA.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5623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reportes corporativos y prensa financiera, 2025-2026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DIAMANDIS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6D: el impacto del</a:t>
            </a:r>
            <a:endParaRPr lang="en-US" sz="34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crecimiento exponencial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framework para entender cómo una tecnología pasa de ser una curiosidad digital a transformar mercados completos, en seis etapas.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1B2560"/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370332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7" name="Image 0" descr="/home/claude/deck/icons/monito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" y="384596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35204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Digitalización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26280" y="35204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1B2560"/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90872" y="370332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1" name="Image 1" descr="/home/claude/deck/icons/trendDow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518" y="38459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35204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Decepción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0" y="35204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1B2560"/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94192" y="370332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5" name="Image 2" descr="/home/claude/deck/icons/bulb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838" y="384596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98280" y="35204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Disrupción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22960" y="47091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1B2560"/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87552" y="489204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9" name="Image 3" descr="/home/claude/deck/icons/dollar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198" y="5034686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47091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Desmonetización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526280" y="47091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1B2560"/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690872" y="489204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23" name="Image 4" descr="/home/claude/deck/icons/layers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3518" y="5034686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94960" y="47091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Desmaterialización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229600" y="47091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1B2560"/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394192" y="489204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27" name="Image 5" descr="/home/claude/deck/icons/globe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6838" y="503468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098280" y="47091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Democratización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6D DE DIAMANDIS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Digitalización  ·  Decepción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EEF2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80060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icons/moni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021" y="2040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Digitalización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cuando una tecnología pasa de la era analógica a la digital (representada por unos y ceros). Es poner un insumo, un concepto o una propuesta en un medio digital, lo que acelera el intercambio de ideas entre personas: “yo creo sobre tu idea, vos creás sobre la mía”.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1033272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eck/icons/trendDow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9141" y="20409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4652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Decepción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46520" y="301752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cuando un movimiento tiene, en apariencia, poco impacto: pasar del 0,01% al 0,02% de un mercado sigue pareciendo cercano a cero. Es el período en que sólo persisten los proyectos con convicción, hasta que la curva —siguiendo la Ley de Moore— empieza a duplicarse de forma exponencial.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6D DE DIAMANDIS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Disrupción  ·  Desmonetización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EEF2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80060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icons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021" y="2040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Disrupción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la decepción, el crecimiento empieza a quebrar los parámetros del mercado. El caso de Uber: comenzó como un movimiento ínfimo, con resistencia de los taxistas habituales, hasta volverse disruptivo. Irrumpe en un mercado para crear otro nuevo sobre la base del anterior, pero transformándolo.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1033272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eck/icons/doll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9141" y="20409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4652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Desmonetización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46520" y="301752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de acceso a un producto se acerca a cero: se remueve el dinero de la ecuación inicial. Muchas empresas exponenciales dan su producto gratis y monetizan por otras vías. Skype desmonetizó las llamadas de larga distancia; Craigslist, los avisos clasificados; The Huffington Post, los diarios.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6D DE DIAMANDIS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Desmaterialización  ·  Democratización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EEF2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80060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deck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021" y="2040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Desmaterialización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tecnología se vuelve disruptiva, tiende a desmaterializarse: los artículos tecnológicos suntuarios de los años 80 hoy son apps dentro de un solo dispositivo, muchas veces gratis. El GPS o la cámara de un celular ya no son objetos físicos independientes: viven todos juntos en tu bolsillo.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1033272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eck/icons/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9141" y="20409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4652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Democratización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46520" y="301752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estación terminal del viaje tecnológico: consecuencia lógica de la desmonetización y la desmaterialización de productos convertidos en bits sobre una plataforma digital. Implica acceso para toda la población, sin importar nivel socioeconómico, edad o geografía.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curva completa de las 6D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108813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PARA INNOVAR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Thinking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centrado en las personas para diseñar soluciones innovadoras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61872" y="2697480"/>
            <a:ext cx="658368" cy="658368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8" name="Image 0" descr="/home/claude/deck/icons/search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048" y="2868656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Empatizar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9319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profundamente las necesidades reales del usuario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97480" y="3794760"/>
            <a:ext cx="320040" cy="0"/>
          </a:xfrm>
          <a:prstGeom prst="line">
            <a:avLst/>
          </a:prstGeom>
          <a:noFill/>
          <a:ln w="19050">
            <a:solidFill>
              <a:srgbClr val="6B7593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2724912" y="205740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2A3577"/>
          </a:solidFill>
          <a:ln/>
        </p:spPr>
      </p:sp>
      <p:sp>
        <p:nvSpPr>
          <p:cNvPr id="13" name="Text 10"/>
          <p:cNvSpPr/>
          <p:nvPr/>
        </p:nvSpPr>
        <p:spPr>
          <a:xfrm>
            <a:off x="2907792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346704" y="2697480"/>
            <a:ext cx="658368" cy="658368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5" name="Image 1" descr="/home/claude/deck/icons/targe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7880" y="2868656"/>
            <a:ext cx="316017" cy="31601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62072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862072" y="39319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Sintetizar hallazgos en un problema claro y accionable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82312" y="3794760"/>
            <a:ext cx="320040" cy="0"/>
          </a:xfrm>
          <a:prstGeom prst="line">
            <a:avLst/>
          </a:prstGeom>
          <a:noFill/>
          <a:ln w="19050">
            <a:solidFill>
              <a:srgbClr val="6B7593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4809744" y="205740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20" name="Text 16"/>
          <p:cNvSpPr/>
          <p:nvPr/>
        </p:nvSpPr>
        <p:spPr>
          <a:xfrm>
            <a:off x="4992624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431536" y="2697480"/>
            <a:ext cx="658368" cy="658368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22" name="Image 2" descr="/home/claude/deck/icons/bulb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2712" y="2868656"/>
            <a:ext cx="316017" cy="31601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946904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Idear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946904" y="39319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la mayor cantidad posible de soluciones posibles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867144" y="3794760"/>
            <a:ext cx="320040" cy="0"/>
          </a:xfrm>
          <a:prstGeom prst="line">
            <a:avLst/>
          </a:prstGeom>
          <a:noFill/>
          <a:ln w="19050">
            <a:solidFill>
              <a:srgbClr val="6B7593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6894576" y="205740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2A3577"/>
          </a:solidFill>
          <a:ln/>
        </p:spPr>
      </p:sp>
      <p:sp>
        <p:nvSpPr>
          <p:cNvPr id="27" name="Text 22"/>
          <p:cNvSpPr/>
          <p:nvPr/>
        </p:nvSpPr>
        <p:spPr>
          <a:xfrm>
            <a:off x="7077456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7516368" y="2697480"/>
            <a:ext cx="658368" cy="658368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29" name="Image 3" descr="/home/claude/deck/icons/edi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7544" y="2868656"/>
            <a:ext cx="316017" cy="31601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31736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Prototipar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031736" y="39319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versiones simples y tangibles de las ideas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8951976" y="3794760"/>
            <a:ext cx="320040" cy="0"/>
          </a:xfrm>
          <a:prstGeom prst="line">
            <a:avLst/>
          </a:prstGeom>
          <a:noFill/>
          <a:ln w="19050">
            <a:solidFill>
              <a:srgbClr val="6B7593"/>
            </a:solidFill>
            <a:prstDash val="dash"/>
          </a:ln>
        </p:spPr>
      </p:sp>
      <p:sp>
        <p:nvSpPr>
          <p:cNvPr id="33" name="Shape 27"/>
          <p:cNvSpPr/>
          <p:nvPr/>
        </p:nvSpPr>
        <p:spPr>
          <a:xfrm>
            <a:off x="8979408" y="205740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34" name="Text 28"/>
          <p:cNvSpPr/>
          <p:nvPr/>
        </p:nvSpPr>
        <p:spPr>
          <a:xfrm>
            <a:off x="9162288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Shape 29"/>
          <p:cNvSpPr/>
          <p:nvPr/>
        </p:nvSpPr>
        <p:spPr>
          <a:xfrm>
            <a:off x="9601200" y="2697480"/>
            <a:ext cx="658368" cy="658368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36" name="Image 4" descr="/home/claude/deck/icons/check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2376" y="2868656"/>
            <a:ext cx="316017" cy="316017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116568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Testear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9116568" y="39319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prototipo con usuarios reales y ajustar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DISEÑO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bloques para diseñar, visualizar y cuestionar un modelo de negocio de un vistazo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920240" cy="1417320"/>
          </a:xfrm>
          <a:prstGeom prst="rect">
            <a:avLst/>
          </a:prstGeom>
          <a:solidFill>
            <a:srgbClr val="EEF2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39112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clave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0" y="1965960"/>
            <a:ext cx="1920240" cy="1417320"/>
          </a:xfrm>
          <a:prstGeom prst="rect">
            <a:avLst/>
          </a:prstGeom>
          <a:solidFill>
            <a:srgbClr val="EEF2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2039112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965960"/>
            <a:ext cx="2331720" cy="2889504"/>
          </a:xfrm>
          <a:prstGeom prst="rect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039112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12280" y="1965960"/>
            <a:ext cx="1920240" cy="1417320"/>
          </a:xfrm>
          <a:prstGeom prst="rect">
            <a:avLst/>
          </a:prstGeom>
          <a:solidFill>
            <a:srgbClr val="EEF2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85432" y="2039112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32520" y="1965960"/>
            <a:ext cx="1920240" cy="1417320"/>
          </a:xfrm>
          <a:prstGeom prst="rect">
            <a:avLst/>
          </a:prstGeom>
          <a:solidFill>
            <a:srgbClr val="EEF2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5672" y="2039112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438144"/>
            <a:ext cx="1920240" cy="1417320"/>
          </a:xfrm>
          <a:prstGeom prst="rect">
            <a:avLst/>
          </a:prstGeom>
          <a:solidFill>
            <a:srgbClr val="EEF2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3438144"/>
            <a:ext cx="1920240" cy="1417320"/>
          </a:xfrm>
          <a:prstGeom prst="rect">
            <a:avLst/>
          </a:prstGeom>
          <a:solidFill>
            <a:srgbClr val="EEF2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3511296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12280" y="3438144"/>
            <a:ext cx="1920240" cy="1417320"/>
          </a:xfrm>
          <a:prstGeom prst="rect">
            <a:avLst/>
          </a:prstGeom>
          <a:solidFill>
            <a:srgbClr val="EEF2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3511296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732520" y="3438144"/>
            <a:ext cx="1920240" cy="1417320"/>
          </a:xfrm>
          <a:prstGeom prst="rect">
            <a:avLst/>
          </a:prstGeom>
          <a:solidFill>
            <a:srgbClr val="EEF2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910328"/>
            <a:ext cx="5715000" cy="1051560"/>
          </a:xfrm>
          <a:prstGeom prst="rect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4910328"/>
            <a:ext cx="4800600" cy="1051560"/>
          </a:xfrm>
          <a:prstGeom prst="rect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4983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BLOQUE TEÓRICO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vimos hasta acá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641464" cy="1234440"/>
          </a:xfrm>
          <a:prstGeom prst="roundRect">
            <a:avLst>
              <a:gd name="adj" fmla="val 4706"/>
            </a:avLst>
          </a:prstGeom>
          <a:solidFill>
            <a:srgbClr val="1B2560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05740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6" name="Image 0" descr="/home/claude/deck/icons/boo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206" y="22000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93392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vs. creatividad vs. invención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921624" y="2283848"/>
            <a:ext cx="2805954" cy="1207008"/>
          </a:xfrm>
          <a:prstGeom prst="roundRect">
            <a:avLst>
              <a:gd name="adj" fmla="val 4706"/>
            </a:avLst>
          </a:prstGeom>
          <a:solidFill>
            <a:srgbClr val="1B2560"/>
          </a:solidFill>
          <a:ln/>
        </p:spPr>
      </p:sp>
      <p:sp>
        <p:nvSpPr>
          <p:cNvPr id="9" name="Shape 6"/>
          <p:cNvSpPr/>
          <p:nvPr/>
        </p:nvSpPr>
        <p:spPr>
          <a:xfrm>
            <a:off x="5018550" y="2172237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0" name="Image 1" descr="/home/claude/deck/icons/puzzl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9861" y="2342693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96390" y="2324457"/>
            <a:ext cx="2528047" cy="94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innovación: objeto, incremental/radical, sostenida/disruptiva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891863" y="2057399"/>
            <a:ext cx="3839889" cy="1457553"/>
          </a:xfrm>
          <a:prstGeom prst="roundRect">
            <a:avLst>
              <a:gd name="adj" fmla="val 4706"/>
            </a:avLst>
          </a:prstGeom>
          <a:solidFill>
            <a:srgbClr val="1B2560"/>
          </a:solidFill>
          <a:ln/>
        </p:spPr>
      </p:sp>
      <p:sp>
        <p:nvSpPr>
          <p:cNvPr id="13" name="Shape 9"/>
          <p:cNvSpPr/>
          <p:nvPr/>
        </p:nvSpPr>
        <p:spPr>
          <a:xfrm>
            <a:off x="8152844" y="2138727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4" name="Image 2" descr="/home/claude/deck/icons/compas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011" y="2281374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05011" y="2455217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difusión de Rogers y el abismo de Moore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2960" y="4028846"/>
            <a:ext cx="4426772" cy="1183234"/>
          </a:xfrm>
          <a:prstGeom prst="roundRect">
            <a:avLst>
              <a:gd name="adj" fmla="val 4706"/>
            </a:avLst>
          </a:prstGeom>
          <a:solidFill>
            <a:srgbClr val="1B2560"/>
          </a:solidFill>
          <a:ln/>
        </p:spPr>
      </p:sp>
      <p:sp>
        <p:nvSpPr>
          <p:cNvPr id="17" name="Shape 12"/>
          <p:cNvSpPr/>
          <p:nvPr/>
        </p:nvSpPr>
        <p:spPr>
          <a:xfrm>
            <a:off x="1051560" y="388620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8" name="Image 3" descr="/home/claude/deck/icons/cpu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4206" y="402884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83080" y="3822192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Moore, Ley de la Disrupción y Martec's Law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78332" y="3700682"/>
            <a:ext cx="3090026" cy="1527534"/>
          </a:xfrm>
          <a:prstGeom prst="roundRect">
            <a:avLst>
              <a:gd name="adj" fmla="val 4706"/>
            </a:avLst>
          </a:prstGeom>
          <a:solidFill>
            <a:srgbClr val="1B2560"/>
          </a:solidFill>
          <a:ln/>
        </p:spPr>
      </p:sp>
      <p:sp>
        <p:nvSpPr>
          <p:cNvPr id="21" name="Shape 15"/>
          <p:cNvSpPr/>
          <p:nvPr/>
        </p:nvSpPr>
        <p:spPr>
          <a:xfrm>
            <a:off x="5801061" y="3822192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22" name="Image 4" descr="/home/claude/deck/icons/layers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1884" y="3941704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72277" y="41986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las 6D de Diamandis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869464" y="4434840"/>
            <a:ext cx="3090026" cy="1426462"/>
          </a:xfrm>
          <a:prstGeom prst="roundRect">
            <a:avLst>
              <a:gd name="adj" fmla="val 4706"/>
            </a:avLst>
          </a:prstGeom>
          <a:solidFill>
            <a:srgbClr val="1B2560"/>
          </a:solidFill>
          <a:ln/>
        </p:spPr>
      </p:sp>
      <p:sp>
        <p:nvSpPr>
          <p:cNvPr id="25" name="Shape 18"/>
          <p:cNvSpPr/>
          <p:nvPr/>
        </p:nvSpPr>
        <p:spPr>
          <a:xfrm>
            <a:off x="9006840" y="454150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26" name="Image 5" descr="/home/claude/deck/icons/edit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2714" y="4684146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30983" y="4887144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y Business Model Canvas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828800"/>
            <a:ext cx="1005840" cy="10058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3" name="Image 0" descr="/home/claude/deck/icons/coffe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074" y="2090318"/>
            <a:ext cx="482803" cy="4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0632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volvemos</a:t>
            </a: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las 15:30 con el taller práctico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2A3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822960" y="3246120"/>
            <a:ext cx="822960" cy="82296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4" name="Image 0" descr="/home/claude/deck/icons/edi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930" y="346009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3291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2 · Taller práctico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965960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equipos sobre el TPO: </a:t>
            </a:r>
            <a:r>
              <a:rPr lang="en-US" sz="15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SaaS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OBLIGATORIO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debe contemplar el proyecto SaaS?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 hasta 5 personas (máx. 10 equipos) · defensa en dos fechas · evaluación grupal e individual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3152" cy="548640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problemas reales en una industria específica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73152" cy="548640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60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clientes reales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236976"/>
            <a:ext cx="73152" cy="548640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18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y diseño de un producto digital (prototipo navegable)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895344"/>
            <a:ext cx="73152" cy="548640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8770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comercialización y marketing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553712"/>
            <a:ext cx="73152" cy="548640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5354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económica y financiera del proyecto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5212080"/>
            <a:ext cx="73152" cy="548640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937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del proyecto en formato Pitch Competition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taller de esta clase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vamos a avanzar sobre los tres primeros pilares del TPO, en equipo: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46120" y="2331720"/>
            <a:ext cx="594360" cy="59436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8" name="Image 0" descr="/home/claude/deck/icons/search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654" y="248625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3063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Identificar el problema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6112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real, en una industria concreta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207159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6922008" y="2331720"/>
            <a:ext cx="594360" cy="59436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4" name="Image 1" descr="/home/claude/deck/icons/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542" y="248625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3063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el cliente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72000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 le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duele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ese problema, con qué frecuencia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991856" y="21031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8247888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10597896" y="2331720"/>
            <a:ext cx="594360" cy="59436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20" name="Image 2" descr="/home/claude/deck/icons/targe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2430" y="248625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47888" y="3063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Esbozar la propuesta de valor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247888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tu solución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alivia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mejor que las alternativas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de los equipos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3152" cy="548640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733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Formen equipos de hasta 5 personas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equipos que van a defender el TPO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73152" cy="548640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694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Asignen roles livianos para hoy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28895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Un/a facilitador/a de la charla, un/a responsable de tomar notas, un/a vocero/a para la puesta en común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483864"/>
            <a:ext cx="73152" cy="548640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6557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 breakout rooms de Teams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378561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trabaja en su propia sala; el docente pasa por las salas para acompañar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79976"/>
            <a:ext cx="73152" cy="548640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61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Documenten en un espacio compartido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46817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Docs, Notion o el medio que prefieran; eso queda como base para el TPO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Identificar un problema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deck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17327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459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problema es específico, observable y </a:t>
            </a:r>
            <a:r>
              <a:rPr lang="en-US" sz="1350" i="1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duele</a:t>
            </a:r>
            <a:r>
              <a:rPr lang="en-US" sz="135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350" i="1" dirty="0" err="1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</a:t>
            </a:r>
            <a:r>
              <a:rPr lang="en-US" sz="135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concreto — no una idea de solución disfrazada de problema.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EEF2F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guía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3758184"/>
            <a:ext cx="82296" cy="82296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611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industria conocen bien (por trabajo, hobby o experiencia personal)?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14400" y="4443984"/>
            <a:ext cx="82296" cy="82296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2" name="Text 9"/>
          <p:cNvSpPr/>
          <p:nvPr/>
        </p:nvSpPr>
        <p:spPr>
          <a:xfrm>
            <a:off x="1115568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tarea sigue siendo lenta, cara o frustrante ahí?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5129784"/>
            <a:ext cx="82296" cy="82296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4983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resuelve ese problema la gente hoy? ¿Con qué herramientas o atajos?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14400" y="5815584"/>
            <a:ext cx="82296" cy="82296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6" name="Text 13"/>
          <p:cNvSpPr/>
          <p:nvPr/>
        </p:nvSpPr>
        <p:spPr>
          <a:xfrm>
            <a:off x="1115568" y="5669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las soluciones actuales no alcanzan?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309360" y="306324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hoy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83680" y="374904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frase de problema, del estilo: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“[Segmento de personas] tiene dificultad para [tarea], porque [causa], lo que provoca [consecuencia].”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el cliente / segmento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deck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17327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459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alcanza con decir “empresas” o “jóvenes”: cuanto más específico el segmento, más clara la propuesta de valor.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EF2FA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es?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" y="37490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industria, tamaño de empresa o perfil demográfico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01568" y="3063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/>
          <p:nvPr/>
        </p:nvSpPr>
        <p:spPr>
          <a:xfrm>
            <a:off x="3602736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necesita?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02736" y="37490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que persigue y obstáculos que enfrenta hoy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63056" y="3063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EF2FA"/>
          </a:solidFill>
          <a:ln/>
        </p:spPr>
      </p:sp>
      <p:sp>
        <p:nvSpPr>
          <p:cNvPr id="14" name="Text 11"/>
          <p:cNvSpPr/>
          <p:nvPr/>
        </p:nvSpPr>
        <p:spPr>
          <a:xfrm>
            <a:off x="6364224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está?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64224" y="37490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Canales, comunidades y herramientas que ya usa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924544" y="3063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EEF2FA"/>
          </a:solidFill>
          <a:ln/>
        </p:spPr>
      </p:sp>
      <p:sp>
        <p:nvSpPr>
          <p:cNvPr id="17" name="Text 14"/>
          <p:cNvSpPr/>
          <p:nvPr/>
        </p:nvSpPr>
        <p:spPr>
          <a:xfrm>
            <a:off x="9125712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lo frustra?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125712" y="37490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hoy le hace perder tiempo, dinero o calidad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Esbozar la propuesta de valor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simplificada del Value Proposition Canvas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trendDow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20509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019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80160" y="2194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 molesta, cuesta o frustra al cliente hoy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deck/icons/fl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01111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80160" y="3154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está tratando de lograr (funcional, social, emocional)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deck/icons/trendU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397123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8221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esperados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80160" y="4114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resultado o alivio busca obtener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309360" y="4892040"/>
            <a:ext cx="0" cy="0"/>
          </a:xfrm>
          <a:prstGeom prst="roundRect">
            <a:avLst/>
          </a:prstGeom>
          <a:noFill/>
          <a:ln/>
        </p:spPr>
      </p:sp>
      <p:sp>
        <p:nvSpPr>
          <p:cNvPr id="18" name="Shape 13"/>
          <p:cNvSpPr/>
          <p:nvPr/>
        </p:nvSpPr>
        <p:spPr>
          <a:xfrm>
            <a:off x="5257800" y="310896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9" name="Image 3" descr="/home/claude/deck/icons/arrowRigh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8559" y="3239719"/>
            <a:ext cx="241402" cy="24140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035040" y="182880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63093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 propuesta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309360" y="2660904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3" name="Text 17"/>
          <p:cNvSpPr/>
          <p:nvPr/>
        </p:nvSpPr>
        <p:spPr>
          <a:xfrm>
            <a:off x="653796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Aliviadores de dolor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537960" y="282549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tu producto elimina o reduce esos dolores específicos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309360" y="3712464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6" name="Text 20"/>
          <p:cNvSpPr/>
          <p:nvPr/>
        </p:nvSpPr>
        <p:spPr>
          <a:xfrm>
            <a:off x="6537960" y="3566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Generadores de beneficio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537960" y="387705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tu producto crea los resultados que el cliente espera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309360" y="4764024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9" name="Text 23"/>
          <p:cNvSpPr/>
          <p:nvPr/>
        </p:nvSpPr>
        <p:spPr>
          <a:xfrm>
            <a:off x="6537960" y="4617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/ servicios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537960" y="492861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ofrece concretamente tu SaaS (funcionalidades núcleo)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PUESTA EN COMÚN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del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3152" cy="548640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733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Problema redactado en una frase clara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la estructura: segmento + tarea + causa + consecuencia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73152" cy="548640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694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Segmento de cliente específico y verificable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28895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"todos", tiene un perfil identificable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483864"/>
            <a:ext cx="73152" cy="548640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6557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Propuesta de valor conectada al dolor real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378561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beneficio responde a un dolor o tarea mencionados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79976"/>
            <a:ext cx="73152" cy="548640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61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Un/a vocero/a designado/a para presentar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46817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minutos, foco en problema + cliente + propuesta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 avanzando en equipo con la validación del problema y el cliente: en la próxima clase profundizamos en propuesta de valor y prototipo navegable.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00C2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7" name="Image 0" descr="/home/claude/deck/icons/messag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3251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4224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mariobarrios@uade.edu.ar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E INNOVACIÓN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DBA4C13E70F5418B418D8012459F21" ma:contentTypeVersion="3" ma:contentTypeDescription="Crear nuevo documento." ma:contentTypeScope="" ma:versionID="0a304ccaa1773ffe5d2b1e682fa7860d">
  <xsd:schema xmlns:xsd="http://www.w3.org/2001/XMLSchema" xmlns:xs="http://www.w3.org/2001/XMLSchema" xmlns:p="http://schemas.microsoft.com/office/2006/metadata/properties" xmlns:ns2="de7ef2da-48b3-49aa-9fec-64c55b664b94" targetNamespace="http://schemas.microsoft.com/office/2006/metadata/properties" ma:root="true" ma:fieldsID="cf8310444cf7183a730381c58d7a84d3" ns2:_="">
    <xsd:import namespace="de7ef2da-48b3-49aa-9fec-64c55b664b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7ef2da-48b3-49aa-9fec-64c55b664b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69D63A-92B6-4454-A045-55CDC25E5AB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814B960-EF8B-4453-B55D-985B321465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7ef2da-48b3-49aa-9fec-64c55b664b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CA2BCE-0810-48C5-B0B5-1E4A070FC8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3195</Words>
  <Application>Microsoft Office PowerPoint</Application>
  <PresentationFormat>Panorámica</PresentationFormat>
  <Paragraphs>499</Paragraphs>
  <Slides>38</Slides>
  <Notes>38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</vt:lpstr>
      <vt:lpstr>Google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BARRIOS MARIO RUBEN</cp:lastModifiedBy>
  <cp:revision>29</cp:revision>
  <dcterms:created xsi:type="dcterms:W3CDTF">2026-08-02T21:35:57Z</dcterms:created>
  <dcterms:modified xsi:type="dcterms:W3CDTF">2026-08-18T18:15:29Z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0x0101008EDBA4C13E70F5418B418D8012459F21</vt:lpwstr>
  </property>
</Properties>
</file>