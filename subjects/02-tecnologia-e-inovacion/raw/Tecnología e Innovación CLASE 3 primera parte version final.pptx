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  <p:sldMasterId id="2147483673" r:id="rId6"/>
  </p:sldMasterIdLst>
  <p:sldIdLst>
    <p:sldId id="257" r:id="rId7"/>
    <p:sldId id="351" r:id="rId8"/>
    <p:sldId id="334" r:id="rId9"/>
    <p:sldId id="335" r:id="rId10"/>
    <p:sldId id="358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4" r:id="rId19"/>
    <p:sldId id="343" r:id="rId20"/>
    <p:sldId id="345" r:id="rId21"/>
    <p:sldId id="347" r:id="rId22"/>
    <p:sldId id="348" r:id="rId23"/>
    <p:sldId id="349" r:id="rId24"/>
    <p:sldId id="352" r:id="rId25"/>
    <p:sldId id="353" r:id="rId26"/>
    <p:sldId id="354" r:id="rId27"/>
    <p:sldId id="355" r:id="rId28"/>
    <p:sldId id="356" r:id="rId29"/>
    <p:sldId id="357" r:id="rId30"/>
    <p:sldId id="359" r:id="rId31"/>
    <p:sldId id="361" r:id="rId32"/>
    <p:sldId id="362" r:id="rId33"/>
    <p:sldId id="360" r:id="rId34"/>
    <p:sldId id="363" r:id="rId35"/>
    <p:sldId id="364" r:id="rId36"/>
    <p:sldId id="346" r:id="rId37"/>
    <p:sldId id="350" r:id="rId38"/>
    <p:sldId id="368" r:id="rId39"/>
    <p:sldId id="365" r:id="rId40"/>
    <p:sldId id="366" r:id="rId4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3A256-FF55-2A0F-9B28-D44C7F19AA7A}" v="1" dt="2026-08-25T12:35:37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microsoft.com/office/2016/11/relationships/changesInfo" Target="changesInfos/changesInfo1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IOS MARIO RUBEN" userId="S::mariobarrios@uade.edu.ar::fc098f47-674c-4f01-a6db-213ca245e104" providerId="AD" clId="Web-{5133A256-FF55-2A0F-9B28-D44C7F19AA7A}"/>
    <pc:docChg chg="delSld">
      <pc:chgData name="BARRIOS MARIO RUBEN" userId="S::mariobarrios@uade.edu.ar::fc098f47-674c-4f01-a6db-213ca245e104" providerId="AD" clId="Web-{5133A256-FF55-2A0F-9B28-D44C7F19AA7A}" dt="2026-08-25T12:35:37.876" v="0"/>
      <pc:docMkLst>
        <pc:docMk/>
      </pc:docMkLst>
      <pc:sldChg chg="del">
        <pc:chgData name="BARRIOS MARIO RUBEN" userId="S::mariobarrios@uade.edu.ar::fc098f47-674c-4f01-a6db-213ca245e104" providerId="AD" clId="Web-{5133A256-FF55-2A0F-9B28-D44C7F19AA7A}" dt="2026-08-25T12:35:37.876" v="0"/>
        <pc:sldMkLst>
          <pc:docMk/>
          <pc:sldMk cId="3218762878" sldId="36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0718F2-3F35-4543-B4F0-2EBC83029861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701A4A82-F962-4BFA-A6B6-910F69D5CEC5}">
      <dgm:prSet/>
      <dgm:spPr/>
      <dgm:t>
        <a:bodyPr/>
        <a:lstStyle/>
        <a:p>
          <a:r>
            <a:rPr lang="es-AR"/>
            <a:t>Internet</a:t>
          </a:r>
          <a:endParaRPr lang="en-US"/>
        </a:p>
      </dgm:t>
    </dgm:pt>
    <dgm:pt modelId="{783D8737-5516-4EDC-991C-C64F1337EC52}" type="parTrans" cxnId="{A0344A8A-1453-415F-AFD8-60C384A12881}">
      <dgm:prSet/>
      <dgm:spPr/>
      <dgm:t>
        <a:bodyPr/>
        <a:lstStyle/>
        <a:p>
          <a:endParaRPr lang="en-US"/>
        </a:p>
      </dgm:t>
    </dgm:pt>
    <dgm:pt modelId="{C6980C1E-18D6-4F4E-A7FF-69FA54B0783B}" type="sibTrans" cxnId="{A0344A8A-1453-415F-AFD8-60C384A12881}">
      <dgm:prSet/>
      <dgm:spPr/>
      <dgm:t>
        <a:bodyPr/>
        <a:lstStyle/>
        <a:p>
          <a:endParaRPr lang="en-US"/>
        </a:p>
      </dgm:t>
    </dgm:pt>
    <dgm:pt modelId="{ACAB0E3C-5D69-4FFB-B362-3BD468227337}">
      <dgm:prSet/>
      <dgm:spPr/>
      <dgm:t>
        <a:bodyPr/>
        <a:lstStyle/>
        <a:p>
          <a:r>
            <a:rPr lang="es-AR"/>
            <a:t>Smartphones</a:t>
          </a:r>
          <a:endParaRPr lang="en-US"/>
        </a:p>
      </dgm:t>
    </dgm:pt>
    <dgm:pt modelId="{FCEBE690-6FB4-4697-BF43-D2DD19200786}" type="parTrans" cxnId="{300C4E23-CAC4-49A1-A596-4A5804FE8160}">
      <dgm:prSet/>
      <dgm:spPr/>
      <dgm:t>
        <a:bodyPr/>
        <a:lstStyle/>
        <a:p>
          <a:endParaRPr lang="en-US"/>
        </a:p>
      </dgm:t>
    </dgm:pt>
    <dgm:pt modelId="{C6AF79D9-0C43-46B4-8257-37222ABE88C0}" type="sibTrans" cxnId="{300C4E23-CAC4-49A1-A596-4A5804FE8160}">
      <dgm:prSet/>
      <dgm:spPr/>
      <dgm:t>
        <a:bodyPr/>
        <a:lstStyle/>
        <a:p>
          <a:endParaRPr lang="en-US"/>
        </a:p>
      </dgm:t>
    </dgm:pt>
    <dgm:pt modelId="{6BD3FB93-21E8-405E-BA12-8C934633B263}">
      <dgm:prSet/>
      <dgm:spPr/>
      <dgm:t>
        <a:bodyPr/>
        <a:lstStyle/>
        <a:p>
          <a:r>
            <a:rPr lang="es-AR"/>
            <a:t>Inteligencia Artificial</a:t>
          </a:r>
          <a:endParaRPr lang="en-US"/>
        </a:p>
      </dgm:t>
    </dgm:pt>
    <dgm:pt modelId="{E034EF1F-75C3-4991-A9D9-C9FFCA251F7A}" type="parTrans" cxnId="{D5DCCBB4-088F-4809-B021-3348DFEF70D5}">
      <dgm:prSet/>
      <dgm:spPr/>
      <dgm:t>
        <a:bodyPr/>
        <a:lstStyle/>
        <a:p>
          <a:endParaRPr lang="en-US"/>
        </a:p>
      </dgm:t>
    </dgm:pt>
    <dgm:pt modelId="{68EE5FE6-D86B-41AE-8AB3-4ADF8D79DDEF}" type="sibTrans" cxnId="{D5DCCBB4-088F-4809-B021-3348DFEF70D5}">
      <dgm:prSet/>
      <dgm:spPr/>
      <dgm:t>
        <a:bodyPr/>
        <a:lstStyle/>
        <a:p>
          <a:endParaRPr lang="en-US"/>
        </a:p>
      </dgm:t>
    </dgm:pt>
    <dgm:pt modelId="{8B3E917C-EBB3-43E5-B4E7-407160B60830}">
      <dgm:prSet/>
      <dgm:spPr/>
      <dgm:t>
        <a:bodyPr/>
        <a:lstStyle/>
        <a:p>
          <a:r>
            <a:rPr lang="es-AR"/>
            <a:t>Cloud Computing</a:t>
          </a:r>
          <a:endParaRPr lang="en-US"/>
        </a:p>
      </dgm:t>
    </dgm:pt>
    <dgm:pt modelId="{E2C3F1A8-71D9-44B7-95E8-6075837E64B5}" type="parTrans" cxnId="{B60582B7-3B3D-430F-BF21-4A666AEB43DE}">
      <dgm:prSet/>
      <dgm:spPr/>
      <dgm:t>
        <a:bodyPr/>
        <a:lstStyle/>
        <a:p>
          <a:endParaRPr lang="en-US"/>
        </a:p>
      </dgm:t>
    </dgm:pt>
    <dgm:pt modelId="{A2332130-24C4-4C3E-8165-3D1341D53C18}" type="sibTrans" cxnId="{B60582B7-3B3D-430F-BF21-4A666AEB43DE}">
      <dgm:prSet/>
      <dgm:spPr/>
      <dgm:t>
        <a:bodyPr/>
        <a:lstStyle/>
        <a:p>
          <a:endParaRPr lang="en-US"/>
        </a:p>
      </dgm:t>
    </dgm:pt>
    <dgm:pt modelId="{B224F7A5-D52A-408C-A71A-0883A4C668D0}" type="pres">
      <dgm:prSet presAssocID="{9C0718F2-3F35-4543-B4F0-2EBC83029861}" presName="root" presStyleCnt="0">
        <dgm:presLayoutVars>
          <dgm:dir/>
          <dgm:resizeHandles val="exact"/>
        </dgm:presLayoutVars>
      </dgm:prSet>
      <dgm:spPr/>
    </dgm:pt>
    <dgm:pt modelId="{1C64DBBB-27E6-4214-972E-21E116FF13AD}" type="pres">
      <dgm:prSet presAssocID="{701A4A82-F962-4BFA-A6B6-910F69D5CEC5}" presName="compNode" presStyleCnt="0"/>
      <dgm:spPr/>
    </dgm:pt>
    <dgm:pt modelId="{E9C40E3F-3566-4E79-B611-BDD0D244BEE0}" type="pres">
      <dgm:prSet presAssocID="{701A4A82-F962-4BFA-A6B6-910F69D5CEC5}" presName="bgRect" presStyleLbl="bgShp" presStyleIdx="0" presStyleCnt="4"/>
      <dgm:spPr>
        <a:noFill/>
      </dgm:spPr>
    </dgm:pt>
    <dgm:pt modelId="{0890930F-09D2-4C4D-A548-9CA8092A5030}" type="pres">
      <dgm:prSet presAssocID="{701A4A82-F962-4BFA-A6B6-910F69D5CEC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B1B241BD-661A-4651-852D-DB2DFB50F3A8}" type="pres">
      <dgm:prSet presAssocID="{701A4A82-F962-4BFA-A6B6-910F69D5CEC5}" presName="spaceRect" presStyleCnt="0"/>
      <dgm:spPr/>
    </dgm:pt>
    <dgm:pt modelId="{4BCC4ADD-3E25-4488-9040-699E1B15CB23}" type="pres">
      <dgm:prSet presAssocID="{701A4A82-F962-4BFA-A6B6-910F69D5CEC5}" presName="parTx" presStyleLbl="revTx" presStyleIdx="0" presStyleCnt="4">
        <dgm:presLayoutVars>
          <dgm:chMax val="0"/>
          <dgm:chPref val="0"/>
        </dgm:presLayoutVars>
      </dgm:prSet>
      <dgm:spPr/>
    </dgm:pt>
    <dgm:pt modelId="{01EB19C6-1BF2-4B90-9F4D-94E1E9FFBE76}" type="pres">
      <dgm:prSet presAssocID="{C6980C1E-18D6-4F4E-A7FF-69FA54B0783B}" presName="sibTrans" presStyleCnt="0"/>
      <dgm:spPr/>
    </dgm:pt>
    <dgm:pt modelId="{0FDEFE36-6765-4A5E-845F-BAC4AEE48CB3}" type="pres">
      <dgm:prSet presAssocID="{ACAB0E3C-5D69-4FFB-B362-3BD468227337}" presName="compNode" presStyleCnt="0"/>
      <dgm:spPr/>
    </dgm:pt>
    <dgm:pt modelId="{5CF6B24B-0C90-4C6E-B41C-92976E310D80}" type="pres">
      <dgm:prSet presAssocID="{ACAB0E3C-5D69-4FFB-B362-3BD468227337}" presName="bgRect" presStyleLbl="bgShp" presStyleIdx="1" presStyleCnt="4"/>
      <dgm:spPr>
        <a:noFill/>
      </dgm:spPr>
    </dgm:pt>
    <dgm:pt modelId="{4F76AA5C-EE47-4766-8C3B-FC3CEE17919E}" type="pres">
      <dgm:prSet presAssocID="{ACAB0E3C-5D69-4FFB-B362-3BD46822733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AB53FF5-666C-4E48-839B-BE5117B54F0F}" type="pres">
      <dgm:prSet presAssocID="{ACAB0E3C-5D69-4FFB-B362-3BD468227337}" presName="spaceRect" presStyleCnt="0"/>
      <dgm:spPr/>
    </dgm:pt>
    <dgm:pt modelId="{55396818-CD4D-4F95-9CAF-1A420A00DF7C}" type="pres">
      <dgm:prSet presAssocID="{ACAB0E3C-5D69-4FFB-B362-3BD468227337}" presName="parTx" presStyleLbl="revTx" presStyleIdx="1" presStyleCnt="4">
        <dgm:presLayoutVars>
          <dgm:chMax val="0"/>
          <dgm:chPref val="0"/>
        </dgm:presLayoutVars>
      </dgm:prSet>
      <dgm:spPr/>
    </dgm:pt>
    <dgm:pt modelId="{7BA3959B-B4B5-49C3-BAE3-79B7AC6F68D4}" type="pres">
      <dgm:prSet presAssocID="{C6AF79D9-0C43-46B4-8257-37222ABE88C0}" presName="sibTrans" presStyleCnt="0"/>
      <dgm:spPr/>
    </dgm:pt>
    <dgm:pt modelId="{D38C5DDD-BC2E-471C-BBBB-9E9C0A9C5300}" type="pres">
      <dgm:prSet presAssocID="{6BD3FB93-21E8-405E-BA12-8C934633B263}" presName="compNode" presStyleCnt="0"/>
      <dgm:spPr/>
    </dgm:pt>
    <dgm:pt modelId="{452620F1-6FBB-4D2A-A8DF-C1293903D415}" type="pres">
      <dgm:prSet presAssocID="{6BD3FB93-21E8-405E-BA12-8C934633B263}" presName="bgRect" presStyleLbl="bgShp" presStyleIdx="2" presStyleCnt="4"/>
      <dgm:spPr>
        <a:noFill/>
      </dgm:spPr>
    </dgm:pt>
    <dgm:pt modelId="{EB269D05-E71E-45E5-BB69-2356816F48FA}" type="pres">
      <dgm:prSet presAssocID="{6BD3FB93-21E8-405E-BA12-8C934633B26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6143ECB-C5DA-4402-A556-B0AC69CFAB7E}" type="pres">
      <dgm:prSet presAssocID="{6BD3FB93-21E8-405E-BA12-8C934633B263}" presName="spaceRect" presStyleCnt="0"/>
      <dgm:spPr/>
    </dgm:pt>
    <dgm:pt modelId="{E32D0615-46B1-450E-A35E-C4E45E653A36}" type="pres">
      <dgm:prSet presAssocID="{6BD3FB93-21E8-405E-BA12-8C934633B263}" presName="parTx" presStyleLbl="revTx" presStyleIdx="2" presStyleCnt="4">
        <dgm:presLayoutVars>
          <dgm:chMax val="0"/>
          <dgm:chPref val="0"/>
        </dgm:presLayoutVars>
      </dgm:prSet>
      <dgm:spPr/>
    </dgm:pt>
    <dgm:pt modelId="{371CEEF8-3181-4151-B4AA-1C81A199409C}" type="pres">
      <dgm:prSet presAssocID="{68EE5FE6-D86B-41AE-8AB3-4ADF8D79DDEF}" presName="sibTrans" presStyleCnt="0"/>
      <dgm:spPr/>
    </dgm:pt>
    <dgm:pt modelId="{ADA32F3D-480B-4932-84AC-25C958710B44}" type="pres">
      <dgm:prSet presAssocID="{8B3E917C-EBB3-43E5-B4E7-407160B60830}" presName="compNode" presStyleCnt="0"/>
      <dgm:spPr/>
    </dgm:pt>
    <dgm:pt modelId="{CC9FFA5D-FE54-4106-ADF9-E43369C86749}" type="pres">
      <dgm:prSet presAssocID="{8B3E917C-EBB3-43E5-B4E7-407160B60830}" presName="bgRect" presStyleLbl="bgShp" presStyleIdx="3" presStyleCnt="4"/>
      <dgm:spPr>
        <a:noFill/>
      </dgm:spPr>
    </dgm:pt>
    <dgm:pt modelId="{2779B387-2B96-431B-AED7-AEDC2C8709A1}" type="pres">
      <dgm:prSet presAssocID="{8B3E917C-EBB3-43E5-B4E7-407160B6083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be"/>
        </a:ext>
      </dgm:extLst>
    </dgm:pt>
    <dgm:pt modelId="{5A1D7AC4-3E64-46BE-A7FC-3EB07BFED41C}" type="pres">
      <dgm:prSet presAssocID="{8B3E917C-EBB3-43E5-B4E7-407160B60830}" presName="spaceRect" presStyleCnt="0"/>
      <dgm:spPr/>
    </dgm:pt>
    <dgm:pt modelId="{D8D5AC4E-85F6-4B09-9830-020DC8343AD2}" type="pres">
      <dgm:prSet presAssocID="{8B3E917C-EBB3-43E5-B4E7-407160B6083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00C4E23-CAC4-49A1-A596-4A5804FE8160}" srcId="{9C0718F2-3F35-4543-B4F0-2EBC83029861}" destId="{ACAB0E3C-5D69-4FFB-B362-3BD468227337}" srcOrd="1" destOrd="0" parTransId="{FCEBE690-6FB4-4697-BF43-D2DD19200786}" sibTransId="{C6AF79D9-0C43-46B4-8257-37222ABE88C0}"/>
    <dgm:cxn modelId="{EA2F5C82-1DE7-4673-A59F-E834A7080208}" type="presOf" srcId="{9C0718F2-3F35-4543-B4F0-2EBC83029861}" destId="{B224F7A5-D52A-408C-A71A-0883A4C668D0}" srcOrd="0" destOrd="0" presId="urn:microsoft.com/office/officeart/2018/2/layout/IconVerticalSolidList"/>
    <dgm:cxn modelId="{A0344A8A-1453-415F-AFD8-60C384A12881}" srcId="{9C0718F2-3F35-4543-B4F0-2EBC83029861}" destId="{701A4A82-F962-4BFA-A6B6-910F69D5CEC5}" srcOrd="0" destOrd="0" parTransId="{783D8737-5516-4EDC-991C-C64F1337EC52}" sibTransId="{C6980C1E-18D6-4F4E-A7FF-69FA54B0783B}"/>
    <dgm:cxn modelId="{C81F9391-ABFF-4702-8056-70505ED1A15D}" type="presOf" srcId="{ACAB0E3C-5D69-4FFB-B362-3BD468227337}" destId="{55396818-CD4D-4F95-9CAF-1A420A00DF7C}" srcOrd="0" destOrd="0" presId="urn:microsoft.com/office/officeart/2018/2/layout/IconVerticalSolidList"/>
    <dgm:cxn modelId="{88462298-77BC-4517-9C9D-06F2EFEFA217}" type="presOf" srcId="{8B3E917C-EBB3-43E5-B4E7-407160B60830}" destId="{D8D5AC4E-85F6-4B09-9830-020DC8343AD2}" srcOrd="0" destOrd="0" presId="urn:microsoft.com/office/officeart/2018/2/layout/IconVerticalSolidList"/>
    <dgm:cxn modelId="{E032CDAD-4B89-4111-A890-847AA1209CE7}" type="presOf" srcId="{701A4A82-F962-4BFA-A6B6-910F69D5CEC5}" destId="{4BCC4ADD-3E25-4488-9040-699E1B15CB23}" srcOrd="0" destOrd="0" presId="urn:microsoft.com/office/officeart/2018/2/layout/IconVerticalSolidList"/>
    <dgm:cxn modelId="{D5DCCBB4-088F-4809-B021-3348DFEF70D5}" srcId="{9C0718F2-3F35-4543-B4F0-2EBC83029861}" destId="{6BD3FB93-21E8-405E-BA12-8C934633B263}" srcOrd="2" destOrd="0" parTransId="{E034EF1F-75C3-4991-A9D9-C9FFCA251F7A}" sibTransId="{68EE5FE6-D86B-41AE-8AB3-4ADF8D79DDEF}"/>
    <dgm:cxn modelId="{B60582B7-3B3D-430F-BF21-4A666AEB43DE}" srcId="{9C0718F2-3F35-4543-B4F0-2EBC83029861}" destId="{8B3E917C-EBB3-43E5-B4E7-407160B60830}" srcOrd="3" destOrd="0" parTransId="{E2C3F1A8-71D9-44B7-95E8-6075837E64B5}" sibTransId="{A2332130-24C4-4C3E-8165-3D1341D53C18}"/>
    <dgm:cxn modelId="{97DBD6CD-81F2-471F-8BEF-2A5591EF5D25}" type="presOf" srcId="{6BD3FB93-21E8-405E-BA12-8C934633B263}" destId="{E32D0615-46B1-450E-A35E-C4E45E653A36}" srcOrd="0" destOrd="0" presId="urn:microsoft.com/office/officeart/2018/2/layout/IconVerticalSolidList"/>
    <dgm:cxn modelId="{CC731165-A5CF-4BCC-8923-28E5517845CF}" type="presParOf" srcId="{B224F7A5-D52A-408C-A71A-0883A4C668D0}" destId="{1C64DBBB-27E6-4214-972E-21E116FF13AD}" srcOrd="0" destOrd="0" presId="urn:microsoft.com/office/officeart/2018/2/layout/IconVerticalSolidList"/>
    <dgm:cxn modelId="{D8C87EC7-380F-4B08-9C4F-9A9095DB110B}" type="presParOf" srcId="{1C64DBBB-27E6-4214-972E-21E116FF13AD}" destId="{E9C40E3F-3566-4E79-B611-BDD0D244BEE0}" srcOrd="0" destOrd="0" presId="urn:microsoft.com/office/officeart/2018/2/layout/IconVerticalSolidList"/>
    <dgm:cxn modelId="{42DFA5B8-5419-4EDD-A824-1AB3C6F130FE}" type="presParOf" srcId="{1C64DBBB-27E6-4214-972E-21E116FF13AD}" destId="{0890930F-09D2-4C4D-A548-9CA8092A5030}" srcOrd="1" destOrd="0" presId="urn:microsoft.com/office/officeart/2018/2/layout/IconVerticalSolidList"/>
    <dgm:cxn modelId="{6D49E990-113E-4733-A583-FE45D76A0992}" type="presParOf" srcId="{1C64DBBB-27E6-4214-972E-21E116FF13AD}" destId="{B1B241BD-661A-4651-852D-DB2DFB50F3A8}" srcOrd="2" destOrd="0" presId="urn:microsoft.com/office/officeart/2018/2/layout/IconVerticalSolidList"/>
    <dgm:cxn modelId="{C78DBDE5-3D7E-4166-B30C-46781FD14D37}" type="presParOf" srcId="{1C64DBBB-27E6-4214-972E-21E116FF13AD}" destId="{4BCC4ADD-3E25-4488-9040-699E1B15CB23}" srcOrd="3" destOrd="0" presId="urn:microsoft.com/office/officeart/2018/2/layout/IconVerticalSolidList"/>
    <dgm:cxn modelId="{EC43F80F-51A8-40D6-B06F-EF6A9290B9ED}" type="presParOf" srcId="{B224F7A5-D52A-408C-A71A-0883A4C668D0}" destId="{01EB19C6-1BF2-4B90-9F4D-94E1E9FFBE76}" srcOrd="1" destOrd="0" presId="urn:microsoft.com/office/officeart/2018/2/layout/IconVerticalSolidList"/>
    <dgm:cxn modelId="{27527E6C-6C67-4304-B595-94D13714A37D}" type="presParOf" srcId="{B224F7A5-D52A-408C-A71A-0883A4C668D0}" destId="{0FDEFE36-6765-4A5E-845F-BAC4AEE48CB3}" srcOrd="2" destOrd="0" presId="urn:microsoft.com/office/officeart/2018/2/layout/IconVerticalSolidList"/>
    <dgm:cxn modelId="{665A248C-49C1-4DD9-B9C8-827A3A14DA42}" type="presParOf" srcId="{0FDEFE36-6765-4A5E-845F-BAC4AEE48CB3}" destId="{5CF6B24B-0C90-4C6E-B41C-92976E310D80}" srcOrd="0" destOrd="0" presId="urn:microsoft.com/office/officeart/2018/2/layout/IconVerticalSolidList"/>
    <dgm:cxn modelId="{7E844387-A74E-4016-8148-1F242B12123A}" type="presParOf" srcId="{0FDEFE36-6765-4A5E-845F-BAC4AEE48CB3}" destId="{4F76AA5C-EE47-4766-8C3B-FC3CEE17919E}" srcOrd="1" destOrd="0" presId="urn:microsoft.com/office/officeart/2018/2/layout/IconVerticalSolidList"/>
    <dgm:cxn modelId="{57B8D203-C604-4615-887B-868864C7D284}" type="presParOf" srcId="{0FDEFE36-6765-4A5E-845F-BAC4AEE48CB3}" destId="{1AB53FF5-666C-4E48-839B-BE5117B54F0F}" srcOrd="2" destOrd="0" presId="urn:microsoft.com/office/officeart/2018/2/layout/IconVerticalSolidList"/>
    <dgm:cxn modelId="{DFA1CCC8-E6B0-4A73-BF2B-23ACF4ABE43E}" type="presParOf" srcId="{0FDEFE36-6765-4A5E-845F-BAC4AEE48CB3}" destId="{55396818-CD4D-4F95-9CAF-1A420A00DF7C}" srcOrd="3" destOrd="0" presId="urn:microsoft.com/office/officeart/2018/2/layout/IconVerticalSolidList"/>
    <dgm:cxn modelId="{E580E2BF-C6F9-4823-9088-2653D055791E}" type="presParOf" srcId="{B224F7A5-D52A-408C-A71A-0883A4C668D0}" destId="{7BA3959B-B4B5-49C3-BAE3-79B7AC6F68D4}" srcOrd="3" destOrd="0" presId="urn:microsoft.com/office/officeart/2018/2/layout/IconVerticalSolidList"/>
    <dgm:cxn modelId="{13019770-B3F3-40B9-B85F-BB42CD3689C6}" type="presParOf" srcId="{B224F7A5-D52A-408C-A71A-0883A4C668D0}" destId="{D38C5DDD-BC2E-471C-BBBB-9E9C0A9C5300}" srcOrd="4" destOrd="0" presId="urn:microsoft.com/office/officeart/2018/2/layout/IconVerticalSolidList"/>
    <dgm:cxn modelId="{74B2E1D3-449E-4317-8D65-1FDE5534C7ED}" type="presParOf" srcId="{D38C5DDD-BC2E-471C-BBBB-9E9C0A9C5300}" destId="{452620F1-6FBB-4D2A-A8DF-C1293903D415}" srcOrd="0" destOrd="0" presId="urn:microsoft.com/office/officeart/2018/2/layout/IconVerticalSolidList"/>
    <dgm:cxn modelId="{60813BB4-6BC9-47F8-8BC0-526812AE8D9B}" type="presParOf" srcId="{D38C5DDD-BC2E-471C-BBBB-9E9C0A9C5300}" destId="{EB269D05-E71E-45E5-BB69-2356816F48FA}" srcOrd="1" destOrd="0" presId="urn:microsoft.com/office/officeart/2018/2/layout/IconVerticalSolidList"/>
    <dgm:cxn modelId="{FE742601-F5B9-4787-BB46-E4FCD5EBE29B}" type="presParOf" srcId="{D38C5DDD-BC2E-471C-BBBB-9E9C0A9C5300}" destId="{56143ECB-C5DA-4402-A556-B0AC69CFAB7E}" srcOrd="2" destOrd="0" presId="urn:microsoft.com/office/officeart/2018/2/layout/IconVerticalSolidList"/>
    <dgm:cxn modelId="{4E57E5C1-1177-4F6E-8ABD-A6BE9262516B}" type="presParOf" srcId="{D38C5DDD-BC2E-471C-BBBB-9E9C0A9C5300}" destId="{E32D0615-46B1-450E-A35E-C4E45E653A36}" srcOrd="3" destOrd="0" presId="urn:microsoft.com/office/officeart/2018/2/layout/IconVerticalSolidList"/>
    <dgm:cxn modelId="{E0BB5AE0-79C3-46B0-BCBF-7E96BEF1FC04}" type="presParOf" srcId="{B224F7A5-D52A-408C-A71A-0883A4C668D0}" destId="{371CEEF8-3181-4151-B4AA-1C81A199409C}" srcOrd="5" destOrd="0" presId="urn:microsoft.com/office/officeart/2018/2/layout/IconVerticalSolidList"/>
    <dgm:cxn modelId="{8278C394-F30B-4615-8D67-E7A9E7B88A7F}" type="presParOf" srcId="{B224F7A5-D52A-408C-A71A-0883A4C668D0}" destId="{ADA32F3D-480B-4932-84AC-25C958710B44}" srcOrd="6" destOrd="0" presId="urn:microsoft.com/office/officeart/2018/2/layout/IconVerticalSolidList"/>
    <dgm:cxn modelId="{88730744-B903-4400-8BA2-815856D2518B}" type="presParOf" srcId="{ADA32F3D-480B-4932-84AC-25C958710B44}" destId="{CC9FFA5D-FE54-4106-ADF9-E43369C86749}" srcOrd="0" destOrd="0" presId="urn:microsoft.com/office/officeart/2018/2/layout/IconVerticalSolidList"/>
    <dgm:cxn modelId="{610C0AEF-4CFE-4C50-B170-F731B25901C9}" type="presParOf" srcId="{ADA32F3D-480B-4932-84AC-25C958710B44}" destId="{2779B387-2B96-431B-AED7-AEDC2C8709A1}" srcOrd="1" destOrd="0" presId="urn:microsoft.com/office/officeart/2018/2/layout/IconVerticalSolidList"/>
    <dgm:cxn modelId="{ECF5609A-F994-4805-815D-3EB6A2632DCA}" type="presParOf" srcId="{ADA32F3D-480B-4932-84AC-25C958710B44}" destId="{5A1D7AC4-3E64-46BE-A7FC-3EB07BFED41C}" srcOrd="2" destOrd="0" presId="urn:microsoft.com/office/officeart/2018/2/layout/IconVerticalSolidList"/>
    <dgm:cxn modelId="{F47BD616-BEEE-4F21-8A3E-E5D32D041636}" type="presParOf" srcId="{ADA32F3D-480B-4932-84AC-25C958710B44}" destId="{D8D5AC4E-85F6-4B09-9830-020DC8343A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2BC9E6-CE85-4941-BD49-9361EEC6AA24}" type="doc">
      <dgm:prSet loTypeId="urn:microsoft.com/office/officeart/2005/8/layout/vProcess5" loCatId="process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6204AA87-633D-4492-9048-A74FEE602795}">
      <dgm:prSet/>
      <dgm:spPr/>
      <dgm:t>
        <a:bodyPr/>
        <a:lstStyle/>
        <a:p>
          <a:r>
            <a:rPr lang="es-MX" b="1"/>
            <a:t>Incremental:</a:t>
          </a:r>
          <a:r>
            <a:rPr lang="es-MX"/>
            <a:t> Pequeñas mejoras continuas (ej. actualización de software).</a:t>
          </a:r>
          <a:endParaRPr lang="en-US"/>
        </a:p>
      </dgm:t>
    </dgm:pt>
    <dgm:pt modelId="{8E4485A5-0FB5-47CC-A2C3-49B4644B9524}" type="parTrans" cxnId="{32AE541E-9108-4CD2-BCA8-6AEABC6036E4}">
      <dgm:prSet/>
      <dgm:spPr/>
      <dgm:t>
        <a:bodyPr/>
        <a:lstStyle/>
        <a:p>
          <a:endParaRPr lang="en-US"/>
        </a:p>
      </dgm:t>
    </dgm:pt>
    <dgm:pt modelId="{1A96F2C0-5463-4461-A16C-C1BD5C0043C4}" type="sibTrans" cxnId="{32AE541E-9108-4CD2-BCA8-6AEABC6036E4}">
      <dgm:prSet/>
      <dgm:spPr/>
      <dgm:t>
        <a:bodyPr/>
        <a:lstStyle/>
        <a:p>
          <a:endParaRPr lang="en-US"/>
        </a:p>
      </dgm:t>
    </dgm:pt>
    <dgm:pt modelId="{3DEE3FDD-30BE-4D04-A84A-863516FF53B6}">
      <dgm:prSet/>
      <dgm:spPr/>
      <dgm:t>
        <a:bodyPr/>
        <a:lstStyle/>
        <a:p>
          <a:r>
            <a:rPr lang="es-MX" b="1"/>
            <a:t>Radical:</a:t>
          </a:r>
          <a:r>
            <a:rPr lang="es-MX"/>
            <a:t> Cambios drásticos que crean nuevos mercados (ej. internet).</a:t>
          </a:r>
          <a:endParaRPr lang="en-US"/>
        </a:p>
      </dgm:t>
    </dgm:pt>
    <dgm:pt modelId="{988B6454-FA7E-498F-BCEA-26CDED56547A}" type="parTrans" cxnId="{9217B3AF-34AF-4A87-8646-391798BBA0F1}">
      <dgm:prSet/>
      <dgm:spPr/>
      <dgm:t>
        <a:bodyPr/>
        <a:lstStyle/>
        <a:p>
          <a:endParaRPr lang="en-US"/>
        </a:p>
      </dgm:t>
    </dgm:pt>
    <dgm:pt modelId="{7AD55968-028D-4FA0-ABC4-03750CE5783C}" type="sibTrans" cxnId="{9217B3AF-34AF-4A87-8646-391798BBA0F1}">
      <dgm:prSet/>
      <dgm:spPr/>
      <dgm:t>
        <a:bodyPr/>
        <a:lstStyle/>
        <a:p>
          <a:endParaRPr lang="en-US"/>
        </a:p>
      </dgm:t>
    </dgm:pt>
    <dgm:pt modelId="{18577CF8-01AF-4ED7-B094-6969DFB61DB7}">
      <dgm:prSet/>
      <dgm:spPr/>
      <dgm:t>
        <a:bodyPr/>
        <a:lstStyle/>
        <a:p>
          <a:r>
            <a:rPr lang="es-MX" b="1"/>
            <a:t>De proceso/producto:</a:t>
          </a:r>
          <a:r>
            <a:rPr lang="es-MX"/>
            <a:t> Optimizar cómo se hacen las cosas o crear cosas nuevas.</a:t>
          </a:r>
          <a:endParaRPr lang="en-US"/>
        </a:p>
      </dgm:t>
    </dgm:pt>
    <dgm:pt modelId="{326194DE-CA75-4D1B-B0AE-6D0F3D642DBC}" type="parTrans" cxnId="{7EFDFF2E-911B-47DF-84A2-F2745FA80C35}">
      <dgm:prSet/>
      <dgm:spPr/>
      <dgm:t>
        <a:bodyPr/>
        <a:lstStyle/>
        <a:p>
          <a:endParaRPr lang="en-US"/>
        </a:p>
      </dgm:t>
    </dgm:pt>
    <dgm:pt modelId="{3C5F863F-A82A-43EB-BF60-B75C6B04D805}" type="sibTrans" cxnId="{7EFDFF2E-911B-47DF-84A2-F2745FA80C35}">
      <dgm:prSet/>
      <dgm:spPr/>
      <dgm:t>
        <a:bodyPr/>
        <a:lstStyle/>
        <a:p>
          <a:endParaRPr lang="en-US"/>
        </a:p>
      </dgm:t>
    </dgm:pt>
    <dgm:pt modelId="{C7F5850F-0A48-4016-BED8-E66A8F9D46A4}" type="pres">
      <dgm:prSet presAssocID="{E42BC9E6-CE85-4941-BD49-9361EEC6AA24}" presName="outerComposite" presStyleCnt="0">
        <dgm:presLayoutVars>
          <dgm:chMax val="5"/>
          <dgm:dir/>
          <dgm:resizeHandles val="exact"/>
        </dgm:presLayoutVars>
      </dgm:prSet>
      <dgm:spPr/>
    </dgm:pt>
    <dgm:pt modelId="{7BEBCA48-6DBD-445D-B13B-FE51DDC015CD}" type="pres">
      <dgm:prSet presAssocID="{E42BC9E6-CE85-4941-BD49-9361EEC6AA24}" presName="dummyMaxCanvas" presStyleCnt="0">
        <dgm:presLayoutVars/>
      </dgm:prSet>
      <dgm:spPr/>
    </dgm:pt>
    <dgm:pt modelId="{730E7BE6-2A36-45BC-B437-65E3E30D5C17}" type="pres">
      <dgm:prSet presAssocID="{E42BC9E6-CE85-4941-BD49-9361EEC6AA24}" presName="ThreeNodes_1" presStyleLbl="node1" presStyleIdx="0" presStyleCnt="3">
        <dgm:presLayoutVars>
          <dgm:bulletEnabled val="1"/>
        </dgm:presLayoutVars>
      </dgm:prSet>
      <dgm:spPr/>
    </dgm:pt>
    <dgm:pt modelId="{E91889FC-6E5D-413A-8A0A-CE3AFA8E983E}" type="pres">
      <dgm:prSet presAssocID="{E42BC9E6-CE85-4941-BD49-9361EEC6AA24}" presName="ThreeNodes_2" presStyleLbl="node1" presStyleIdx="1" presStyleCnt="3">
        <dgm:presLayoutVars>
          <dgm:bulletEnabled val="1"/>
        </dgm:presLayoutVars>
      </dgm:prSet>
      <dgm:spPr/>
    </dgm:pt>
    <dgm:pt modelId="{CCA058BA-4864-47AA-A24A-666ECAD09979}" type="pres">
      <dgm:prSet presAssocID="{E42BC9E6-CE85-4941-BD49-9361EEC6AA24}" presName="ThreeNodes_3" presStyleLbl="node1" presStyleIdx="2" presStyleCnt="3">
        <dgm:presLayoutVars>
          <dgm:bulletEnabled val="1"/>
        </dgm:presLayoutVars>
      </dgm:prSet>
      <dgm:spPr/>
    </dgm:pt>
    <dgm:pt modelId="{E68C7313-08CC-4809-AB3C-9A1FB32473D9}" type="pres">
      <dgm:prSet presAssocID="{E42BC9E6-CE85-4941-BD49-9361EEC6AA24}" presName="ThreeConn_1-2" presStyleLbl="fgAccFollowNode1" presStyleIdx="0" presStyleCnt="2">
        <dgm:presLayoutVars>
          <dgm:bulletEnabled val="1"/>
        </dgm:presLayoutVars>
      </dgm:prSet>
      <dgm:spPr/>
    </dgm:pt>
    <dgm:pt modelId="{EE0CA7CD-3254-4E38-AC36-7E41779D42BB}" type="pres">
      <dgm:prSet presAssocID="{E42BC9E6-CE85-4941-BD49-9361EEC6AA24}" presName="ThreeConn_2-3" presStyleLbl="fgAccFollowNode1" presStyleIdx="1" presStyleCnt="2">
        <dgm:presLayoutVars>
          <dgm:bulletEnabled val="1"/>
        </dgm:presLayoutVars>
      </dgm:prSet>
      <dgm:spPr/>
    </dgm:pt>
    <dgm:pt modelId="{623F5EC8-EDD8-426E-8199-8F3E4BA62F5D}" type="pres">
      <dgm:prSet presAssocID="{E42BC9E6-CE85-4941-BD49-9361EEC6AA24}" presName="ThreeNodes_1_text" presStyleLbl="node1" presStyleIdx="2" presStyleCnt="3">
        <dgm:presLayoutVars>
          <dgm:bulletEnabled val="1"/>
        </dgm:presLayoutVars>
      </dgm:prSet>
      <dgm:spPr/>
    </dgm:pt>
    <dgm:pt modelId="{552BF840-2860-496A-B157-95E538073D91}" type="pres">
      <dgm:prSet presAssocID="{E42BC9E6-CE85-4941-BD49-9361EEC6AA24}" presName="ThreeNodes_2_text" presStyleLbl="node1" presStyleIdx="2" presStyleCnt="3">
        <dgm:presLayoutVars>
          <dgm:bulletEnabled val="1"/>
        </dgm:presLayoutVars>
      </dgm:prSet>
      <dgm:spPr/>
    </dgm:pt>
    <dgm:pt modelId="{A106C143-254F-4332-8956-16196EA969B4}" type="pres">
      <dgm:prSet presAssocID="{E42BC9E6-CE85-4941-BD49-9361EEC6AA2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2AE541E-9108-4CD2-BCA8-6AEABC6036E4}" srcId="{E42BC9E6-CE85-4941-BD49-9361EEC6AA24}" destId="{6204AA87-633D-4492-9048-A74FEE602795}" srcOrd="0" destOrd="0" parTransId="{8E4485A5-0FB5-47CC-A2C3-49B4644B9524}" sibTransId="{1A96F2C0-5463-4461-A16C-C1BD5C0043C4}"/>
    <dgm:cxn modelId="{7EFDFF2E-911B-47DF-84A2-F2745FA80C35}" srcId="{E42BC9E6-CE85-4941-BD49-9361EEC6AA24}" destId="{18577CF8-01AF-4ED7-B094-6969DFB61DB7}" srcOrd="2" destOrd="0" parTransId="{326194DE-CA75-4D1B-B0AE-6D0F3D642DBC}" sibTransId="{3C5F863F-A82A-43EB-BF60-B75C6B04D805}"/>
    <dgm:cxn modelId="{1696D935-8528-4D21-B1A8-E834C238E062}" type="presOf" srcId="{1A96F2C0-5463-4461-A16C-C1BD5C0043C4}" destId="{E68C7313-08CC-4809-AB3C-9A1FB32473D9}" srcOrd="0" destOrd="0" presId="urn:microsoft.com/office/officeart/2005/8/layout/vProcess5"/>
    <dgm:cxn modelId="{C6176A37-064C-4924-8701-46A73EFD664B}" type="presOf" srcId="{6204AA87-633D-4492-9048-A74FEE602795}" destId="{730E7BE6-2A36-45BC-B437-65E3E30D5C17}" srcOrd="0" destOrd="0" presId="urn:microsoft.com/office/officeart/2005/8/layout/vProcess5"/>
    <dgm:cxn modelId="{86832C98-0F78-4475-9EB8-5797333AD77C}" type="presOf" srcId="{7AD55968-028D-4FA0-ABC4-03750CE5783C}" destId="{EE0CA7CD-3254-4E38-AC36-7E41779D42BB}" srcOrd="0" destOrd="0" presId="urn:microsoft.com/office/officeart/2005/8/layout/vProcess5"/>
    <dgm:cxn modelId="{9217B3AF-34AF-4A87-8646-391798BBA0F1}" srcId="{E42BC9E6-CE85-4941-BD49-9361EEC6AA24}" destId="{3DEE3FDD-30BE-4D04-A84A-863516FF53B6}" srcOrd="1" destOrd="0" parTransId="{988B6454-FA7E-498F-BCEA-26CDED56547A}" sibTransId="{7AD55968-028D-4FA0-ABC4-03750CE5783C}"/>
    <dgm:cxn modelId="{257C3AB4-9B66-4E1D-9AC1-18E0E460F12C}" type="presOf" srcId="{3DEE3FDD-30BE-4D04-A84A-863516FF53B6}" destId="{552BF840-2860-496A-B157-95E538073D91}" srcOrd="1" destOrd="0" presId="urn:microsoft.com/office/officeart/2005/8/layout/vProcess5"/>
    <dgm:cxn modelId="{1C21D2BC-C09C-47CC-AA78-294A0180699E}" type="presOf" srcId="{18577CF8-01AF-4ED7-B094-6969DFB61DB7}" destId="{CCA058BA-4864-47AA-A24A-666ECAD09979}" srcOrd="0" destOrd="0" presId="urn:microsoft.com/office/officeart/2005/8/layout/vProcess5"/>
    <dgm:cxn modelId="{779BE9CA-5AFF-4AE3-AC11-BFC69AB18438}" type="presOf" srcId="{E42BC9E6-CE85-4941-BD49-9361EEC6AA24}" destId="{C7F5850F-0A48-4016-BED8-E66A8F9D46A4}" srcOrd="0" destOrd="0" presId="urn:microsoft.com/office/officeart/2005/8/layout/vProcess5"/>
    <dgm:cxn modelId="{606E9CD6-0966-46B5-902A-7C25BFFCA4E4}" type="presOf" srcId="{3DEE3FDD-30BE-4D04-A84A-863516FF53B6}" destId="{E91889FC-6E5D-413A-8A0A-CE3AFA8E983E}" srcOrd="0" destOrd="0" presId="urn:microsoft.com/office/officeart/2005/8/layout/vProcess5"/>
    <dgm:cxn modelId="{0B005CE2-9E0E-4989-92AE-83CFBA789F8E}" type="presOf" srcId="{18577CF8-01AF-4ED7-B094-6969DFB61DB7}" destId="{A106C143-254F-4332-8956-16196EA969B4}" srcOrd="1" destOrd="0" presId="urn:microsoft.com/office/officeart/2005/8/layout/vProcess5"/>
    <dgm:cxn modelId="{0ED0CCFF-5A86-4811-98D7-01BD36F3686F}" type="presOf" srcId="{6204AA87-633D-4492-9048-A74FEE602795}" destId="{623F5EC8-EDD8-426E-8199-8F3E4BA62F5D}" srcOrd="1" destOrd="0" presId="urn:microsoft.com/office/officeart/2005/8/layout/vProcess5"/>
    <dgm:cxn modelId="{3CCDA927-D6E6-4321-BD88-4F20CB38F770}" type="presParOf" srcId="{C7F5850F-0A48-4016-BED8-E66A8F9D46A4}" destId="{7BEBCA48-6DBD-445D-B13B-FE51DDC015CD}" srcOrd="0" destOrd="0" presId="urn:microsoft.com/office/officeart/2005/8/layout/vProcess5"/>
    <dgm:cxn modelId="{AF713FE8-09F5-4887-9EC7-DF1A78CBA6D9}" type="presParOf" srcId="{C7F5850F-0A48-4016-BED8-E66A8F9D46A4}" destId="{730E7BE6-2A36-45BC-B437-65E3E30D5C17}" srcOrd="1" destOrd="0" presId="urn:microsoft.com/office/officeart/2005/8/layout/vProcess5"/>
    <dgm:cxn modelId="{638664E4-3B68-43DC-9E84-BD7837C758F1}" type="presParOf" srcId="{C7F5850F-0A48-4016-BED8-E66A8F9D46A4}" destId="{E91889FC-6E5D-413A-8A0A-CE3AFA8E983E}" srcOrd="2" destOrd="0" presId="urn:microsoft.com/office/officeart/2005/8/layout/vProcess5"/>
    <dgm:cxn modelId="{CD6DD917-2D49-4C84-A45D-B301702E16DE}" type="presParOf" srcId="{C7F5850F-0A48-4016-BED8-E66A8F9D46A4}" destId="{CCA058BA-4864-47AA-A24A-666ECAD09979}" srcOrd="3" destOrd="0" presId="urn:microsoft.com/office/officeart/2005/8/layout/vProcess5"/>
    <dgm:cxn modelId="{5824E4B5-DA48-45D7-9CBD-7C7EB65D4B49}" type="presParOf" srcId="{C7F5850F-0A48-4016-BED8-E66A8F9D46A4}" destId="{E68C7313-08CC-4809-AB3C-9A1FB32473D9}" srcOrd="4" destOrd="0" presId="urn:microsoft.com/office/officeart/2005/8/layout/vProcess5"/>
    <dgm:cxn modelId="{27A43186-DFCB-492B-9716-419E0FA50E04}" type="presParOf" srcId="{C7F5850F-0A48-4016-BED8-E66A8F9D46A4}" destId="{EE0CA7CD-3254-4E38-AC36-7E41779D42BB}" srcOrd="5" destOrd="0" presId="urn:microsoft.com/office/officeart/2005/8/layout/vProcess5"/>
    <dgm:cxn modelId="{1BE13D4F-3844-452A-9C3B-2D476446CB24}" type="presParOf" srcId="{C7F5850F-0A48-4016-BED8-E66A8F9D46A4}" destId="{623F5EC8-EDD8-426E-8199-8F3E4BA62F5D}" srcOrd="6" destOrd="0" presId="urn:microsoft.com/office/officeart/2005/8/layout/vProcess5"/>
    <dgm:cxn modelId="{AAAAD500-CFFC-4C01-8FF9-F8A52D22C45F}" type="presParOf" srcId="{C7F5850F-0A48-4016-BED8-E66A8F9D46A4}" destId="{552BF840-2860-496A-B157-95E538073D91}" srcOrd="7" destOrd="0" presId="urn:microsoft.com/office/officeart/2005/8/layout/vProcess5"/>
    <dgm:cxn modelId="{97992640-5B8B-4717-B0B7-95358371E972}" type="presParOf" srcId="{C7F5850F-0A48-4016-BED8-E66A8F9D46A4}" destId="{A106C143-254F-4332-8956-16196EA969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68A1C3-2938-4BC5-877E-1361AE959661}" type="doc">
      <dgm:prSet loTypeId="urn:microsoft.com/office/officeart/2018/2/layout/IconLabelList" loCatId="icon" qsTypeId="urn:microsoft.com/office/officeart/2005/8/quickstyle/simple1#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1C4D7E-7A34-4568-AEDF-BEC939B9C1DE}">
      <dgm:prSet custT="1"/>
      <dgm:spPr/>
      <dgm:t>
        <a:bodyPr/>
        <a:lstStyle/>
        <a:p>
          <a:r>
            <a:rPr lang="es-MX" sz="1400" b="1" dirty="0"/>
            <a:t>Eficiencia Operativa y Competitividad:</a:t>
          </a:r>
          <a:r>
            <a:rPr lang="es-MX" sz="1400" dirty="0"/>
            <a:t> La adopción de nuevas tecnologías permite a los negocios reducir costos, acelerar procesos y mantenerse relevantes en mercados competitivos.</a:t>
          </a:r>
          <a:endParaRPr lang="en-US" sz="1400" dirty="0"/>
        </a:p>
      </dgm:t>
    </dgm:pt>
    <dgm:pt modelId="{FB5FC3B8-6C2F-42C7-8764-18BD4537AA41}" type="parTrans" cxnId="{5109CB45-7175-47AA-BA85-581B406FB85F}">
      <dgm:prSet/>
      <dgm:spPr/>
      <dgm:t>
        <a:bodyPr/>
        <a:lstStyle/>
        <a:p>
          <a:endParaRPr lang="en-US"/>
        </a:p>
      </dgm:t>
    </dgm:pt>
    <dgm:pt modelId="{CC1FD0F9-BCD4-4636-B364-19E8C7C532AC}" type="sibTrans" cxnId="{5109CB45-7175-47AA-BA85-581B406FB85F}">
      <dgm:prSet/>
      <dgm:spPr/>
      <dgm:t>
        <a:bodyPr/>
        <a:lstStyle/>
        <a:p>
          <a:endParaRPr lang="en-US"/>
        </a:p>
      </dgm:t>
    </dgm:pt>
    <dgm:pt modelId="{8A78855D-8C0B-4596-8D69-3193752D8FB0}">
      <dgm:prSet custT="1"/>
      <dgm:spPr/>
      <dgm:t>
        <a:bodyPr/>
        <a:lstStyle/>
        <a:p>
          <a:r>
            <a:rPr lang="es-MX" sz="1400" b="1" dirty="0"/>
            <a:t>Transformación de Modelos de Negocio:</a:t>
          </a:r>
          <a:r>
            <a:rPr lang="es-MX" sz="1400" dirty="0"/>
            <a:t> La innovación, impulsada por el Big Data y la inteligencia artificial, fomenta la creación de nuevos productos, servicios y modelos de trabajo, cambiando cómo las empresas operan y cómo interactúan con sus clientes.</a:t>
          </a:r>
          <a:endParaRPr lang="en-US" sz="1400" dirty="0"/>
        </a:p>
      </dgm:t>
    </dgm:pt>
    <dgm:pt modelId="{2A4F56FD-69DE-433D-87E1-100373D7F1DD}" type="parTrans" cxnId="{B9F4A242-03EC-40E4-BD17-6B00BB88C0DA}">
      <dgm:prSet/>
      <dgm:spPr/>
      <dgm:t>
        <a:bodyPr/>
        <a:lstStyle/>
        <a:p>
          <a:endParaRPr lang="en-US"/>
        </a:p>
      </dgm:t>
    </dgm:pt>
    <dgm:pt modelId="{1FAFD049-D874-4D80-99AB-36588598C425}" type="sibTrans" cxnId="{B9F4A242-03EC-40E4-BD17-6B00BB88C0DA}">
      <dgm:prSet/>
      <dgm:spPr/>
      <dgm:t>
        <a:bodyPr/>
        <a:lstStyle/>
        <a:p>
          <a:endParaRPr lang="en-US"/>
        </a:p>
      </dgm:t>
    </dgm:pt>
    <dgm:pt modelId="{C9EECA3D-9DAE-40D5-BDA0-0964C2EF1C77}">
      <dgm:prSet custT="1"/>
      <dgm:spPr/>
      <dgm:t>
        <a:bodyPr/>
        <a:lstStyle/>
        <a:p>
          <a:r>
            <a:rPr lang="es-MX" sz="1400" b="1" dirty="0"/>
            <a:t>Cambios en el Mercado Laboral:</a:t>
          </a:r>
          <a:r>
            <a:rPr lang="es-MX" sz="1400" dirty="0"/>
            <a:t> Si bien la automatización transforma sectores, también crea nuevas oportunidades laborales y fomenta la necesidad de nuevas habilidades tecnológicas.</a:t>
          </a:r>
          <a:endParaRPr lang="en-US" sz="1400" dirty="0"/>
        </a:p>
      </dgm:t>
    </dgm:pt>
    <dgm:pt modelId="{B2DA2BB7-535A-4803-BCA5-B0E9C0B83BCE}" type="parTrans" cxnId="{268151D1-1A82-4330-AB16-609DEFF90B63}">
      <dgm:prSet/>
      <dgm:spPr/>
      <dgm:t>
        <a:bodyPr/>
        <a:lstStyle/>
        <a:p>
          <a:endParaRPr lang="en-US"/>
        </a:p>
      </dgm:t>
    </dgm:pt>
    <dgm:pt modelId="{815DF89B-0900-4B3F-AE83-AAA73C267E01}" type="sibTrans" cxnId="{268151D1-1A82-4330-AB16-609DEFF90B63}">
      <dgm:prSet/>
      <dgm:spPr/>
      <dgm:t>
        <a:bodyPr/>
        <a:lstStyle/>
        <a:p>
          <a:endParaRPr lang="en-US"/>
        </a:p>
      </dgm:t>
    </dgm:pt>
    <dgm:pt modelId="{5A5FC70D-C891-46DF-95BE-BE3E71C0DD4B}">
      <dgm:prSet custT="1"/>
      <dgm:spPr/>
      <dgm:t>
        <a:bodyPr/>
        <a:lstStyle/>
        <a:p>
          <a:r>
            <a:rPr lang="es-MX" sz="1400" b="1" dirty="0"/>
            <a:t>Impacto Social y Calidad de Vida:</a:t>
          </a:r>
          <a:r>
            <a:rPr lang="es-MX" sz="1400" dirty="0"/>
            <a:t> La tecnología actúa como un ecualizador que mejora el acceso a servicios (salud, educación, finanzas), al tiempo que plantea retos de privacidad y equidad.</a:t>
          </a:r>
          <a:endParaRPr lang="en-US" sz="1400" dirty="0"/>
        </a:p>
      </dgm:t>
    </dgm:pt>
    <dgm:pt modelId="{50EAC485-CE67-46C5-81B2-B9AAB982A234}" type="parTrans" cxnId="{E6086B56-327D-481C-B42A-42AAC893AA28}">
      <dgm:prSet/>
      <dgm:spPr/>
      <dgm:t>
        <a:bodyPr/>
        <a:lstStyle/>
        <a:p>
          <a:endParaRPr lang="en-US"/>
        </a:p>
      </dgm:t>
    </dgm:pt>
    <dgm:pt modelId="{34020472-C5B3-49ED-A953-1E6406BF02DB}" type="sibTrans" cxnId="{E6086B56-327D-481C-B42A-42AAC893AA28}">
      <dgm:prSet/>
      <dgm:spPr/>
      <dgm:t>
        <a:bodyPr/>
        <a:lstStyle/>
        <a:p>
          <a:endParaRPr lang="en-US"/>
        </a:p>
      </dgm:t>
    </dgm:pt>
    <dgm:pt modelId="{6752B553-CB9A-4B4B-B400-1A2F5D3AEAF5}">
      <dgm:prSet custT="1"/>
      <dgm:spPr/>
      <dgm:t>
        <a:bodyPr/>
        <a:lstStyle/>
        <a:p>
          <a:r>
            <a:rPr lang="es-MX" sz="1400" b="1" dirty="0"/>
            <a:t>Adaptación y Sostenibilidad:</a:t>
          </a:r>
          <a:r>
            <a:rPr lang="es-MX" sz="1400" dirty="0"/>
            <a:t> Las organizaciones que adoptan la innovación tecnológica pueden gestionar riesgos, mejorar la sostenibilidad y adaptarse rápidamente a las demandas cambiantes del consumidor.</a:t>
          </a:r>
          <a:endParaRPr lang="en-US" sz="1400" dirty="0"/>
        </a:p>
      </dgm:t>
    </dgm:pt>
    <dgm:pt modelId="{B2C1A663-4913-4D15-96E2-980EF836ABB7}" type="parTrans" cxnId="{095256B9-1E69-4BA0-94EB-038680CF43B5}">
      <dgm:prSet/>
      <dgm:spPr/>
      <dgm:t>
        <a:bodyPr/>
        <a:lstStyle/>
        <a:p>
          <a:endParaRPr lang="en-US"/>
        </a:p>
      </dgm:t>
    </dgm:pt>
    <dgm:pt modelId="{AC600000-C7AA-45A9-B5BC-820DE199F934}" type="sibTrans" cxnId="{095256B9-1E69-4BA0-94EB-038680CF43B5}">
      <dgm:prSet/>
      <dgm:spPr/>
      <dgm:t>
        <a:bodyPr/>
        <a:lstStyle/>
        <a:p>
          <a:endParaRPr lang="en-US"/>
        </a:p>
      </dgm:t>
    </dgm:pt>
    <dgm:pt modelId="{0DBF8892-9550-4622-AF4E-56CD3A331C7D}" type="pres">
      <dgm:prSet presAssocID="{6B68A1C3-2938-4BC5-877E-1361AE959661}" presName="root" presStyleCnt="0">
        <dgm:presLayoutVars>
          <dgm:dir/>
          <dgm:resizeHandles val="exact"/>
        </dgm:presLayoutVars>
      </dgm:prSet>
      <dgm:spPr/>
    </dgm:pt>
    <dgm:pt modelId="{460205C0-D3F8-497A-BA5B-A6C056BFFB71}" type="pres">
      <dgm:prSet presAssocID="{421C4D7E-7A34-4568-AEDF-BEC939B9C1DE}" presName="compNode" presStyleCnt="0"/>
      <dgm:spPr/>
    </dgm:pt>
    <dgm:pt modelId="{65C316AA-89EC-4508-8FC6-901C2BE1E22B}" type="pres">
      <dgm:prSet presAssocID="{421C4D7E-7A34-4568-AEDF-BEC939B9C1D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B174408-46D0-4CD5-9ADD-1E66E2EADEF6}" type="pres">
      <dgm:prSet presAssocID="{421C4D7E-7A34-4568-AEDF-BEC939B9C1DE}" presName="spaceRect" presStyleCnt="0"/>
      <dgm:spPr/>
    </dgm:pt>
    <dgm:pt modelId="{A338ACF8-866F-4B58-AE1B-791DB672A4AD}" type="pres">
      <dgm:prSet presAssocID="{421C4D7E-7A34-4568-AEDF-BEC939B9C1DE}" presName="textRect" presStyleLbl="revTx" presStyleIdx="0" presStyleCnt="5">
        <dgm:presLayoutVars>
          <dgm:chMax val="1"/>
          <dgm:chPref val="1"/>
        </dgm:presLayoutVars>
      </dgm:prSet>
      <dgm:spPr/>
    </dgm:pt>
    <dgm:pt modelId="{B470CC79-337E-4BAD-A78A-C70892E27E19}" type="pres">
      <dgm:prSet presAssocID="{CC1FD0F9-BCD4-4636-B364-19E8C7C532AC}" presName="sibTrans" presStyleCnt="0"/>
      <dgm:spPr/>
    </dgm:pt>
    <dgm:pt modelId="{F86FDE23-9BB3-4390-B78D-5F50C33A6617}" type="pres">
      <dgm:prSet presAssocID="{8A78855D-8C0B-4596-8D69-3193752D8FB0}" presName="compNode" presStyleCnt="0"/>
      <dgm:spPr/>
    </dgm:pt>
    <dgm:pt modelId="{657A4D31-841E-4CA4-A48C-C0433A9D5B4D}" type="pres">
      <dgm:prSet presAssocID="{8A78855D-8C0B-4596-8D69-3193752D8FB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C7D96C9-0C30-4C9C-9D5D-959EFD8AFCA1}" type="pres">
      <dgm:prSet presAssocID="{8A78855D-8C0B-4596-8D69-3193752D8FB0}" presName="spaceRect" presStyleCnt="0"/>
      <dgm:spPr/>
    </dgm:pt>
    <dgm:pt modelId="{02579B64-2AB2-4730-A533-F60BE899E7A8}" type="pres">
      <dgm:prSet presAssocID="{8A78855D-8C0B-4596-8D69-3193752D8FB0}" presName="textRect" presStyleLbl="revTx" presStyleIdx="1" presStyleCnt="5">
        <dgm:presLayoutVars>
          <dgm:chMax val="1"/>
          <dgm:chPref val="1"/>
        </dgm:presLayoutVars>
      </dgm:prSet>
      <dgm:spPr/>
    </dgm:pt>
    <dgm:pt modelId="{D476B3DF-E0B8-4D84-9E4B-84A6C1861E82}" type="pres">
      <dgm:prSet presAssocID="{1FAFD049-D874-4D80-99AB-36588598C425}" presName="sibTrans" presStyleCnt="0"/>
      <dgm:spPr/>
    </dgm:pt>
    <dgm:pt modelId="{6EBE1B3F-DEA3-47E6-A0E3-FC4E38DB592B}" type="pres">
      <dgm:prSet presAssocID="{C9EECA3D-9DAE-40D5-BDA0-0964C2EF1C77}" presName="compNode" presStyleCnt="0"/>
      <dgm:spPr/>
    </dgm:pt>
    <dgm:pt modelId="{E7140B8B-84A7-4844-8529-108E796802F3}" type="pres">
      <dgm:prSet presAssocID="{C9EECA3D-9DAE-40D5-BDA0-0964C2EF1C7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E8E8C5E1-F3AE-4C65-977C-75A53283C420}" type="pres">
      <dgm:prSet presAssocID="{C9EECA3D-9DAE-40D5-BDA0-0964C2EF1C77}" presName="spaceRect" presStyleCnt="0"/>
      <dgm:spPr/>
    </dgm:pt>
    <dgm:pt modelId="{3B23405F-6C76-4691-BBC9-EEABAEEA8B21}" type="pres">
      <dgm:prSet presAssocID="{C9EECA3D-9DAE-40D5-BDA0-0964C2EF1C77}" presName="textRect" presStyleLbl="revTx" presStyleIdx="2" presStyleCnt="5">
        <dgm:presLayoutVars>
          <dgm:chMax val="1"/>
          <dgm:chPref val="1"/>
        </dgm:presLayoutVars>
      </dgm:prSet>
      <dgm:spPr/>
    </dgm:pt>
    <dgm:pt modelId="{37599306-2A92-4DDB-93A8-47541837C722}" type="pres">
      <dgm:prSet presAssocID="{815DF89B-0900-4B3F-AE83-AAA73C267E01}" presName="sibTrans" presStyleCnt="0"/>
      <dgm:spPr/>
    </dgm:pt>
    <dgm:pt modelId="{5B8B5A7E-C2B8-4790-A4FE-CC6AA43337AA}" type="pres">
      <dgm:prSet presAssocID="{5A5FC70D-C891-46DF-95BE-BE3E71C0DD4B}" presName="compNode" presStyleCnt="0"/>
      <dgm:spPr/>
    </dgm:pt>
    <dgm:pt modelId="{745905AA-6307-4853-8A2A-B63562679165}" type="pres">
      <dgm:prSet presAssocID="{5A5FC70D-C891-46DF-95BE-BE3E71C0DD4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9C8FF63A-7F40-43D4-9E1E-249E96E1E688}" type="pres">
      <dgm:prSet presAssocID="{5A5FC70D-C891-46DF-95BE-BE3E71C0DD4B}" presName="spaceRect" presStyleCnt="0"/>
      <dgm:spPr/>
    </dgm:pt>
    <dgm:pt modelId="{A235C447-C6DB-4079-BBD5-ACC9475E05B8}" type="pres">
      <dgm:prSet presAssocID="{5A5FC70D-C891-46DF-95BE-BE3E71C0DD4B}" presName="textRect" presStyleLbl="revTx" presStyleIdx="3" presStyleCnt="5">
        <dgm:presLayoutVars>
          <dgm:chMax val="1"/>
          <dgm:chPref val="1"/>
        </dgm:presLayoutVars>
      </dgm:prSet>
      <dgm:spPr/>
    </dgm:pt>
    <dgm:pt modelId="{D855C2BD-ED74-4B28-8440-387FEB148A31}" type="pres">
      <dgm:prSet presAssocID="{34020472-C5B3-49ED-A953-1E6406BF02DB}" presName="sibTrans" presStyleCnt="0"/>
      <dgm:spPr/>
    </dgm:pt>
    <dgm:pt modelId="{41873A52-7890-476F-B410-FC203FC4E2E1}" type="pres">
      <dgm:prSet presAssocID="{6752B553-CB9A-4B4B-B400-1A2F5D3AEAF5}" presName="compNode" presStyleCnt="0"/>
      <dgm:spPr/>
    </dgm:pt>
    <dgm:pt modelId="{71DDD417-76D1-478B-855E-D16FA1026E83}" type="pres">
      <dgm:prSet presAssocID="{6752B553-CB9A-4B4B-B400-1A2F5D3AEAF5}" presName="iconRect" presStyleLbl="node1" presStyleIdx="4" presStyleCnt="5" custLinFactX="107244" custLinFactNeighborX="200000" custLinFactNeighborY="8543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7BBC806-D705-4605-9EF2-BA26FFAA3D63}" type="pres">
      <dgm:prSet presAssocID="{6752B553-CB9A-4B4B-B400-1A2F5D3AEAF5}" presName="spaceRect" presStyleCnt="0"/>
      <dgm:spPr/>
    </dgm:pt>
    <dgm:pt modelId="{DF182821-11E4-4B76-9620-462AF6B69D5A}" type="pres">
      <dgm:prSet presAssocID="{6752B553-CB9A-4B4B-B400-1A2F5D3AEAF5}" presName="textRect" presStyleLbl="revTx" presStyleIdx="4" presStyleCnt="5" custScaleX="195475" custLinFactX="42449" custLinFactNeighborX="100000" custLinFactNeighborY="23350">
        <dgm:presLayoutVars>
          <dgm:chMax val="1"/>
          <dgm:chPref val="1"/>
        </dgm:presLayoutVars>
      </dgm:prSet>
      <dgm:spPr/>
    </dgm:pt>
  </dgm:ptLst>
  <dgm:cxnLst>
    <dgm:cxn modelId="{96E81C25-7709-477E-9DAD-7F0D06F85358}" type="presOf" srcId="{6752B553-CB9A-4B4B-B400-1A2F5D3AEAF5}" destId="{DF182821-11E4-4B76-9620-462AF6B69D5A}" srcOrd="0" destOrd="0" presId="urn:microsoft.com/office/officeart/2018/2/layout/IconLabelList"/>
    <dgm:cxn modelId="{27A5973D-5DCA-4DD1-9212-73BA453EF2CE}" type="presOf" srcId="{5A5FC70D-C891-46DF-95BE-BE3E71C0DD4B}" destId="{A235C447-C6DB-4079-BBD5-ACC9475E05B8}" srcOrd="0" destOrd="0" presId="urn:microsoft.com/office/officeart/2018/2/layout/IconLabelList"/>
    <dgm:cxn modelId="{0AA95262-9923-4582-BF0D-F42E9E33E7C5}" type="presOf" srcId="{421C4D7E-7A34-4568-AEDF-BEC939B9C1DE}" destId="{A338ACF8-866F-4B58-AE1B-791DB672A4AD}" srcOrd="0" destOrd="0" presId="urn:microsoft.com/office/officeart/2018/2/layout/IconLabelList"/>
    <dgm:cxn modelId="{B9F4A242-03EC-40E4-BD17-6B00BB88C0DA}" srcId="{6B68A1C3-2938-4BC5-877E-1361AE959661}" destId="{8A78855D-8C0B-4596-8D69-3193752D8FB0}" srcOrd="1" destOrd="0" parTransId="{2A4F56FD-69DE-433D-87E1-100373D7F1DD}" sibTransId="{1FAFD049-D874-4D80-99AB-36588598C425}"/>
    <dgm:cxn modelId="{5109CB45-7175-47AA-BA85-581B406FB85F}" srcId="{6B68A1C3-2938-4BC5-877E-1361AE959661}" destId="{421C4D7E-7A34-4568-AEDF-BEC939B9C1DE}" srcOrd="0" destOrd="0" parTransId="{FB5FC3B8-6C2F-42C7-8764-18BD4537AA41}" sibTransId="{CC1FD0F9-BCD4-4636-B364-19E8C7C532AC}"/>
    <dgm:cxn modelId="{E6086B56-327D-481C-B42A-42AAC893AA28}" srcId="{6B68A1C3-2938-4BC5-877E-1361AE959661}" destId="{5A5FC70D-C891-46DF-95BE-BE3E71C0DD4B}" srcOrd="3" destOrd="0" parTransId="{50EAC485-CE67-46C5-81B2-B9AAB982A234}" sibTransId="{34020472-C5B3-49ED-A953-1E6406BF02DB}"/>
    <dgm:cxn modelId="{5C73C4AF-A2F7-4703-9200-77211312C223}" type="presOf" srcId="{C9EECA3D-9DAE-40D5-BDA0-0964C2EF1C77}" destId="{3B23405F-6C76-4691-BBC9-EEABAEEA8B21}" srcOrd="0" destOrd="0" presId="urn:microsoft.com/office/officeart/2018/2/layout/IconLabelList"/>
    <dgm:cxn modelId="{095256B9-1E69-4BA0-94EB-038680CF43B5}" srcId="{6B68A1C3-2938-4BC5-877E-1361AE959661}" destId="{6752B553-CB9A-4B4B-B400-1A2F5D3AEAF5}" srcOrd="4" destOrd="0" parTransId="{B2C1A663-4913-4D15-96E2-980EF836ABB7}" sibTransId="{AC600000-C7AA-45A9-B5BC-820DE199F934}"/>
    <dgm:cxn modelId="{268151D1-1A82-4330-AB16-609DEFF90B63}" srcId="{6B68A1C3-2938-4BC5-877E-1361AE959661}" destId="{C9EECA3D-9DAE-40D5-BDA0-0964C2EF1C77}" srcOrd="2" destOrd="0" parTransId="{B2DA2BB7-535A-4803-BCA5-B0E9C0B83BCE}" sibTransId="{815DF89B-0900-4B3F-AE83-AAA73C267E01}"/>
    <dgm:cxn modelId="{C32151E1-EC3B-496E-860D-0F4006BF80A7}" type="presOf" srcId="{6B68A1C3-2938-4BC5-877E-1361AE959661}" destId="{0DBF8892-9550-4622-AF4E-56CD3A331C7D}" srcOrd="0" destOrd="0" presId="urn:microsoft.com/office/officeart/2018/2/layout/IconLabelList"/>
    <dgm:cxn modelId="{9CEC48FF-B1AE-4D2D-AB3A-8FB4D8EE29D2}" type="presOf" srcId="{8A78855D-8C0B-4596-8D69-3193752D8FB0}" destId="{02579B64-2AB2-4730-A533-F60BE899E7A8}" srcOrd="0" destOrd="0" presId="urn:microsoft.com/office/officeart/2018/2/layout/IconLabelList"/>
    <dgm:cxn modelId="{9AEA3387-1F77-44D5-A9AD-37EABB4A84B7}" type="presParOf" srcId="{0DBF8892-9550-4622-AF4E-56CD3A331C7D}" destId="{460205C0-D3F8-497A-BA5B-A6C056BFFB71}" srcOrd="0" destOrd="0" presId="urn:microsoft.com/office/officeart/2018/2/layout/IconLabelList"/>
    <dgm:cxn modelId="{944DDB4D-2586-45A1-877A-7AD44C2A3CAA}" type="presParOf" srcId="{460205C0-D3F8-497A-BA5B-A6C056BFFB71}" destId="{65C316AA-89EC-4508-8FC6-901C2BE1E22B}" srcOrd="0" destOrd="0" presId="urn:microsoft.com/office/officeart/2018/2/layout/IconLabelList"/>
    <dgm:cxn modelId="{DC7FC818-FA38-499A-9333-1135F8D53DD3}" type="presParOf" srcId="{460205C0-D3F8-497A-BA5B-A6C056BFFB71}" destId="{0B174408-46D0-4CD5-9ADD-1E66E2EADEF6}" srcOrd="1" destOrd="0" presId="urn:microsoft.com/office/officeart/2018/2/layout/IconLabelList"/>
    <dgm:cxn modelId="{6BD2332A-0EFE-4D2D-99D2-4DB939F94B17}" type="presParOf" srcId="{460205C0-D3F8-497A-BA5B-A6C056BFFB71}" destId="{A338ACF8-866F-4B58-AE1B-791DB672A4AD}" srcOrd="2" destOrd="0" presId="urn:microsoft.com/office/officeart/2018/2/layout/IconLabelList"/>
    <dgm:cxn modelId="{588AB89C-63FF-4D0C-A6AE-F84FD04A11F3}" type="presParOf" srcId="{0DBF8892-9550-4622-AF4E-56CD3A331C7D}" destId="{B470CC79-337E-4BAD-A78A-C70892E27E19}" srcOrd="1" destOrd="0" presId="urn:microsoft.com/office/officeart/2018/2/layout/IconLabelList"/>
    <dgm:cxn modelId="{016C599C-C79C-4301-8802-E356A882670E}" type="presParOf" srcId="{0DBF8892-9550-4622-AF4E-56CD3A331C7D}" destId="{F86FDE23-9BB3-4390-B78D-5F50C33A6617}" srcOrd="2" destOrd="0" presId="urn:microsoft.com/office/officeart/2018/2/layout/IconLabelList"/>
    <dgm:cxn modelId="{6EB70F2D-74DE-4320-9C41-B2B5BBF122A3}" type="presParOf" srcId="{F86FDE23-9BB3-4390-B78D-5F50C33A6617}" destId="{657A4D31-841E-4CA4-A48C-C0433A9D5B4D}" srcOrd="0" destOrd="0" presId="urn:microsoft.com/office/officeart/2018/2/layout/IconLabelList"/>
    <dgm:cxn modelId="{6EF736EF-BEDE-4153-9161-E43561610FDF}" type="presParOf" srcId="{F86FDE23-9BB3-4390-B78D-5F50C33A6617}" destId="{CC7D96C9-0C30-4C9C-9D5D-959EFD8AFCA1}" srcOrd="1" destOrd="0" presId="urn:microsoft.com/office/officeart/2018/2/layout/IconLabelList"/>
    <dgm:cxn modelId="{FC8F2499-AE82-4F89-AA0F-19714F308BE1}" type="presParOf" srcId="{F86FDE23-9BB3-4390-B78D-5F50C33A6617}" destId="{02579B64-2AB2-4730-A533-F60BE899E7A8}" srcOrd="2" destOrd="0" presId="urn:microsoft.com/office/officeart/2018/2/layout/IconLabelList"/>
    <dgm:cxn modelId="{3B402FEB-DF05-455F-99B6-7259AA06CB28}" type="presParOf" srcId="{0DBF8892-9550-4622-AF4E-56CD3A331C7D}" destId="{D476B3DF-E0B8-4D84-9E4B-84A6C1861E82}" srcOrd="3" destOrd="0" presId="urn:microsoft.com/office/officeart/2018/2/layout/IconLabelList"/>
    <dgm:cxn modelId="{E209E63D-031C-4128-B0AF-F3B2DCA3861B}" type="presParOf" srcId="{0DBF8892-9550-4622-AF4E-56CD3A331C7D}" destId="{6EBE1B3F-DEA3-47E6-A0E3-FC4E38DB592B}" srcOrd="4" destOrd="0" presId="urn:microsoft.com/office/officeart/2018/2/layout/IconLabelList"/>
    <dgm:cxn modelId="{A280A7C6-01DE-4D05-AE2C-F5FC39B6E2AC}" type="presParOf" srcId="{6EBE1B3F-DEA3-47E6-A0E3-FC4E38DB592B}" destId="{E7140B8B-84A7-4844-8529-108E796802F3}" srcOrd="0" destOrd="0" presId="urn:microsoft.com/office/officeart/2018/2/layout/IconLabelList"/>
    <dgm:cxn modelId="{D68A987B-1A92-446A-9172-4182CDCB49AC}" type="presParOf" srcId="{6EBE1B3F-DEA3-47E6-A0E3-FC4E38DB592B}" destId="{E8E8C5E1-F3AE-4C65-977C-75A53283C420}" srcOrd="1" destOrd="0" presId="urn:microsoft.com/office/officeart/2018/2/layout/IconLabelList"/>
    <dgm:cxn modelId="{D3776D71-4B72-4684-A5E0-83AB25B8D70E}" type="presParOf" srcId="{6EBE1B3F-DEA3-47E6-A0E3-FC4E38DB592B}" destId="{3B23405F-6C76-4691-BBC9-EEABAEEA8B21}" srcOrd="2" destOrd="0" presId="urn:microsoft.com/office/officeart/2018/2/layout/IconLabelList"/>
    <dgm:cxn modelId="{73F19A5E-7D14-42EF-8195-AE9A15D80343}" type="presParOf" srcId="{0DBF8892-9550-4622-AF4E-56CD3A331C7D}" destId="{37599306-2A92-4DDB-93A8-47541837C722}" srcOrd="5" destOrd="0" presId="urn:microsoft.com/office/officeart/2018/2/layout/IconLabelList"/>
    <dgm:cxn modelId="{F953327E-2E6B-4D11-82EB-8FCB9F0F0D5E}" type="presParOf" srcId="{0DBF8892-9550-4622-AF4E-56CD3A331C7D}" destId="{5B8B5A7E-C2B8-4790-A4FE-CC6AA43337AA}" srcOrd="6" destOrd="0" presId="urn:microsoft.com/office/officeart/2018/2/layout/IconLabelList"/>
    <dgm:cxn modelId="{F8AD5412-953E-4AD3-8EC8-ED00967BB10E}" type="presParOf" srcId="{5B8B5A7E-C2B8-4790-A4FE-CC6AA43337AA}" destId="{745905AA-6307-4853-8A2A-B63562679165}" srcOrd="0" destOrd="0" presId="urn:microsoft.com/office/officeart/2018/2/layout/IconLabelList"/>
    <dgm:cxn modelId="{6243841D-1B63-4437-9AF0-DA7E05E2E49F}" type="presParOf" srcId="{5B8B5A7E-C2B8-4790-A4FE-CC6AA43337AA}" destId="{9C8FF63A-7F40-43D4-9E1E-249E96E1E688}" srcOrd="1" destOrd="0" presId="urn:microsoft.com/office/officeart/2018/2/layout/IconLabelList"/>
    <dgm:cxn modelId="{B4B7805D-8441-4830-92D8-19146D77A8F5}" type="presParOf" srcId="{5B8B5A7E-C2B8-4790-A4FE-CC6AA43337AA}" destId="{A235C447-C6DB-4079-BBD5-ACC9475E05B8}" srcOrd="2" destOrd="0" presId="urn:microsoft.com/office/officeart/2018/2/layout/IconLabelList"/>
    <dgm:cxn modelId="{44120C14-546B-447F-B224-07DD3B938EB0}" type="presParOf" srcId="{0DBF8892-9550-4622-AF4E-56CD3A331C7D}" destId="{D855C2BD-ED74-4B28-8440-387FEB148A31}" srcOrd="7" destOrd="0" presId="urn:microsoft.com/office/officeart/2018/2/layout/IconLabelList"/>
    <dgm:cxn modelId="{CD40B434-F5F8-482C-B8F5-95040CD3A0BB}" type="presParOf" srcId="{0DBF8892-9550-4622-AF4E-56CD3A331C7D}" destId="{41873A52-7890-476F-B410-FC203FC4E2E1}" srcOrd="8" destOrd="0" presId="urn:microsoft.com/office/officeart/2018/2/layout/IconLabelList"/>
    <dgm:cxn modelId="{880DC7F8-FC51-4E51-A2CA-901E9D54AD64}" type="presParOf" srcId="{41873A52-7890-476F-B410-FC203FC4E2E1}" destId="{71DDD417-76D1-478B-855E-D16FA1026E83}" srcOrd="0" destOrd="0" presId="urn:microsoft.com/office/officeart/2018/2/layout/IconLabelList"/>
    <dgm:cxn modelId="{86ACE33F-F449-48DD-A387-455BCAB5414A}" type="presParOf" srcId="{41873A52-7890-476F-B410-FC203FC4E2E1}" destId="{17BBC806-D705-4605-9EF2-BA26FFAA3D63}" srcOrd="1" destOrd="0" presId="urn:microsoft.com/office/officeart/2018/2/layout/IconLabelList"/>
    <dgm:cxn modelId="{27489C0F-FA27-4304-8D08-195CDA186A1C}" type="presParOf" srcId="{41873A52-7890-476F-B410-FC203FC4E2E1}" destId="{DF182821-11E4-4B76-9620-462AF6B69D5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CBC11D-ADAF-4013-AF48-2E1C03AA57AB}" type="doc">
      <dgm:prSet loTypeId="urn:microsoft.com/office/officeart/2018/2/layout/IconVerticalSolidList" loCatId="icon" qsTypeId="urn:microsoft.com/office/officeart/2005/8/quickstyle/simple1#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9033A8-E399-4874-969C-11AAE1589EED}">
      <dgm:prSet custT="1"/>
      <dgm:spPr/>
      <dgm:t>
        <a:bodyPr/>
        <a:lstStyle/>
        <a:p>
          <a:r>
            <a:rPr lang="es-AR" sz="1800" b="1" i="0" baseline="0" dirty="0"/>
            <a:t>Cultura Data-</a:t>
          </a:r>
          <a:r>
            <a:rPr lang="es-AR" sz="1800" b="1" i="0" baseline="0" dirty="0" err="1"/>
            <a:t>Driven</a:t>
          </a:r>
          <a:r>
            <a:rPr lang="es-AR" sz="1800" b="1" i="0" baseline="0" dirty="0"/>
            <a:t>:</a:t>
          </a:r>
          <a:r>
            <a:rPr lang="es-AR" sz="1800" b="0" i="0" baseline="0" dirty="0"/>
            <a:t> La tecnología permite pasar de la intuición a la precisión. Las empresas líderes usan analítica predictiva para adelantarse a las tendencias del mercado.</a:t>
          </a:r>
          <a:endParaRPr lang="en-US" sz="1800" dirty="0"/>
        </a:p>
      </dgm:t>
    </dgm:pt>
    <dgm:pt modelId="{37F35342-BE67-4F0E-A2D8-E93322134B99}" type="parTrans" cxnId="{A792742D-B0CC-4207-99AD-236F528DDE40}">
      <dgm:prSet/>
      <dgm:spPr/>
      <dgm:t>
        <a:bodyPr/>
        <a:lstStyle/>
        <a:p>
          <a:endParaRPr lang="en-US"/>
        </a:p>
      </dgm:t>
    </dgm:pt>
    <dgm:pt modelId="{99D1D51E-4C8B-450A-8397-7339A062BDEA}" type="sibTrans" cxnId="{A792742D-B0CC-4207-99AD-236F528DDE40}">
      <dgm:prSet/>
      <dgm:spPr/>
      <dgm:t>
        <a:bodyPr/>
        <a:lstStyle/>
        <a:p>
          <a:endParaRPr lang="en-US"/>
        </a:p>
      </dgm:t>
    </dgm:pt>
    <dgm:pt modelId="{F47CAD0E-2A0A-4989-88B2-E2C00CB50ACD}">
      <dgm:prSet custT="1"/>
      <dgm:spPr/>
      <dgm:t>
        <a:bodyPr/>
        <a:lstStyle/>
        <a:p>
          <a:r>
            <a:rPr lang="es-AR" sz="1800" b="1" i="0" baseline="0" dirty="0"/>
            <a:t>Gemelos Digitales (Digital </a:t>
          </a:r>
          <a:r>
            <a:rPr lang="es-AR" sz="1800" b="1" i="0" baseline="0" dirty="0" err="1"/>
            <a:t>Twins</a:t>
          </a:r>
          <a:r>
            <a:rPr lang="es-AR" sz="1800" b="1" i="0" baseline="0" dirty="0"/>
            <a:t>):</a:t>
          </a:r>
          <a:r>
            <a:rPr lang="es-AR" sz="1800" b="0" i="0" baseline="0" dirty="0"/>
            <a:t> Se utilizan para simular escenarios de negocio, permitiendo probar cambios en la cadena de suministro o en la producción en un entorno virtual antes de aplicarlos en la realidad.</a:t>
          </a:r>
          <a:endParaRPr lang="en-US" sz="1800" dirty="0"/>
        </a:p>
      </dgm:t>
    </dgm:pt>
    <dgm:pt modelId="{73EA6E42-DF0E-4F2D-940F-54997CA5011E}" type="parTrans" cxnId="{F1E59836-CCDA-4E20-AA58-D68EC89A54A7}">
      <dgm:prSet/>
      <dgm:spPr/>
      <dgm:t>
        <a:bodyPr/>
        <a:lstStyle/>
        <a:p>
          <a:endParaRPr lang="en-US"/>
        </a:p>
      </dgm:t>
    </dgm:pt>
    <dgm:pt modelId="{D2DA54AA-56AE-46B8-BFA6-F03629AC389A}" type="sibTrans" cxnId="{F1E59836-CCDA-4E20-AA58-D68EC89A54A7}">
      <dgm:prSet/>
      <dgm:spPr/>
      <dgm:t>
        <a:bodyPr/>
        <a:lstStyle/>
        <a:p>
          <a:endParaRPr lang="en-US"/>
        </a:p>
      </dgm:t>
    </dgm:pt>
    <dgm:pt modelId="{7A809775-408B-4ECC-8E9A-1A52FCF7CC17}" type="pres">
      <dgm:prSet presAssocID="{50CBC11D-ADAF-4013-AF48-2E1C03AA57AB}" presName="root" presStyleCnt="0">
        <dgm:presLayoutVars>
          <dgm:dir/>
          <dgm:resizeHandles val="exact"/>
        </dgm:presLayoutVars>
      </dgm:prSet>
      <dgm:spPr/>
    </dgm:pt>
    <dgm:pt modelId="{136D6327-45AD-4AF0-8028-F80419C3DBE6}" type="pres">
      <dgm:prSet presAssocID="{BE9033A8-E399-4874-969C-11AAE1589EED}" presName="compNode" presStyleCnt="0"/>
      <dgm:spPr/>
    </dgm:pt>
    <dgm:pt modelId="{D1255CE2-C498-400E-A0E6-18A89D4D2A24}" type="pres">
      <dgm:prSet presAssocID="{BE9033A8-E399-4874-969C-11AAE1589EED}" presName="bgRect" presStyleLbl="bgShp" presStyleIdx="0" presStyleCnt="2" custScaleY="2000000"/>
      <dgm:spPr/>
    </dgm:pt>
    <dgm:pt modelId="{4B9D6EC1-9A12-4724-87E9-137BA1253E61}" type="pres">
      <dgm:prSet presAssocID="{BE9033A8-E399-4874-969C-11AAE1589EE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5978B5D1-098A-40BD-8CAD-60322EE5ABAA}" type="pres">
      <dgm:prSet presAssocID="{BE9033A8-E399-4874-969C-11AAE1589EED}" presName="spaceRect" presStyleCnt="0"/>
      <dgm:spPr/>
    </dgm:pt>
    <dgm:pt modelId="{FBC6673F-1167-48DB-A539-100FB6A2FCAB}" type="pres">
      <dgm:prSet presAssocID="{BE9033A8-E399-4874-969C-11AAE1589EED}" presName="parTx" presStyleLbl="revTx" presStyleIdx="0" presStyleCnt="2" custScaleX="114926" custScaleY="50699">
        <dgm:presLayoutVars>
          <dgm:chMax val="0"/>
          <dgm:chPref val="0"/>
        </dgm:presLayoutVars>
      </dgm:prSet>
      <dgm:spPr/>
    </dgm:pt>
    <dgm:pt modelId="{F68644D2-6C1D-4280-B916-29E4F61343FE}" type="pres">
      <dgm:prSet presAssocID="{99D1D51E-4C8B-450A-8397-7339A062BDEA}" presName="sibTrans" presStyleCnt="0"/>
      <dgm:spPr/>
    </dgm:pt>
    <dgm:pt modelId="{D89DF56F-4366-4D12-B50A-CA29C2FDE83A}" type="pres">
      <dgm:prSet presAssocID="{F47CAD0E-2A0A-4989-88B2-E2C00CB50ACD}" presName="compNode" presStyleCnt="0"/>
      <dgm:spPr/>
    </dgm:pt>
    <dgm:pt modelId="{D7B4BD4A-B3A9-4D35-8B84-8857EE74B94C}" type="pres">
      <dgm:prSet presAssocID="{F47CAD0E-2A0A-4989-88B2-E2C00CB50ACD}" presName="bgRect" presStyleLbl="bgShp" presStyleIdx="1" presStyleCnt="2" custScaleY="2000000" custLinFactNeighborX="32" custLinFactNeighborY="-4174"/>
      <dgm:spPr/>
    </dgm:pt>
    <dgm:pt modelId="{CF1A35B3-97B3-45D4-8F1D-4059CD5E19BB}" type="pres">
      <dgm:prSet presAssocID="{F47CAD0E-2A0A-4989-88B2-E2C00CB50AC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8EE6FB7-18E5-40E1-BB53-50714CC88A75}" type="pres">
      <dgm:prSet presAssocID="{F47CAD0E-2A0A-4989-88B2-E2C00CB50ACD}" presName="spaceRect" presStyleCnt="0"/>
      <dgm:spPr/>
    </dgm:pt>
    <dgm:pt modelId="{F62094FF-7E37-43A3-822A-3A0C65C634FB}" type="pres">
      <dgm:prSet presAssocID="{F47CAD0E-2A0A-4989-88B2-E2C00CB50ACD}" presName="parTx" presStyleLbl="revTx" presStyleIdx="1" presStyleCnt="2" custScaleY="138378" custLinFactNeighborX="-3039" custLinFactNeighborY="-25588">
        <dgm:presLayoutVars>
          <dgm:chMax val="0"/>
          <dgm:chPref val="0"/>
        </dgm:presLayoutVars>
      </dgm:prSet>
      <dgm:spPr/>
    </dgm:pt>
  </dgm:ptLst>
  <dgm:cxnLst>
    <dgm:cxn modelId="{37FF8324-70D3-4C73-A9E2-AA022E52FB28}" type="presOf" srcId="{BE9033A8-E399-4874-969C-11AAE1589EED}" destId="{FBC6673F-1167-48DB-A539-100FB6A2FCAB}" srcOrd="0" destOrd="0" presId="urn:microsoft.com/office/officeart/2018/2/layout/IconVerticalSolidList"/>
    <dgm:cxn modelId="{A792742D-B0CC-4207-99AD-236F528DDE40}" srcId="{50CBC11D-ADAF-4013-AF48-2E1C03AA57AB}" destId="{BE9033A8-E399-4874-969C-11AAE1589EED}" srcOrd="0" destOrd="0" parTransId="{37F35342-BE67-4F0E-A2D8-E93322134B99}" sibTransId="{99D1D51E-4C8B-450A-8397-7339A062BDEA}"/>
    <dgm:cxn modelId="{F1E59836-CCDA-4E20-AA58-D68EC89A54A7}" srcId="{50CBC11D-ADAF-4013-AF48-2E1C03AA57AB}" destId="{F47CAD0E-2A0A-4989-88B2-E2C00CB50ACD}" srcOrd="1" destOrd="0" parTransId="{73EA6E42-DF0E-4F2D-940F-54997CA5011E}" sibTransId="{D2DA54AA-56AE-46B8-BFA6-F03629AC389A}"/>
    <dgm:cxn modelId="{1999BF89-EF71-4034-A965-854E687D9923}" type="presOf" srcId="{F47CAD0E-2A0A-4989-88B2-E2C00CB50ACD}" destId="{F62094FF-7E37-43A3-822A-3A0C65C634FB}" srcOrd="0" destOrd="0" presId="urn:microsoft.com/office/officeart/2018/2/layout/IconVerticalSolidList"/>
    <dgm:cxn modelId="{0AC782B9-A679-438B-A25F-BA63E09C9C6B}" type="presOf" srcId="{50CBC11D-ADAF-4013-AF48-2E1C03AA57AB}" destId="{7A809775-408B-4ECC-8E9A-1A52FCF7CC17}" srcOrd="0" destOrd="0" presId="urn:microsoft.com/office/officeart/2018/2/layout/IconVerticalSolidList"/>
    <dgm:cxn modelId="{F4AF706C-556D-4F73-984F-B7567D2C7428}" type="presParOf" srcId="{7A809775-408B-4ECC-8E9A-1A52FCF7CC17}" destId="{136D6327-45AD-4AF0-8028-F80419C3DBE6}" srcOrd="0" destOrd="0" presId="urn:microsoft.com/office/officeart/2018/2/layout/IconVerticalSolidList"/>
    <dgm:cxn modelId="{AD0F9569-0A72-4CDF-838B-3C3E6BE96596}" type="presParOf" srcId="{136D6327-45AD-4AF0-8028-F80419C3DBE6}" destId="{D1255CE2-C498-400E-A0E6-18A89D4D2A24}" srcOrd="0" destOrd="0" presId="urn:microsoft.com/office/officeart/2018/2/layout/IconVerticalSolidList"/>
    <dgm:cxn modelId="{4CD96434-4274-4D24-8650-886B8649EBFA}" type="presParOf" srcId="{136D6327-45AD-4AF0-8028-F80419C3DBE6}" destId="{4B9D6EC1-9A12-4724-87E9-137BA1253E61}" srcOrd="1" destOrd="0" presId="urn:microsoft.com/office/officeart/2018/2/layout/IconVerticalSolidList"/>
    <dgm:cxn modelId="{4797A32A-28EC-4C54-B45E-7A2078788A5E}" type="presParOf" srcId="{136D6327-45AD-4AF0-8028-F80419C3DBE6}" destId="{5978B5D1-098A-40BD-8CAD-60322EE5ABAA}" srcOrd="2" destOrd="0" presId="urn:microsoft.com/office/officeart/2018/2/layout/IconVerticalSolidList"/>
    <dgm:cxn modelId="{C5BBCE16-0402-45FE-B89B-C263FF7D2476}" type="presParOf" srcId="{136D6327-45AD-4AF0-8028-F80419C3DBE6}" destId="{FBC6673F-1167-48DB-A539-100FB6A2FCAB}" srcOrd="3" destOrd="0" presId="urn:microsoft.com/office/officeart/2018/2/layout/IconVerticalSolidList"/>
    <dgm:cxn modelId="{EB2BE652-749D-47EF-9636-29CE4D5DBA13}" type="presParOf" srcId="{7A809775-408B-4ECC-8E9A-1A52FCF7CC17}" destId="{F68644D2-6C1D-4280-B916-29E4F61343FE}" srcOrd="1" destOrd="0" presId="urn:microsoft.com/office/officeart/2018/2/layout/IconVerticalSolidList"/>
    <dgm:cxn modelId="{755CD190-8528-4C26-BD52-1DF84130374D}" type="presParOf" srcId="{7A809775-408B-4ECC-8E9A-1A52FCF7CC17}" destId="{D89DF56F-4366-4D12-B50A-CA29C2FDE83A}" srcOrd="2" destOrd="0" presId="urn:microsoft.com/office/officeart/2018/2/layout/IconVerticalSolidList"/>
    <dgm:cxn modelId="{B317A079-1BDC-4A6B-8197-7FD856B5E7BB}" type="presParOf" srcId="{D89DF56F-4366-4D12-B50A-CA29C2FDE83A}" destId="{D7B4BD4A-B3A9-4D35-8B84-8857EE74B94C}" srcOrd="0" destOrd="0" presId="urn:microsoft.com/office/officeart/2018/2/layout/IconVerticalSolidList"/>
    <dgm:cxn modelId="{BBC65715-96C1-443E-9A52-5AABC690A2AC}" type="presParOf" srcId="{D89DF56F-4366-4D12-B50A-CA29C2FDE83A}" destId="{CF1A35B3-97B3-45D4-8F1D-4059CD5E19BB}" srcOrd="1" destOrd="0" presId="urn:microsoft.com/office/officeart/2018/2/layout/IconVerticalSolidList"/>
    <dgm:cxn modelId="{E49C5D2A-F4D3-48C4-A6A3-1C4CB1B32C17}" type="presParOf" srcId="{D89DF56F-4366-4D12-B50A-CA29C2FDE83A}" destId="{68EE6FB7-18E5-40E1-BB53-50714CC88A75}" srcOrd="2" destOrd="0" presId="urn:microsoft.com/office/officeart/2018/2/layout/IconVerticalSolidList"/>
    <dgm:cxn modelId="{E40C6AE8-713D-4506-8C1D-F00E42F87D89}" type="presParOf" srcId="{D89DF56F-4366-4D12-B50A-CA29C2FDE83A}" destId="{F62094FF-7E37-43A3-822A-3A0C65C634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4F82D3-D1CB-4618-BA85-9938CEB21C64}" type="doc">
      <dgm:prSet loTypeId="urn:microsoft.com/office/officeart/2005/8/layout/hierarchy1" loCatId="hierarchy" qsTypeId="urn:microsoft.com/office/officeart/2005/8/quickstyle/simple1#5" qsCatId="simple" csTypeId="urn:microsoft.com/office/officeart/2005/8/colors/colorful2#2" csCatId="colorful"/>
      <dgm:spPr/>
      <dgm:t>
        <a:bodyPr/>
        <a:lstStyle/>
        <a:p>
          <a:endParaRPr lang="en-US"/>
        </a:p>
      </dgm:t>
    </dgm:pt>
    <dgm:pt modelId="{C3D93F6D-7CBD-41CF-8CF9-38EBEB91FBA2}">
      <dgm:prSet/>
      <dgm:spPr/>
      <dgm:t>
        <a:bodyPr/>
        <a:lstStyle/>
        <a:p>
          <a:r>
            <a:rPr lang="es-AR" b="1" i="0" baseline="0" dirty="0"/>
            <a:t>Omnicanalidad Inteligente:</a:t>
          </a:r>
          <a:r>
            <a:rPr lang="es-AR" b="0" i="0" baseline="0" dirty="0"/>
            <a:t> El cliente ya no espera 24 horas; espera respuestas en </a:t>
          </a:r>
          <a:r>
            <a:rPr lang="es-AR" b="1" i="0" baseline="0" dirty="0"/>
            <a:t>5 minutos</a:t>
          </a:r>
          <a:r>
            <a:rPr lang="es-AR" b="0" i="0" baseline="0" dirty="0"/>
            <a:t>. La IA generativa permite que cada interacción sea personalizada según el historial y el sentimiento del usuario.</a:t>
          </a:r>
          <a:endParaRPr lang="en-US" dirty="0"/>
        </a:p>
      </dgm:t>
    </dgm:pt>
    <dgm:pt modelId="{39FD7770-212E-4144-9974-BECE7C076912}" type="parTrans" cxnId="{21A24369-C65A-4232-B93E-3A52C9FFAB5D}">
      <dgm:prSet/>
      <dgm:spPr/>
      <dgm:t>
        <a:bodyPr/>
        <a:lstStyle/>
        <a:p>
          <a:endParaRPr lang="en-US"/>
        </a:p>
      </dgm:t>
    </dgm:pt>
    <dgm:pt modelId="{D14642DF-2064-4517-90EC-2A11B66F466F}" type="sibTrans" cxnId="{21A24369-C65A-4232-B93E-3A52C9FFAB5D}">
      <dgm:prSet/>
      <dgm:spPr/>
      <dgm:t>
        <a:bodyPr/>
        <a:lstStyle/>
        <a:p>
          <a:endParaRPr lang="en-US"/>
        </a:p>
      </dgm:t>
    </dgm:pt>
    <dgm:pt modelId="{9E47918D-EF6C-4822-BC24-C40728D37ECC}">
      <dgm:prSet/>
      <dgm:spPr/>
      <dgm:t>
        <a:bodyPr/>
        <a:lstStyle/>
        <a:p>
          <a:r>
            <a:rPr lang="es-AR" b="1" i="0" baseline="0"/>
            <a:t>Realidad Inmersiva:</a:t>
          </a:r>
          <a:r>
            <a:rPr lang="es-AR" b="0" i="0" baseline="0"/>
            <a:t> El uso de AR (Realidad Aumentada) y VR (Realidad Virtual) está pasando del entretenimiento a la venta y formación, permitiendo a los clientes "probar" productos o a los empleados entrenarse en entornos seguros.</a:t>
          </a:r>
          <a:endParaRPr lang="en-US"/>
        </a:p>
      </dgm:t>
    </dgm:pt>
    <dgm:pt modelId="{63395556-1B6F-4F2A-B144-3132CED45BA5}" type="parTrans" cxnId="{24F469D5-DADD-4394-AA0E-64F0579AF6F3}">
      <dgm:prSet/>
      <dgm:spPr/>
      <dgm:t>
        <a:bodyPr/>
        <a:lstStyle/>
        <a:p>
          <a:endParaRPr lang="en-US"/>
        </a:p>
      </dgm:t>
    </dgm:pt>
    <dgm:pt modelId="{DB1C0224-08E3-4C77-8211-EDD8F0AC2FCA}" type="sibTrans" cxnId="{24F469D5-DADD-4394-AA0E-64F0579AF6F3}">
      <dgm:prSet/>
      <dgm:spPr/>
      <dgm:t>
        <a:bodyPr/>
        <a:lstStyle/>
        <a:p>
          <a:endParaRPr lang="en-US"/>
        </a:p>
      </dgm:t>
    </dgm:pt>
    <dgm:pt modelId="{FF594BDC-DA58-49B4-A34E-1BC9AC766B34}" type="pres">
      <dgm:prSet presAssocID="{C34F82D3-D1CB-4618-BA85-9938CEB21C6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C68FC1-78A9-4EF0-8F0D-7F7A8C059791}" type="pres">
      <dgm:prSet presAssocID="{C3D93F6D-7CBD-41CF-8CF9-38EBEB91FBA2}" presName="hierRoot1" presStyleCnt="0"/>
      <dgm:spPr/>
    </dgm:pt>
    <dgm:pt modelId="{D0BA07DE-2880-4F0D-BAA3-D66772E45DFB}" type="pres">
      <dgm:prSet presAssocID="{C3D93F6D-7CBD-41CF-8CF9-38EBEB91FBA2}" presName="composite" presStyleCnt="0"/>
      <dgm:spPr/>
    </dgm:pt>
    <dgm:pt modelId="{E90D6BB7-244D-4C34-8A4A-928EFFB13E3E}" type="pres">
      <dgm:prSet presAssocID="{C3D93F6D-7CBD-41CF-8CF9-38EBEB91FBA2}" presName="background" presStyleLbl="node0" presStyleIdx="0" presStyleCnt="2"/>
      <dgm:spPr/>
    </dgm:pt>
    <dgm:pt modelId="{4EF9B8E6-A36D-40EB-B020-DFAFE96D0D02}" type="pres">
      <dgm:prSet presAssocID="{C3D93F6D-7CBD-41CF-8CF9-38EBEB91FBA2}" presName="text" presStyleLbl="fgAcc0" presStyleIdx="0" presStyleCnt="2">
        <dgm:presLayoutVars>
          <dgm:chPref val="3"/>
        </dgm:presLayoutVars>
      </dgm:prSet>
      <dgm:spPr/>
    </dgm:pt>
    <dgm:pt modelId="{D6A09575-FDCC-4A9B-89D7-19F511AAE828}" type="pres">
      <dgm:prSet presAssocID="{C3D93F6D-7CBD-41CF-8CF9-38EBEB91FBA2}" presName="hierChild2" presStyleCnt="0"/>
      <dgm:spPr/>
    </dgm:pt>
    <dgm:pt modelId="{FD8ECDB2-8718-4DA2-A024-DD9B20C3395F}" type="pres">
      <dgm:prSet presAssocID="{9E47918D-EF6C-4822-BC24-C40728D37ECC}" presName="hierRoot1" presStyleCnt="0"/>
      <dgm:spPr/>
    </dgm:pt>
    <dgm:pt modelId="{9C0A7964-3485-4003-9E2E-889736406F78}" type="pres">
      <dgm:prSet presAssocID="{9E47918D-EF6C-4822-BC24-C40728D37ECC}" presName="composite" presStyleCnt="0"/>
      <dgm:spPr/>
    </dgm:pt>
    <dgm:pt modelId="{488D086F-7017-4784-A833-C6DA65DFBD26}" type="pres">
      <dgm:prSet presAssocID="{9E47918D-EF6C-4822-BC24-C40728D37ECC}" presName="background" presStyleLbl="node0" presStyleIdx="1" presStyleCnt="2"/>
      <dgm:spPr/>
    </dgm:pt>
    <dgm:pt modelId="{F044BE8A-C939-4640-B2ED-1A5E7D654764}" type="pres">
      <dgm:prSet presAssocID="{9E47918D-EF6C-4822-BC24-C40728D37ECC}" presName="text" presStyleLbl="fgAcc0" presStyleIdx="1" presStyleCnt="2">
        <dgm:presLayoutVars>
          <dgm:chPref val="3"/>
        </dgm:presLayoutVars>
      </dgm:prSet>
      <dgm:spPr/>
    </dgm:pt>
    <dgm:pt modelId="{B9A1C5F5-0E1D-4D3D-8D6A-81152B50BC84}" type="pres">
      <dgm:prSet presAssocID="{9E47918D-EF6C-4822-BC24-C40728D37ECC}" presName="hierChild2" presStyleCnt="0"/>
      <dgm:spPr/>
    </dgm:pt>
  </dgm:ptLst>
  <dgm:cxnLst>
    <dgm:cxn modelId="{A05D2B68-DD63-4C2B-B9F9-E6AA3A8A5413}" type="presOf" srcId="{9E47918D-EF6C-4822-BC24-C40728D37ECC}" destId="{F044BE8A-C939-4640-B2ED-1A5E7D654764}" srcOrd="0" destOrd="0" presId="urn:microsoft.com/office/officeart/2005/8/layout/hierarchy1"/>
    <dgm:cxn modelId="{21A24369-C65A-4232-B93E-3A52C9FFAB5D}" srcId="{C34F82D3-D1CB-4618-BA85-9938CEB21C64}" destId="{C3D93F6D-7CBD-41CF-8CF9-38EBEB91FBA2}" srcOrd="0" destOrd="0" parTransId="{39FD7770-212E-4144-9974-BECE7C076912}" sibTransId="{D14642DF-2064-4517-90EC-2A11B66F466F}"/>
    <dgm:cxn modelId="{AC1F2C89-C501-44B7-8CD8-FB5DA3D29B7A}" type="presOf" srcId="{C34F82D3-D1CB-4618-BA85-9938CEB21C64}" destId="{FF594BDC-DA58-49B4-A34E-1BC9AC766B34}" srcOrd="0" destOrd="0" presId="urn:microsoft.com/office/officeart/2005/8/layout/hierarchy1"/>
    <dgm:cxn modelId="{90B15DB3-1CC9-4C78-9AA7-BCBB7EF50F0D}" type="presOf" srcId="{C3D93F6D-7CBD-41CF-8CF9-38EBEB91FBA2}" destId="{4EF9B8E6-A36D-40EB-B020-DFAFE96D0D02}" srcOrd="0" destOrd="0" presId="urn:microsoft.com/office/officeart/2005/8/layout/hierarchy1"/>
    <dgm:cxn modelId="{24F469D5-DADD-4394-AA0E-64F0579AF6F3}" srcId="{C34F82D3-D1CB-4618-BA85-9938CEB21C64}" destId="{9E47918D-EF6C-4822-BC24-C40728D37ECC}" srcOrd="1" destOrd="0" parTransId="{63395556-1B6F-4F2A-B144-3132CED45BA5}" sibTransId="{DB1C0224-08E3-4C77-8211-EDD8F0AC2FCA}"/>
    <dgm:cxn modelId="{C32813F8-A956-47DC-A859-C52BDE0711C1}" type="presParOf" srcId="{FF594BDC-DA58-49B4-A34E-1BC9AC766B34}" destId="{57C68FC1-78A9-4EF0-8F0D-7F7A8C059791}" srcOrd="0" destOrd="0" presId="urn:microsoft.com/office/officeart/2005/8/layout/hierarchy1"/>
    <dgm:cxn modelId="{337D6A4A-6D11-49DB-8E8E-31F1AB99A7C5}" type="presParOf" srcId="{57C68FC1-78A9-4EF0-8F0D-7F7A8C059791}" destId="{D0BA07DE-2880-4F0D-BAA3-D66772E45DFB}" srcOrd="0" destOrd="0" presId="urn:microsoft.com/office/officeart/2005/8/layout/hierarchy1"/>
    <dgm:cxn modelId="{2285F0D5-6E7E-4A38-A2F0-53DA705BF237}" type="presParOf" srcId="{D0BA07DE-2880-4F0D-BAA3-D66772E45DFB}" destId="{E90D6BB7-244D-4C34-8A4A-928EFFB13E3E}" srcOrd="0" destOrd="0" presId="urn:microsoft.com/office/officeart/2005/8/layout/hierarchy1"/>
    <dgm:cxn modelId="{02806E6E-F50F-4374-B071-20C12A90F218}" type="presParOf" srcId="{D0BA07DE-2880-4F0D-BAA3-D66772E45DFB}" destId="{4EF9B8E6-A36D-40EB-B020-DFAFE96D0D02}" srcOrd="1" destOrd="0" presId="urn:microsoft.com/office/officeart/2005/8/layout/hierarchy1"/>
    <dgm:cxn modelId="{35D5040F-1773-4F90-ACCE-C0319328EE40}" type="presParOf" srcId="{57C68FC1-78A9-4EF0-8F0D-7F7A8C059791}" destId="{D6A09575-FDCC-4A9B-89D7-19F511AAE828}" srcOrd="1" destOrd="0" presId="urn:microsoft.com/office/officeart/2005/8/layout/hierarchy1"/>
    <dgm:cxn modelId="{77373267-4F51-4631-AFF6-853A9F1BEE61}" type="presParOf" srcId="{FF594BDC-DA58-49B4-A34E-1BC9AC766B34}" destId="{FD8ECDB2-8718-4DA2-A024-DD9B20C3395F}" srcOrd="1" destOrd="0" presId="urn:microsoft.com/office/officeart/2005/8/layout/hierarchy1"/>
    <dgm:cxn modelId="{104531F7-86C4-4633-9639-D0EB83C46652}" type="presParOf" srcId="{FD8ECDB2-8718-4DA2-A024-DD9B20C3395F}" destId="{9C0A7964-3485-4003-9E2E-889736406F78}" srcOrd="0" destOrd="0" presId="urn:microsoft.com/office/officeart/2005/8/layout/hierarchy1"/>
    <dgm:cxn modelId="{DC26172B-37DC-4B19-97B5-216278C5149A}" type="presParOf" srcId="{9C0A7964-3485-4003-9E2E-889736406F78}" destId="{488D086F-7017-4784-A833-C6DA65DFBD26}" srcOrd="0" destOrd="0" presId="urn:microsoft.com/office/officeart/2005/8/layout/hierarchy1"/>
    <dgm:cxn modelId="{EF4B4F66-0AFC-4B01-AAC5-C6413FA4720A}" type="presParOf" srcId="{9C0A7964-3485-4003-9E2E-889736406F78}" destId="{F044BE8A-C939-4640-B2ED-1A5E7D654764}" srcOrd="1" destOrd="0" presId="urn:microsoft.com/office/officeart/2005/8/layout/hierarchy1"/>
    <dgm:cxn modelId="{7A4FD0D5-8BC7-4A82-81F5-415BE98454FC}" type="presParOf" srcId="{FD8ECDB2-8718-4DA2-A024-DD9B20C3395F}" destId="{B9A1C5F5-0E1D-4D3D-8D6A-81152B50BC8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1F371B-58C2-432A-839B-E78FFE796C32}" type="doc">
      <dgm:prSet loTypeId="urn:microsoft.com/office/officeart/2018/2/layout/IconVerticalSolidList" loCatId="icon" qsTypeId="urn:microsoft.com/office/officeart/2005/8/quickstyle/simple1#6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0B411F7-3C82-46A5-8D27-CEB000F03E90}">
      <dgm:prSet custT="1"/>
      <dgm:spPr/>
      <dgm:t>
        <a:bodyPr/>
        <a:lstStyle/>
        <a:p>
          <a:r>
            <a:rPr lang="es-AR" sz="2000" b="1" i="0" baseline="0" dirty="0"/>
            <a:t>Tecnología Sostenible:</a:t>
          </a:r>
          <a:r>
            <a:rPr lang="es-AR" sz="2000" b="0" i="0" baseline="0" dirty="0"/>
            <a:t> En 2026, el 60% de las empresas implementan marcos de IA que optimizan el consumo energético y reducen la huella de carbono digital.</a:t>
          </a:r>
          <a:endParaRPr lang="en-US" sz="2000" dirty="0"/>
        </a:p>
      </dgm:t>
    </dgm:pt>
    <dgm:pt modelId="{FFF91A62-7FA5-401E-8386-BC5C90F0DEE4}" type="parTrans" cxnId="{6383E364-9A7F-4FFC-8071-5901B779E639}">
      <dgm:prSet/>
      <dgm:spPr/>
      <dgm:t>
        <a:bodyPr/>
        <a:lstStyle/>
        <a:p>
          <a:endParaRPr lang="en-US"/>
        </a:p>
      </dgm:t>
    </dgm:pt>
    <dgm:pt modelId="{8A74A076-698E-405A-AD95-CB3E95625A8C}" type="sibTrans" cxnId="{6383E364-9A7F-4FFC-8071-5901B779E639}">
      <dgm:prSet/>
      <dgm:spPr/>
      <dgm:t>
        <a:bodyPr/>
        <a:lstStyle/>
        <a:p>
          <a:endParaRPr lang="en-US"/>
        </a:p>
      </dgm:t>
    </dgm:pt>
    <dgm:pt modelId="{9E511493-AE2B-462C-B8E3-A3A3DCFD5FB1}">
      <dgm:prSet/>
      <dgm:spPr/>
      <dgm:t>
        <a:bodyPr/>
        <a:lstStyle/>
        <a:p>
          <a:r>
            <a:rPr lang="es-AR" b="1" i="0" baseline="0" dirty="0"/>
            <a:t>Ciberseguridad Proactiva:</a:t>
          </a:r>
          <a:r>
            <a:rPr lang="es-AR" b="0" i="0" baseline="0" dirty="0"/>
            <a:t> Ante amenazas más complejas, el impacto tecnológico se centra en la </a:t>
          </a:r>
          <a:r>
            <a:rPr lang="es-AR" b="1" i="0" baseline="0" dirty="0"/>
            <a:t>ciberseguridad preventiva</a:t>
          </a:r>
          <a:r>
            <a:rPr lang="es-AR" b="0" i="0" baseline="0" dirty="0"/>
            <a:t>, usando IA para detectar anomalías antes de que ocurra un ataque.</a:t>
          </a:r>
          <a:endParaRPr lang="en-US" dirty="0"/>
        </a:p>
      </dgm:t>
    </dgm:pt>
    <dgm:pt modelId="{292DD58A-E2EF-4180-B5B6-B4D3544F0676}" type="parTrans" cxnId="{FD4E1728-9373-46FF-84FE-A46ED0DDFAD4}">
      <dgm:prSet/>
      <dgm:spPr/>
      <dgm:t>
        <a:bodyPr/>
        <a:lstStyle/>
        <a:p>
          <a:endParaRPr lang="en-US"/>
        </a:p>
      </dgm:t>
    </dgm:pt>
    <dgm:pt modelId="{40A52210-0079-4E7D-81A9-101E534D4DC6}" type="sibTrans" cxnId="{FD4E1728-9373-46FF-84FE-A46ED0DDFAD4}">
      <dgm:prSet/>
      <dgm:spPr/>
      <dgm:t>
        <a:bodyPr/>
        <a:lstStyle/>
        <a:p>
          <a:endParaRPr lang="en-US"/>
        </a:p>
      </dgm:t>
    </dgm:pt>
    <dgm:pt modelId="{104ADC80-B285-4BDF-AEF8-49D2B844CEC6}" type="pres">
      <dgm:prSet presAssocID="{5B1F371B-58C2-432A-839B-E78FFE796C32}" presName="root" presStyleCnt="0">
        <dgm:presLayoutVars>
          <dgm:dir/>
          <dgm:resizeHandles val="exact"/>
        </dgm:presLayoutVars>
      </dgm:prSet>
      <dgm:spPr/>
    </dgm:pt>
    <dgm:pt modelId="{8FE87C5C-C812-4B7D-8105-FFAAAB830B43}" type="pres">
      <dgm:prSet presAssocID="{10B411F7-3C82-46A5-8D27-CEB000F03E90}" presName="compNode" presStyleCnt="0"/>
      <dgm:spPr/>
    </dgm:pt>
    <dgm:pt modelId="{7FAC7888-1D60-45B3-8CD2-68E37CF6C7EA}" type="pres">
      <dgm:prSet presAssocID="{10B411F7-3C82-46A5-8D27-CEB000F03E90}" presName="bgRect" presStyleLbl="bgShp" presStyleIdx="0" presStyleCnt="2"/>
      <dgm:spPr/>
    </dgm:pt>
    <dgm:pt modelId="{8CDDD8ED-83F8-4769-9660-DE8E3E868FD7}" type="pres">
      <dgm:prSet presAssocID="{10B411F7-3C82-46A5-8D27-CEB000F03E9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udad"/>
        </a:ext>
      </dgm:extLst>
    </dgm:pt>
    <dgm:pt modelId="{0DC480E7-4602-4B8F-957E-2C61FD01624A}" type="pres">
      <dgm:prSet presAssocID="{10B411F7-3C82-46A5-8D27-CEB000F03E90}" presName="spaceRect" presStyleCnt="0"/>
      <dgm:spPr/>
    </dgm:pt>
    <dgm:pt modelId="{02A1BF10-A0AC-4518-81CC-93F10D9E4FA5}" type="pres">
      <dgm:prSet presAssocID="{10B411F7-3C82-46A5-8D27-CEB000F03E90}" presName="parTx" presStyleLbl="revTx" presStyleIdx="0" presStyleCnt="2">
        <dgm:presLayoutVars>
          <dgm:chMax val="0"/>
          <dgm:chPref val="0"/>
        </dgm:presLayoutVars>
      </dgm:prSet>
      <dgm:spPr/>
    </dgm:pt>
    <dgm:pt modelId="{657683F3-B56C-4031-A4EB-FAA6256EFBA4}" type="pres">
      <dgm:prSet presAssocID="{8A74A076-698E-405A-AD95-CB3E95625A8C}" presName="sibTrans" presStyleCnt="0"/>
      <dgm:spPr/>
    </dgm:pt>
    <dgm:pt modelId="{E7FFD97D-7A7A-4860-9949-8F4D69DBCBDA}" type="pres">
      <dgm:prSet presAssocID="{9E511493-AE2B-462C-B8E3-A3A3DCFD5FB1}" presName="compNode" presStyleCnt="0"/>
      <dgm:spPr/>
    </dgm:pt>
    <dgm:pt modelId="{880608A3-A0BA-4D7F-8E38-EE54EEFF8151}" type="pres">
      <dgm:prSet presAssocID="{9E511493-AE2B-462C-B8E3-A3A3DCFD5FB1}" presName="bgRect" presStyleLbl="bgShp" presStyleIdx="1" presStyleCnt="2"/>
      <dgm:spPr/>
    </dgm:pt>
    <dgm:pt modelId="{5B4DD7B5-5353-42F5-8FD5-82D32F3F183B}" type="pres">
      <dgm:prSet presAssocID="{9E511493-AE2B-462C-B8E3-A3A3DCFD5FB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E7FA4B32-756D-4DED-B3B2-295FD548F9CC}" type="pres">
      <dgm:prSet presAssocID="{9E511493-AE2B-462C-B8E3-A3A3DCFD5FB1}" presName="spaceRect" presStyleCnt="0"/>
      <dgm:spPr/>
    </dgm:pt>
    <dgm:pt modelId="{5B6D1E53-30E9-4F18-84B5-104E30C7DF6E}" type="pres">
      <dgm:prSet presAssocID="{9E511493-AE2B-462C-B8E3-A3A3DCFD5FB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D4E1728-9373-46FF-84FE-A46ED0DDFAD4}" srcId="{5B1F371B-58C2-432A-839B-E78FFE796C32}" destId="{9E511493-AE2B-462C-B8E3-A3A3DCFD5FB1}" srcOrd="1" destOrd="0" parTransId="{292DD58A-E2EF-4180-B5B6-B4D3544F0676}" sibTransId="{40A52210-0079-4E7D-81A9-101E534D4DC6}"/>
    <dgm:cxn modelId="{7327EE36-9C57-4A8A-881E-875C9B6D9657}" type="presOf" srcId="{9E511493-AE2B-462C-B8E3-A3A3DCFD5FB1}" destId="{5B6D1E53-30E9-4F18-84B5-104E30C7DF6E}" srcOrd="0" destOrd="0" presId="urn:microsoft.com/office/officeart/2018/2/layout/IconVerticalSolidList"/>
    <dgm:cxn modelId="{6383E364-9A7F-4FFC-8071-5901B779E639}" srcId="{5B1F371B-58C2-432A-839B-E78FFE796C32}" destId="{10B411F7-3C82-46A5-8D27-CEB000F03E90}" srcOrd="0" destOrd="0" parTransId="{FFF91A62-7FA5-401E-8386-BC5C90F0DEE4}" sibTransId="{8A74A076-698E-405A-AD95-CB3E95625A8C}"/>
    <dgm:cxn modelId="{ACC942DB-2273-4BC4-A79C-BD7345873038}" type="presOf" srcId="{5B1F371B-58C2-432A-839B-E78FFE796C32}" destId="{104ADC80-B285-4BDF-AEF8-49D2B844CEC6}" srcOrd="0" destOrd="0" presId="urn:microsoft.com/office/officeart/2018/2/layout/IconVerticalSolidList"/>
    <dgm:cxn modelId="{1BEE24DC-894E-4CB6-87AD-67F39581592B}" type="presOf" srcId="{10B411F7-3C82-46A5-8D27-CEB000F03E90}" destId="{02A1BF10-A0AC-4518-81CC-93F10D9E4FA5}" srcOrd="0" destOrd="0" presId="urn:microsoft.com/office/officeart/2018/2/layout/IconVerticalSolidList"/>
    <dgm:cxn modelId="{6AA28A29-D266-494B-94EE-C3A7DD44A308}" type="presParOf" srcId="{104ADC80-B285-4BDF-AEF8-49D2B844CEC6}" destId="{8FE87C5C-C812-4B7D-8105-FFAAAB830B43}" srcOrd="0" destOrd="0" presId="urn:microsoft.com/office/officeart/2018/2/layout/IconVerticalSolidList"/>
    <dgm:cxn modelId="{79ED876C-E251-447D-BA2C-80875D3F73CF}" type="presParOf" srcId="{8FE87C5C-C812-4B7D-8105-FFAAAB830B43}" destId="{7FAC7888-1D60-45B3-8CD2-68E37CF6C7EA}" srcOrd="0" destOrd="0" presId="urn:microsoft.com/office/officeart/2018/2/layout/IconVerticalSolidList"/>
    <dgm:cxn modelId="{E802AB49-1A9F-417C-9014-CCC9CEC6441B}" type="presParOf" srcId="{8FE87C5C-C812-4B7D-8105-FFAAAB830B43}" destId="{8CDDD8ED-83F8-4769-9660-DE8E3E868FD7}" srcOrd="1" destOrd="0" presId="urn:microsoft.com/office/officeart/2018/2/layout/IconVerticalSolidList"/>
    <dgm:cxn modelId="{CD2BCEF4-C0ED-44CE-B5E5-7643AF58EC06}" type="presParOf" srcId="{8FE87C5C-C812-4B7D-8105-FFAAAB830B43}" destId="{0DC480E7-4602-4B8F-957E-2C61FD01624A}" srcOrd="2" destOrd="0" presId="urn:microsoft.com/office/officeart/2018/2/layout/IconVerticalSolidList"/>
    <dgm:cxn modelId="{AE749A7A-009E-404D-9187-8153F23A7D92}" type="presParOf" srcId="{8FE87C5C-C812-4B7D-8105-FFAAAB830B43}" destId="{02A1BF10-A0AC-4518-81CC-93F10D9E4FA5}" srcOrd="3" destOrd="0" presId="urn:microsoft.com/office/officeart/2018/2/layout/IconVerticalSolidList"/>
    <dgm:cxn modelId="{7E713F0F-605D-4700-8E80-6CD8A43F0E95}" type="presParOf" srcId="{104ADC80-B285-4BDF-AEF8-49D2B844CEC6}" destId="{657683F3-B56C-4031-A4EB-FAA6256EFBA4}" srcOrd="1" destOrd="0" presId="urn:microsoft.com/office/officeart/2018/2/layout/IconVerticalSolidList"/>
    <dgm:cxn modelId="{B9C32427-A2EB-48ED-A8F5-4AF1428E66C9}" type="presParOf" srcId="{104ADC80-B285-4BDF-AEF8-49D2B844CEC6}" destId="{E7FFD97D-7A7A-4860-9949-8F4D69DBCBDA}" srcOrd="2" destOrd="0" presId="urn:microsoft.com/office/officeart/2018/2/layout/IconVerticalSolidList"/>
    <dgm:cxn modelId="{FA8BBAEA-41EA-4484-AA41-524BF6FC7E90}" type="presParOf" srcId="{E7FFD97D-7A7A-4860-9949-8F4D69DBCBDA}" destId="{880608A3-A0BA-4D7F-8E38-EE54EEFF8151}" srcOrd="0" destOrd="0" presId="urn:microsoft.com/office/officeart/2018/2/layout/IconVerticalSolidList"/>
    <dgm:cxn modelId="{0E935370-4245-42A3-A556-382F0588CD36}" type="presParOf" srcId="{E7FFD97D-7A7A-4860-9949-8F4D69DBCBDA}" destId="{5B4DD7B5-5353-42F5-8FD5-82D32F3F183B}" srcOrd="1" destOrd="0" presId="urn:microsoft.com/office/officeart/2018/2/layout/IconVerticalSolidList"/>
    <dgm:cxn modelId="{F4A60BF0-1500-4F30-9D42-DBF945F1076F}" type="presParOf" srcId="{E7FFD97D-7A7A-4860-9949-8F4D69DBCBDA}" destId="{E7FA4B32-756D-4DED-B3B2-295FD548F9CC}" srcOrd="2" destOrd="0" presId="urn:microsoft.com/office/officeart/2018/2/layout/IconVerticalSolidList"/>
    <dgm:cxn modelId="{909DDDD1-55EE-4963-8A55-801012995701}" type="presParOf" srcId="{E7FFD97D-7A7A-4860-9949-8F4D69DBCBDA}" destId="{5B6D1E53-30E9-4F18-84B5-104E30C7DF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DF8E7D-ED79-4A19-9A82-73367E83E3EF}" type="doc">
      <dgm:prSet loTypeId="urn:microsoft.com/office/officeart/2005/8/layout/vList2" loCatId="list" qsTypeId="urn:microsoft.com/office/officeart/2005/8/quickstyle/simple4#1" qsCatId="simple" csTypeId="urn:microsoft.com/office/officeart/2005/8/colors/colorful2#3" csCatId="colorful"/>
      <dgm:spPr/>
      <dgm:t>
        <a:bodyPr/>
        <a:lstStyle/>
        <a:p>
          <a:endParaRPr lang="en-US"/>
        </a:p>
      </dgm:t>
    </dgm:pt>
    <dgm:pt modelId="{B2AD2755-CF4C-4CCA-A0FF-DA9CCCC925A0}">
      <dgm:prSet/>
      <dgm:spPr/>
      <dgm:t>
        <a:bodyPr/>
        <a:lstStyle/>
        <a:p>
          <a:r>
            <a:rPr lang="es-AR" b="0" i="0" baseline="0"/>
            <a:t>La tecnología impulsa el cambio en las organizaciones.</a:t>
          </a:r>
          <a:endParaRPr lang="en-US"/>
        </a:p>
      </dgm:t>
    </dgm:pt>
    <dgm:pt modelId="{6652E448-302E-438A-B293-63FC502D86EE}" type="parTrans" cxnId="{217326D2-9D87-49AC-A48F-1544EA91EC74}">
      <dgm:prSet/>
      <dgm:spPr/>
      <dgm:t>
        <a:bodyPr/>
        <a:lstStyle/>
        <a:p>
          <a:endParaRPr lang="en-US"/>
        </a:p>
      </dgm:t>
    </dgm:pt>
    <dgm:pt modelId="{F24938F1-3970-4D2D-8693-BCA5247C306F}" type="sibTrans" cxnId="{217326D2-9D87-49AC-A48F-1544EA91EC74}">
      <dgm:prSet/>
      <dgm:spPr/>
      <dgm:t>
        <a:bodyPr/>
        <a:lstStyle/>
        <a:p>
          <a:endParaRPr lang="en-US"/>
        </a:p>
      </dgm:t>
    </dgm:pt>
    <dgm:pt modelId="{B4159C4A-61AE-4E23-B19C-9F81AE6E7F9C}">
      <dgm:prSet/>
      <dgm:spPr/>
      <dgm:t>
        <a:bodyPr/>
        <a:lstStyle/>
        <a:p>
          <a:r>
            <a:rPr lang="es-AR" b="0" i="0" baseline="0"/>
            <a:t>La innovación permite transformar ideas en valor.</a:t>
          </a:r>
          <a:endParaRPr lang="en-US"/>
        </a:p>
      </dgm:t>
    </dgm:pt>
    <dgm:pt modelId="{D1B3B2D9-4E82-481B-A2E8-1FF30C99A6CF}" type="parTrans" cxnId="{3D20EA42-0996-41A5-BC3E-E9F1B0377CD3}">
      <dgm:prSet/>
      <dgm:spPr/>
      <dgm:t>
        <a:bodyPr/>
        <a:lstStyle/>
        <a:p>
          <a:endParaRPr lang="en-US"/>
        </a:p>
      </dgm:t>
    </dgm:pt>
    <dgm:pt modelId="{601213C0-FCEA-4896-80FC-B30CD7FBD2EC}" type="sibTrans" cxnId="{3D20EA42-0996-41A5-BC3E-E9F1B0377CD3}">
      <dgm:prSet/>
      <dgm:spPr/>
      <dgm:t>
        <a:bodyPr/>
        <a:lstStyle/>
        <a:p>
          <a:endParaRPr lang="en-US"/>
        </a:p>
      </dgm:t>
    </dgm:pt>
    <dgm:pt modelId="{FAE6ADA0-A97F-4A38-9899-8052A1F6C3AF}">
      <dgm:prSet/>
      <dgm:spPr/>
      <dgm:t>
        <a:bodyPr/>
        <a:lstStyle/>
        <a:p>
          <a:r>
            <a:rPr lang="es-AR" b="0" i="0" baseline="0"/>
            <a:t>Las tecnologías disruptivas están redefiniendo industrias completas.</a:t>
          </a:r>
          <a:endParaRPr lang="en-US"/>
        </a:p>
      </dgm:t>
    </dgm:pt>
    <dgm:pt modelId="{2E7F3DBA-C5AE-4D11-A2D5-7D950397CA98}" type="parTrans" cxnId="{391B27D3-E1A2-4E5C-B146-B54D439CD429}">
      <dgm:prSet/>
      <dgm:spPr/>
      <dgm:t>
        <a:bodyPr/>
        <a:lstStyle/>
        <a:p>
          <a:endParaRPr lang="en-US"/>
        </a:p>
      </dgm:t>
    </dgm:pt>
    <dgm:pt modelId="{679BE764-0ABD-48A6-9424-E190CC13513B}" type="sibTrans" cxnId="{391B27D3-E1A2-4E5C-B146-B54D439CD429}">
      <dgm:prSet/>
      <dgm:spPr/>
      <dgm:t>
        <a:bodyPr/>
        <a:lstStyle/>
        <a:p>
          <a:endParaRPr lang="en-US"/>
        </a:p>
      </dgm:t>
    </dgm:pt>
    <dgm:pt modelId="{1E49C498-D906-497D-84CB-CF781A27F1FE}">
      <dgm:prSet/>
      <dgm:spPr/>
      <dgm:t>
        <a:bodyPr/>
        <a:lstStyle/>
        <a:p>
          <a:r>
            <a:rPr lang="es-AR" b="0" i="0" baseline="0"/>
            <a:t>Comprender esta relación es clave para los profesionales del futuro.</a:t>
          </a:r>
          <a:endParaRPr lang="en-US"/>
        </a:p>
      </dgm:t>
    </dgm:pt>
    <dgm:pt modelId="{1B1C6B68-D816-4487-9D34-2CD4D8FB6882}" type="parTrans" cxnId="{6DCC390B-B4E4-41F7-B02C-8D1CE3E6D0EE}">
      <dgm:prSet/>
      <dgm:spPr/>
      <dgm:t>
        <a:bodyPr/>
        <a:lstStyle/>
        <a:p>
          <a:endParaRPr lang="en-US"/>
        </a:p>
      </dgm:t>
    </dgm:pt>
    <dgm:pt modelId="{2161ADBC-A305-44C9-AA26-B6B031F0826E}" type="sibTrans" cxnId="{6DCC390B-B4E4-41F7-B02C-8D1CE3E6D0EE}">
      <dgm:prSet/>
      <dgm:spPr/>
      <dgm:t>
        <a:bodyPr/>
        <a:lstStyle/>
        <a:p>
          <a:endParaRPr lang="en-US"/>
        </a:p>
      </dgm:t>
    </dgm:pt>
    <dgm:pt modelId="{CA304B3D-BA8E-4C32-AA95-374BFBE21341}" type="pres">
      <dgm:prSet presAssocID="{52DF8E7D-ED79-4A19-9A82-73367E83E3EF}" presName="linear" presStyleCnt="0">
        <dgm:presLayoutVars>
          <dgm:animLvl val="lvl"/>
          <dgm:resizeHandles val="exact"/>
        </dgm:presLayoutVars>
      </dgm:prSet>
      <dgm:spPr/>
    </dgm:pt>
    <dgm:pt modelId="{043719D1-128A-4D4D-B3E8-0451A8358DF6}" type="pres">
      <dgm:prSet presAssocID="{B2AD2755-CF4C-4CCA-A0FF-DA9CCCC925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97E910C-E660-45B2-A94E-8353FF0D35C6}" type="pres">
      <dgm:prSet presAssocID="{F24938F1-3970-4D2D-8693-BCA5247C306F}" presName="spacer" presStyleCnt="0"/>
      <dgm:spPr/>
    </dgm:pt>
    <dgm:pt modelId="{66F97D65-D565-404D-A288-C814DBF1A8D2}" type="pres">
      <dgm:prSet presAssocID="{B4159C4A-61AE-4E23-B19C-9F81AE6E7F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489DE9-1D53-458C-8B9B-66E481C47895}" type="pres">
      <dgm:prSet presAssocID="{601213C0-FCEA-4896-80FC-B30CD7FBD2EC}" presName="spacer" presStyleCnt="0"/>
      <dgm:spPr/>
    </dgm:pt>
    <dgm:pt modelId="{8DED72B0-8D6E-4B3F-A89C-2C0EDD0E7ED6}" type="pres">
      <dgm:prSet presAssocID="{FAE6ADA0-A97F-4A38-9899-8052A1F6C3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C9DE801-31BB-45F9-B868-3CB1D5B8E883}" type="pres">
      <dgm:prSet presAssocID="{679BE764-0ABD-48A6-9424-E190CC13513B}" presName="spacer" presStyleCnt="0"/>
      <dgm:spPr/>
    </dgm:pt>
    <dgm:pt modelId="{5D243C4F-968E-4CEB-88E9-050AAB3D935F}" type="pres">
      <dgm:prSet presAssocID="{1E49C498-D906-497D-84CB-CF781A27F1F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DCC390B-B4E4-41F7-B02C-8D1CE3E6D0EE}" srcId="{52DF8E7D-ED79-4A19-9A82-73367E83E3EF}" destId="{1E49C498-D906-497D-84CB-CF781A27F1FE}" srcOrd="3" destOrd="0" parTransId="{1B1C6B68-D816-4487-9D34-2CD4D8FB6882}" sibTransId="{2161ADBC-A305-44C9-AA26-B6B031F0826E}"/>
    <dgm:cxn modelId="{341C221E-28EA-436E-96CC-273CF7A6D6C5}" type="presOf" srcId="{52DF8E7D-ED79-4A19-9A82-73367E83E3EF}" destId="{CA304B3D-BA8E-4C32-AA95-374BFBE21341}" srcOrd="0" destOrd="0" presId="urn:microsoft.com/office/officeart/2005/8/layout/vList2"/>
    <dgm:cxn modelId="{3D20EA42-0996-41A5-BC3E-E9F1B0377CD3}" srcId="{52DF8E7D-ED79-4A19-9A82-73367E83E3EF}" destId="{B4159C4A-61AE-4E23-B19C-9F81AE6E7F9C}" srcOrd="1" destOrd="0" parTransId="{D1B3B2D9-4E82-481B-A2E8-1FF30C99A6CF}" sibTransId="{601213C0-FCEA-4896-80FC-B30CD7FBD2EC}"/>
    <dgm:cxn modelId="{6EF8B88C-7E97-412B-BE1C-0DA66B23F851}" type="presOf" srcId="{B2AD2755-CF4C-4CCA-A0FF-DA9CCCC925A0}" destId="{043719D1-128A-4D4D-B3E8-0451A8358DF6}" srcOrd="0" destOrd="0" presId="urn:microsoft.com/office/officeart/2005/8/layout/vList2"/>
    <dgm:cxn modelId="{6D50229D-9968-4A11-AF57-CEC01CAEB073}" type="presOf" srcId="{B4159C4A-61AE-4E23-B19C-9F81AE6E7F9C}" destId="{66F97D65-D565-404D-A288-C814DBF1A8D2}" srcOrd="0" destOrd="0" presId="urn:microsoft.com/office/officeart/2005/8/layout/vList2"/>
    <dgm:cxn modelId="{EAE1F2D1-B672-4D5B-AC29-ACBB162E1D63}" type="presOf" srcId="{FAE6ADA0-A97F-4A38-9899-8052A1F6C3AF}" destId="{8DED72B0-8D6E-4B3F-A89C-2C0EDD0E7ED6}" srcOrd="0" destOrd="0" presId="urn:microsoft.com/office/officeart/2005/8/layout/vList2"/>
    <dgm:cxn modelId="{217326D2-9D87-49AC-A48F-1544EA91EC74}" srcId="{52DF8E7D-ED79-4A19-9A82-73367E83E3EF}" destId="{B2AD2755-CF4C-4CCA-A0FF-DA9CCCC925A0}" srcOrd="0" destOrd="0" parTransId="{6652E448-302E-438A-B293-63FC502D86EE}" sibTransId="{F24938F1-3970-4D2D-8693-BCA5247C306F}"/>
    <dgm:cxn modelId="{391B27D3-E1A2-4E5C-B146-B54D439CD429}" srcId="{52DF8E7D-ED79-4A19-9A82-73367E83E3EF}" destId="{FAE6ADA0-A97F-4A38-9899-8052A1F6C3AF}" srcOrd="2" destOrd="0" parTransId="{2E7F3DBA-C5AE-4D11-A2D5-7D950397CA98}" sibTransId="{679BE764-0ABD-48A6-9424-E190CC13513B}"/>
    <dgm:cxn modelId="{7AE2B0E1-708E-47DE-B5C7-A2ADF54F8497}" type="presOf" srcId="{1E49C498-D906-497D-84CB-CF781A27F1FE}" destId="{5D243C4F-968E-4CEB-88E9-050AAB3D935F}" srcOrd="0" destOrd="0" presId="urn:microsoft.com/office/officeart/2005/8/layout/vList2"/>
    <dgm:cxn modelId="{8C44F071-6682-4265-BEE7-CD0EF2F4001C}" type="presParOf" srcId="{CA304B3D-BA8E-4C32-AA95-374BFBE21341}" destId="{043719D1-128A-4D4D-B3E8-0451A8358DF6}" srcOrd="0" destOrd="0" presId="urn:microsoft.com/office/officeart/2005/8/layout/vList2"/>
    <dgm:cxn modelId="{FCB4B9CA-7A29-4D07-95DA-41D967ECCA50}" type="presParOf" srcId="{CA304B3D-BA8E-4C32-AA95-374BFBE21341}" destId="{897E910C-E660-45B2-A94E-8353FF0D35C6}" srcOrd="1" destOrd="0" presId="urn:microsoft.com/office/officeart/2005/8/layout/vList2"/>
    <dgm:cxn modelId="{B633D755-0481-40F1-9712-1EFD5FDF175D}" type="presParOf" srcId="{CA304B3D-BA8E-4C32-AA95-374BFBE21341}" destId="{66F97D65-D565-404D-A288-C814DBF1A8D2}" srcOrd="2" destOrd="0" presId="urn:microsoft.com/office/officeart/2005/8/layout/vList2"/>
    <dgm:cxn modelId="{5729CA2D-F86D-46F2-8531-4B46896FA860}" type="presParOf" srcId="{CA304B3D-BA8E-4C32-AA95-374BFBE21341}" destId="{63489DE9-1D53-458C-8B9B-66E481C47895}" srcOrd="3" destOrd="0" presId="urn:microsoft.com/office/officeart/2005/8/layout/vList2"/>
    <dgm:cxn modelId="{7B7D7F73-130A-457B-B876-5FD4511E4F23}" type="presParOf" srcId="{CA304B3D-BA8E-4C32-AA95-374BFBE21341}" destId="{8DED72B0-8D6E-4B3F-A89C-2C0EDD0E7ED6}" srcOrd="4" destOrd="0" presId="urn:microsoft.com/office/officeart/2005/8/layout/vList2"/>
    <dgm:cxn modelId="{3DB1D6AA-DC10-42C9-9B99-ECC431F7EEB1}" type="presParOf" srcId="{CA304B3D-BA8E-4C32-AA95-374BFBE21341}" destId="{3C9DE801-31BB-45F9-B868-3CB1D5B8E883}" srcOrd="5" destOrd="0" presId="urn:microsoft.com/office/officeart/2005/8/layout/vList2"/>
    <dgm:cxn modelId="{DFF4D61D-C895-4DE9-8CAA-BFF4624B645C}" type="presParOf" srcId="{CA304B3D-BA8E-4C32-AA95-374BFBE21341}" destId="{5D243C4F-968E-4CEB-88E9-050AAB3D935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40E3F-3566-4E79-B611-BDD0D244BEE0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0930F-09D2-4C4D-A548-9CA8092A503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C4ADD-3E25-4488-9040-699E1B15CB23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kern="1200"/>
            <a:t>Internet</a:t>
          </a:r>
          <a:endParaRPr lang="en-US" sz="2200" kern="1200"/>
        </a:p>
      </dsp:txBody>
      <dsp:txXfrm>
        <a:off x="1057183" y="1805"/>
        <a:ext cx="9458416" cy="915310"/>
      </dsp:txXfrm>
    </dsp:sp>
    <dsp:sp modelId="{5CF6B24B-0C90-4C6E-B41C-92976E310D80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6AA5C-EE47-4766-8C3B-FC3CEE17919E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96818-CD4D-4F95-9CAF-1A420A00DF7C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kern="1200"/>
            <a:t>Smartphones</a:t>
          </a:r>
          <a:endParaRPr lang="en-US" sz="2200" kern="1200"/>
        </a:p>
      </dsp:txBody>
      <dsp:txXfrm>
        <a:off x="1057183" y="1145944"/>
        <a:ext cx="9458416" cy="915310"/>
      </dsp:txXfrm>
    </dsp:sp>
    <dsp:sp modelId="{452620F1-6FBB-4D2A-A8DF-C1293903D415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69D05-E71E-45E5-BB69-2356816F48F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D0615-46B1-450E-A35E-C4E45E653A36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kern="1200"/>
            <a:t>Inteligencia Artificial</a:t>
          </a:r>
          <a:endParaRPr lang="en-US" sz="2200" kern="1200"/>
        </a:p>
      </dsp:txBody>
      <dsp:txXfrm>
        <a:off x="1057183" y="2290082"/>
        <a:ext cx="9458416" cy="915310"/>
      </dsp:txXfrm>
    </dsp:sp>
    <dsp:sp modelId="{CC9FFA5D-FE54-4106-ADF9-E43369C86749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9B387-2B96-431B-AED7-AEDC2C8709A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5AC4E-85F6-4B09-9830-020DC8343AD2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kern="1200"/>
            <a:t>Cloud Computing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0E7BE6-2A36-45BC-B437-65E3E30D5C17}">
      <dsp:nvSpPr>
        <dsp:cNvPr id="0" name=""/>
        <dsp:cNvSpPr/>
      </dsp:nvSpPr>
      <dsp:spPr>
        <a:xfrm>
          <a:off x="0" y="0"/>
          <a:ext cx="8316198" cy="10248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b="1" kern="1200"/>
            <a:t>Incremental:</a:t>
          </a:r>
          <a:r>
            <a:rPr lang="es-MX" sz="2700" kern="1200"/>
            <a:t> Pequeñas mejoras continuas (ej. actualización de software).</a:t>
          </a:r>
          <a:endParaRPr lang="en-US" sz="2700" kern="1200"/>
        </a:p>
      </dsp:txBody>
      <dsp:txXfrm>
        <a:off x="30017" y="30017"/>
        <a:ext cx="7210293" cy="964827"/>
      </dsp:txXfrm>
    </dsp:sp>
    <dsp:sp modelId="{E91889FC-6E5D-413A-8A0A-CE3AFA8E983E}">
      <dsp:nvSpPr>
        <dsp:cNvPr id="0" name=""/>
        <dsp:cNvSpPr/>
      </dsp:nvSpPr>
      <dsp:spPr>
        <a:xfrm>
          <a:off x="733782" y="1195671"/>
          <a:ext cx="8316198" cy="1024861"/>
        </a:xfrm>
        <a:prstGeom prst="roundRect">
          <a:avLst>
            <a:gd name="adj" fmla="val 10000"/>
          </a:avLst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b="1" kern="1200"/>
            <a:t>Radical:</a:t>
          </a:r>
          <a:r>
            <a:rPr lang="es-MX" sz="2700" kern="1200"/>
            <a:t> Cambios drásticos que crean nuevos mercados (ej. internet).</a:t>
          </a:r>
          <a:endParaRPr lang="en-US" sz="2700" kern="1200"/>
        </a:p>
      </dsp:txBody>
      <dsp:txXfrm>
        <a:off x="763799" y="1225688"/>
        <a:ext cx="6856222" cy="964827"/>
      </dsp:txXfrm>
    </dsp:sp>
    <dsp:sp modelId="{CCA058BA-4864-47AA-A24A-666ECAD09979}">
      <dsp:nvSpPr>
        <dsp:cNvPr id="0" name=""/>
        <dsp:cNvSpPr/>
      </dsp:nvSpPr>
      <dsp:spPr>
        <a:xfrm>
          <a:off x="1467564" y="2391343"/>
          <a:ext cx="8316198" cy="1024861"/>
        </a:xfrm>
        <a:prstGeom prst="roundRect">
          <a:avLst>
            <a:gd name="adj" fmla="val 10000"/>
          </a:avLst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b="1" kern="1200"/>
            <a:t>De proceso/producto:</a:t>
          </a:r>
          <a:r>
            <a:rPr lang="es-MX" sz="2700" kern="1200"/>
            <a:t> Optimizar cómo se hacen las cosas o crear cosas nuevas.</a:t>
          </a:r>
          <a:endParaRPr lang="en-US" sz="2700" kern="1200"/>
        </a:p>
      </dsp:txBody>
      <dsp:txXfrm>
        <a:off x="1497581" y="2421360"/>
        <a:ext cx="6856222" cy="964827"/>
      </dsp:txXfrm>
    </dsp:sp>
    <dsp:sp modelId="{E68C7313-08CC-4809-AB3C-9A1FB32473D9}">
      <dsp:nvSpPr>
        <dsp:cNvPr id="0" name=""/>
        <dsp:cNvSpPr/>
      </dsp:nvSpPr>
      <dsp:spPr>
        <a:xfrm>
          <a:off x="7650038" y="777186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7799924" y="777186"/>
        <a:ext cx="366387" cy="501285"/>
      </dsp:txXfrm>
    </dsp:sp>
    <dsp:sp modelId="{EE0CA7CD-3254-4E38-AC36-7E41779D42BB}">
      <dsp:nvSpPr>
        <dsp:cNvPr id="0" name=""/>
        <dsp:cNvSpPr/>
      </dsp:nvSpPr>
      <dsp:spPr>
        <a:xfrm>
          <a:off x="8383820" y="1966025"/>
          <a:ext cx="666159" cy="66615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8533706" y="1966025"/>
        <a:ext cx="366387" cy="5012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316AA-89EC-4508-8FC6-901C2BE1E22B}">
      <dsp:nvSpPr>
        <dsp:cNvPr id="0" name=""/>
        <dsp:cNvSpPr/>
      </dsp:nvSpPr>
      <dsp:spPr>
        <a:xfrm>
          <a:off x="1059104" y="95906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8ACF8-866F-4B58-AE1B-791DB672A4AD}">
      <dsp:nvSpPr>
        <dsp:cNvPr id="0" name=""/>
        <dsp:cNvSpPr/>
      </dsp:nvSpPr>
      <dsp:spPr>
        <a:xfrm>
          <a:off x="683987" y="1164302"/>
          <a:ext cx="1364062" cy="196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Eficiencia Operativa y Competitividad:</a:t>
          </a:r>
          <a:r>
            <a:rPr lang="es-MX" sz="1400" kern="1200" dirty="0"/>
            <a:t> La adopción de nuevas tecnologías permite a los negocios reducir costos, acelerar procesos y mantenerse relevantes en mercados competitivos.</a:t>
          </a:r>
          <a:endParaRPr lang="en-US" sz="1400" kern="1200" dirty="0"/>
        </a:p>
      </dsp:txBody>
      <dsp:txXfrm>
        <a:off x="683987" y="1164302"/>
        <a:ext cx="1364062" cy="1960839"/>
      </dsp:txXfrm>
    </dsp:sp>
    <dsp:sp modelId="{657A4D31-841E-4CA4-A48C-C0433A9D5B4D}">
      <dsp:nvSpPr>
        <dsp:cNvPr id="0" name=""/>
        <dsp:cNvSpPr/>
      </dsp:nvSpPr>
      <dsp:spPr>
        <a:xfrm>
          <a:off x="2661878" y="95906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579B64-2AB2-4730-A533-F60BE899E7A8}">
      <dsp:nvSpPr>
        <dsp:cNvPr id="0" name=""/>
        <dsp:cNvSpPr/>
      </dsp:nvSpPr>
      <dsp:spPr>
        <a:xfrm>
          <a:off x="2286761" y="1164302"/>
          <a:ext cx="1364062" cy="196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Transformación de Modelos de Negocio:</a:t>
          </a:r>
          <a:r>
            <a:rPr lang="es-MX" sz="1400" kern="1200" dirty="0"/>
            <a:t> La innovación, impulsada por el Big Data y la inteligencia artificial, fomenta la creación de nuevos productos, servicios y modelos de trabajo, cambiando cómo las empresas operan y cómo interactúan con sus clientes.</a:t>
          </a:r>
          <a:endParaRPr lang="en-US" sz="1400" kern="1200" dirty="0"/>
        </a:p>
      </dsp:txBody>
      <dsp:txXfrm>
        <a:off x="2286761" y="1164302"/>
        <a:ext cx="1364062" cy="1960839"/>
      </dsp:txXfrm>
    </dsp:sp>
    <dsp:sp modelId="{E7140B8B-84A7-4844-8529-108E796802F3}">
      <dsp:nvSpPr>
        <dsp:cNvPr id="0" name=""/>
        <dsp:cNvSpPr/>
      </dsp:nvSpPr>
      <dsp:spPr>
        <a:xfrm>
          <a:off x="4264651" y="95906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3405F-6C76-4691-BBC9-EEABAEEA8B21}">
      <dsp:nvSpPr>
        <dsp:cNvPr id="0" name=""/>
        <dsp:cNvSpPr/>
      </dsp:nvSpPr>
      <dsp:spPr>
        <a:xfrm>
          <a:off x="3889534" y="1164302"/>
          <a:ext cx="1364062" cy="196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Cambios en el Mercado Laboral:</a:t>
          </a:r>
          <a:r>
            <a:rPr lang="es-MX" sz="1400" kern="1200" dirty="0"/>
            <a:t> Si bien la automatización transforma sectores, también crea nuevas oportunidades laborales y fomenta la necesidad de nuevas habilidades tecnológicas.</a:t>
          </a:r>
          <a:endParaRPr lang="en-US" sz="1400" kern="1200" dirty="0"/>
        </a:p>
      </dsp:txBody>
      <dsp:txXfrm>
        <a:off x="3889534" y="1164302"/>
        <a:ext cx="1364062" cy="1960839"/>
      </dsp:txXfrm>
    </dsp:sp>
    <dsp:sp modelId="{745905AA-6307-4853-8A2A-B63562679165}">
      <dsp:nvSpPr>
        <dsp:cNvPr id="0" name=""/>
        <dsp:cNvSpPr/>
      </dsp:nvSpPr>
      <dsp:spPr>
        <a:xfrm>
          <a:off x="5867425" y="95906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5C447-C6DB-4079-BBD5-ACC9475E05B8}">
      <dsp:nvSpPr>
        <dsp:cNvPr id="0" name=""/>
        <dsp:cNvSpPr/>
      </dsp:nvSpPr>
      <dsp:spPr>
        <a:xfrm>
          <a:off x="5492307" y="1164302"/>
          <a:ext cx="1364062" cy="196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Impacto Social y Calidad de Vida:</a:t>
          </a:r>
          <a:r>
            <a:rPr lang="es-MX" sz="1400" kern="1200" dirty="0"/>
            <a:t> La tecnología actúa como un ecualizador que mejora el acceso a servicios (salud, educación, finanzas), al tiempo que plantea retos de privacidad y equidad.</a:t>
          </a:r>
          <a:endParaRPr lang="en-US" sz="1400" kern="1200" dirty="0"/>
        </a:p>
      </dsp:txBody>
      <dsp:txXfrm>
        <a:off x="5492307" y="1164302"/>
        <a:ext cx="1364062" cy="1960839"/>
      </dsp:txXfrm>
    </dsp:sp>
    <dsp:sp modelId="{71DDD417-76D1-478B-855E-D16FA1026E83}">
      <dsp:nvSpPr>
        <dsp:cNvPr id="0" name=""/>
        <dsp:cNvSpPr/>
      </dsp:nvSpPr>
      <dsp:spPr>
        <a:xfrm>
          <a:off x="5349215" y="3990563"/>
          <a:ext cx="613828" cy="6138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82821-11E4-4B76-9620-462AF6B69D5A}">
      <dsp:nvSpPr>
        <dsp:cNvPr id="0" name=""/>
        <dsp:cNvSpPr/>
      </dsp:nvSpPr>
      <dsp:spPr>
        <a:xfrm>
          <a:off x="4380071" y="4630460"/>
          <a:ext cx="2666401" cy="196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Adaptación y Sostenibilidad:</a:t>
          </a:r>
          <a:r>
            <a:rPr lang="es-MX" sz="1400" kern="1200" dirty="0"/>
            <a:t> Las organizaciones que adoptan la innovación tecnológica pueden gestionar riesgos, mejorar la sostenibilidad y adaptarse rápidamente a las demandas cambiantes del consumidor.</a:t>
          </a:r>
          <a:endParaRPr lang="en-US" sz="1400" kern="1200" dirty="0"/>
        </a:p>
      </dsp:txBody>
      <dsp:txXfrm>
        <a:off x="4380071" y="4630460"/>
        <a:ext cx="2666401" cy="19608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55CE2-C498-400E-A0E6-18A89D4D2A24}">
      <dsp:nvSpPr>
        <dsp:cNvPr id="0" name=""/>
        <dsp:cNvSpPr/>
      </dsp:nvSpPr>
      <dsp:spPr>
        <a:xfrm>
          <a:off x="-126461" y="42673"/>
          <a:ext cx="5606327" cy="15429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D6EC1-9A12-4724-87E9-137BA1253E61}">
      <dsp:nvSpPr>
        <dsp:cNvPr id="0" name=""/>
        <dsp:cNvSpPr/>
      </dsp:nvSpPr>
      <dsp:spPr>
        <a:xfrm>
          <a:off x="340269" y="389828"/>
          <a:ext cx="850261" cy="848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6673F-1167-48DB-A539-100FB6A2FCAB}">
      <dsp:nvSpPr>
        <dsp:cNvPr id="0" name=""/>
        <dsp:cNvSpPr/>
      </dsp:nvSpPr>
      <dsp:spPr>
        <a:xfrm>
          <a:off x="1374228" y="775997"/>
          <a:ext cx="4358559" cy="9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" tIns="189" rIns="189" bIns="18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i="0" kern="1200" baseline="0" dirty="0"/>
            <a:t>Cultura Data-</a:t>
          </a:r>
          <a:r>
            <a:rPr lang="es-AR" sz="1800" b="1" i="0" kern="1200" baseline="0" dirty="0" err="1"/>
            <a:t>Driven</a:t>
          </a:r>
          <a:r>
            <a:rPr lang="es-AR" sz="1800" b="1" i="0" kern="1200" baseline="0" dirty="0"/>
            <a:t>:</a:t>
          </a:r>
          <a:r>
            <a:rPr lang="es-AR" sz="1800" b="0" i="0" kern="1200" baseline="0" dirty="0"/>
            <a:t> La tecnología permite pasar de la intuición a la precisión. Las empresas líderes usan analítica predictiva para adelantarse a las tendencias del mercado.</a:t>
          </a:r>
          <a:endParaRPr lang="en-US" sz="1800" kern="1200" dirty="0"/>
        </a:p>
      </dsp:txBody>
      <dsp:txXfrm>
        <a:off x="1374228" y="775997"/>
        <a:ext cx="4358559" cy="905"/>
      </dsp:txXfrm>
    </dsp:sp>
    <dsp:sp modelId="{D7B4BD4A-B3A9-4D35-8B84-8857EE74B94C}">
      <dsp:nvSpPr>
        <dsp:cNvPr id="0" name=""/>
        <dsp:cNvSpPr/>
      </dsp:nvSpPr>
      <dsp:spPr>
        <a:xfrm>
          <a:off x="-124667" y="2689631"/>
          <a:ext cx="5606327" cy="154291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A35B3-97B3-45D4-8F1D-4059CD5E19BB}">
      <dsp:nvSpPr>
        <dsp:cNvPr id="0" name=""/>
        <dsp:cNvSpPr/>
      </dsp:nvSpPr>
      <dsp:spPr>
        <a:xfrm>
          <a:off x="340269" y="3040007"/>
          <a:ext cx="850261" cy="8486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094FF-7E37-43A3-822A-3A0C65C634FB}">
      <dsp:nvSpPr>
        <dsp:cNvPr id="0" name=""/>
        <dsp:cNvSpPr/>
      </dsp:nvSpPr>
      <dsp:spPr>
        <a:xfrm>
          <a:off x="1542008" y="3424158"/>
          <a:ext cx="3792492" cy="4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" tIns="373" rIns="373" bIns="37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800" b="1" i="0" kern="1200" baseline="0" dirty="0"/>
            <a:t>Gemelos Digitales (Digital </a:t>
          </a:r>
          <a:r>
            <a:rPr lang="es-AR" sz="1800" b="1" i="0" kern="1200" baseline="0" dirty="0" err="1"/>
            <a:t>Twins</a:t>
          </a:r>
          <a:r>
            <a:rPr lang="es-AR" sz="1800" b="1" i="0" kern="1200" baseline="0" dirty="0"/>
            <a:t>):</a:t>
          </a:r>
          <a:r>
            <a:rPr lang="es-AR" sz="1800" b="0" i="0" kern="1200" baseline="0" dirty="0"/>
            <a:t> Se utilizan para simular escenarios de negocio, permitiendo probar cambios en la cadena de suministro o en la producción en un entorno virtual antes de aplicarlos en la realidad.</a:t>
          </a:r>
          <a:endParaRPr lang="en-US" sz="1800" kern="1200" dirty="0"/>
        </a:p>
      </dsp:txBody>
      <dsp:txXfrm>
        <a:off x="1542008" y="3424158"/>
        <a:ext cx="3792492" cy="48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D6BB7-244D-4C34-8A4A-928EFFB13E3E}">
      <dsp:nvSpPr>
        <dsp:cNvPr id="0" name=""/>
        <dsp:cNvSpPr/>
      </dsp:nvSpPr>
      <dsp:spPr>
        <a:xfrm>
          <a:off x="1194" y="155891"/>
          <a:ext cx="4192017" cy="26619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9B8E6-A36D-40EB-B020-DFAFE96D0D02}">
      <dsp:nvSpPr>
        <dsp:cNvPr id="0" name=""/>
        <dsp:cNvSpPr/>
      </dsp:nvSpPr>
      <dsp:spPr>
        <a:xfrm>
          <a:off x="466974" y="598382"/>
          <a:ext cx="4192017" cy="26619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b="1" i="0" kern="1200" baseline="0" dirty="0"/>
            <a:t>Omnicanalidad Inteligente:</a:t>
          </a:r>
          <a:r>
            <a:rPr lang="es-AR" sz="2100" b="0" i="0" kern="1200" baseline="0" dirty="0"/>
            <a:t> El cliente ya no espera 24 horas; espera respuestas en </a:t>
          </a:r>
          <a:r>
            <a:rPr lang="es-AR" sz="2100" b="1" i="0" kern="1200" baseline="0" dirty="0"/>
            <a:t>5 minutos</a:t>
          </a:r>
          <a:r>
            <a:rPr lang="es-AR" sz="2100" b="0" i="0" kern="1200" baseline="0" dirty="0"/>
            <a:t>. La IA generativa permite que cada interacción sea personalizada según el historial y el sentimiento del usuario.</a:t>
          </a:r>
          <a:endParaRPr lang="en-US" sz="2100" kern="1200" dirty="0"/>
        </a:p>
      </dsp:txBody>
      <dsp:txXfrm>
        <a:off x="544939" y="676347"/>
        <a:ext cx="4036087" cy="2506001"/>
      </dsp:txXfrm>
    </dsp:sp>
    <dsp:sp modelId="{488D086F-7017-4784-A833-C6DA65DFBD26}">
      <dsp:nvSpPr>
        <dsp:cNvPr id="0" name=""/>
        <dsp:cNvSpPr/>
      </dsp:nvSpPr>
      <dsp:spPr>
        <a:xfrm>
          <a:off x="5124771" y="155891"/>
          <a:ext cx="4192017" cy="26619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4BE8A-C939-4640-B2ED-1A5E7D654764}">
      <dsp:nvSpPr>
        <dsp:cNvPr id="0" name=""/>
        <dsp:cNvSpPr/>
      </dsp:nvSpPr>
      <dsp:spPr>
        <a:xfrm>
          <a:off x="5590551" y="598382"/>
          <a:ext cx="4192017" cy="26619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b="1" i="0" kern="1200" baseline="0"/>
            <a:t>Realidad Inmersiva:</a:t>
          </a:r>
          <a:r>
            <a:rPr lang="es-AR" sz="2100" b="0" i="0" kern="1200" baseline="0"/>
            <a:t> El uso de AR (Realidad Aumentada) y VR (Realidad Virtual) está pasando del entretenimiento a la venta y formación, permitiendo a los clientes "probar" productos o a los empleados entrenarse en entornos seguros.</a:t>
          </a:r>
          <a:endParaRPr lang="en-US" sz="2100" kern="1200"/>
        </a:p>
      </dsp:txBody>
      <dsp:txXfrm>
        <a:off x="5668516" y="676347"/>
        <a:ext cx="4036087" cy="25060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AC7888-1D60-45B3-8CD2-68E37CF6C7EA}">
      <dsp:nvSpPr>
        <dsp:cNvPr id="0" name=""/>
        <dsp:cNvSpPr/>
      </dsp:nvSpPr>
      <dsp:spPr>
        <a:xfrm>
          <a:off x="0" y="491079"/>
          <a:ext cx="9783763" cy="10889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DD8ED-83F8-4769-9660-DE8E3E868FD7}">
      <dsp:nvSpPr>
        <dsp:cNvPr id="0" name=""/>
        <dsp:cNvSpPr/>
      </dsp:nvSpPr>
      <dsp:spPr>
        <a:xfrm>
          <a:off x="329396" y="736085"/>
          <a:ext cx="598903" cy="598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1BF10-A0AC-4518-81CC-93F10D9E4FA5}">
      <dsp:nvSpPr>
        <dsp:cNvPr id="0" name=""/>
        <dsp:cNvSpPr/>
      </dsp:nvSpPr>
      <dsp:spPr>
        <a:xfrm>
          <a:off x="1257697" y="491079"/>
          <a:ext cx="8526065" cy="1088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244" tIns="115244" rIns="115244" bIns="11524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i="0" kern="1200" baseline="0" dirty="0"/>
            <a:t>Tecnología Sostenible:</a:t>
          </a:r>
          <a:r>
            <a:rPr lang="es-AR" sz="2000" b="0" i="0" kern="1200" baseline="0" dirty="0"/>
            <a:t> En 2026, el 60% de las empresas implementan marcos de IA que optimizan el consumo energético y reducen la huella de carbono digital.</a:t>
          </a:r>
          <a:endParaRPr lang="en-US" sz="2000" kern="1200" dirty="0"/>
        </a:p>
      </dsp:txBody>
      <dsp:txXfrm>
        <a:off x="1257697" y="491079"/>
        <a:ext cx="8526065" cy="1088915"/>
      </dsp:txXfrm>
    </dsp:sp>
    <dsp:sp modelId="{880608A3-A0BA-4D7F-8E38-EE54EEFF8151}">
      <dsp:nvSpPr>
        <dsp:cNvPr id="0" name=""/>
        <dsp:cNvSpPr/>
      </dsp:nvSpPr>
      <dsp:spPr>
        <a:xfrm>
          <a:off x="0" y="1836210"/>
          <a:ext cx="9783763" cy="10889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4DD7B5-5353-42F5-8FD5-82D32F3F183B}">
      <dsp:nvSpPr>
        <dsp:cNvPr id="0" name=""/>
        <dsp:cNvSpPr/>
      </dsp:nvSpPr>
      <dsp:spPr>
        <a:xfrm>
          <a:off x="329396" y="2081216"/>
          <a:ext cx="598903" cy="5989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D1E53-30E9-4F18-84B5-104E30C7DF6E}">
      <dsp:nvSpPr>
        <dsp:cNvPr id="0" name=""/>
        <dsp:cNvSpPr/>
      </dsp:nvSpPr>
      <dsp:spPr>
        <a:xfrm>
          <a:off x="1257697" y="1836210"/>
          <a:ext cx="8526065" cy="1088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244" tIns="115244" rIns="115244" bIns="115244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000" b="1" i="0" kern="1200" baseline="0" dirty="0"/>
            <a:t>Ciberseguridad Proactiva:</a:t>
          </a:r>
          <a:r>
            <a:rPr lang="es-AR" sz="2000" b="0" i="0" kern="1200" baseline="0" dirty="0"/>
            <a:t> Ante amenazas más complejas, el impacto tecnológico se centra en la </a:t>
          </a:r>
          <a:r>
            <a:rPr lang="es-AR" sz="2000" b="1" i="0" kern="1200" baseline="0" dirty="0"/>
            <a:t>ciberseguridad preventiva</a:t>
          </a:r>
          <a:r>
            <a:rPr lang="es-AR" sz="2000" b="0" i="0" kern="1200" baseline="0" dirty="0"/>
            <a:t>, usando IA para detectar anomalías antes de que ocurra un ataque.</a:t>
          </a:r>
          <a:endParaRPr lang="en-US" sz="2000" kern="1200" dirty="0"/>
        </a:p>
      </dsp:txBody>
      <dsp:txXfrm>
        <a:off x="1257697" y="1836210"/>
        <a:ext cx="8526065" cy="10889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719D1-128A-4D4D-B3E8-0451A8358DF6}">
      <dsp:nvSpPr>
        <dsp:cNvPr id="0" name=""/>
        <dsp:cNvSpPr/>
      </dsp:nvSpPr>
      <dsp:spPr>
        <a:xfrm>
          <a:off x="0" y="74522"/>
          <a:ext cx="6683374" cy="10518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900" b="0" i="0" kern="1200" baseline="0"/>
            <a:t>La tecnología impulsa el cambio en las organizaciones.</a:t>
          </a:r>
          <a:endParaRPr lang="en-US" sz="2900" kern="1200"/>
        </a:p>
      </dsp:txBody>
      <dsp:txXfrm>
        <a:off x="51346" y="125868"/>
        <a:ext cx="6580682" cy="949138"/>
      </dsp:txXfrm>
    </dsp:sp>
    <dsp:sp modelId="{66F97D65-D565-404D-A288-C814DBF1A8D2}">
      <dsp:nvSpPr>
        <dsp:cNvPr id="0" name=""/>
        <dsp:cNvSpPr/>
      </dsp:nvSpPr>
      <dsp:spPr>
        <a:xfrm>
          <a:off x="0" y="1209872"/>
          <a:ext cx="6683374" cy="1051830"/>
        </a:xfrm>
        <a:prstGeom prst="roundRect">
          <a:avLst/>
        </a:prstGeom>
        <a:gradFill rotWithShape="0">
          <a:gsLst>
            <a:gs pos="0">
              <a:schemeClr val="accent2">
                <a:hueOff val="-1458064"/>
                <a:satOff val="-2807"/>
                <a:lumOff val="196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458064"/>
                <a:satOff val="-2807"/>
                <a:lumOff val="196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458064"/>
                <a:satOff val="-2807"/>
                <a:lumOff val="196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900" b="0" i="0" kern="1200" baseline="0"/>
            <a:t>La innovación permite transformar ideas en valor.</a:t>
          </a:r>
          <a:endParaRPr lang="en-US" sz="2900" kern="1200"/>
        </a:p>
      </dsp:txBody>
      <dsp:txXfrm>
        <a:off x="51346" y="1261218"/>
        <a:ext cx="6580682" cy="949138"/>
      </dsp:txXfrm>
    </dsp:sp>
    <dsp:sp modelId="{8DED72B0-8D6E-4B3F-A89C-2C0EDD0E7ED6}">
      <dsp:nvSpPr>
        <dsp:cNvPr id="0" name=""/>
        <dsp:cNvSpPr/>
      </dsp:nvSpPr>
      <dsp:spPr>
        <a:xfrm>
          <a:off x="0" y="2345222"/>
          <a:ext cx="6683374" cy="1051830"/>
        </a:xfrm>
        <a:prstGeom prst="roundRect">
          <a:avLst/>
        </a:prstGeom>
        <a:gradFill rotWithShape="0">
          <a:gsLst>
            <a:gs pos="0">
              <a:schemeClr val="accent2">
                <a:hueOff val="-2916128"/>
                <a:satOff val="-5613"/>
                <a:lumOff val="39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916128"/>
                <a:satOff val="-5613"/>
                <a:lumOff val="39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916128"/>
                <a:satOff val="-5613"/>
                <a:lumOff val="39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900" b="0" i="0" kern="1200" baseline="0"/>
            <a:t>Las tecnologías disruptivas están redefiniendo industrias completas.</a:t>
          </a:r>
          <a:endParaRPr lang="en-US" sz="2900" kern="1200"/>
        </a:p>
      </dsp:txBody>
      <dsp:txXfrm>
        <a:off x="51346" y="2396568"/>
        <a:ext cx="6580682" cy="949138"/>
      </dsp:txXfrm>
    </dsp:sp>
    <dsp:sp modelId="{5D243C4F-968E-4CEB-88E9-050AAB3D935F}">
      <dsp:nvSpPr>
        <dsp:cNvPr id="0" name=""/>
        <dsp:cNvSpPr/>
      </dsp:nvSpPr>
      <dsp:spPr>
        <a:xfrm>
          <a:off x="0" y="3480572"/>
          <a:ext cx="6683374" cy="1051830"/>
        </a:xfrm>
        <a:prstGeom prst="round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900" b="0" i="0" kern="1200" baseline="0"/>
            <a:t>Comprender esta relación es clave para los profesionales del futuro.</a:t>
          </a:r>
          <a:endParaRPr lang="en-US" sz="2900" kern="1200"/>
        </a:p>
      </dsp:txBody>
      <dsp:txXfrm>
        <a:off x="51346" y="3531918"/>
        <a:ext cx="6580682" cy="94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0E9B1-72D4-09E5-247B-85E620CB8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41873E-DA86-2684-AE68-A3E8B517E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F2A58E-75D9-4380-B756-056081CE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15EDAD-1540-7932-A625-5BF84510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40893-28E9-3011-6B65-3281BB9A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39854920-3DC0-B1F0-6FD7-F326DBA5D0A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88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4D635-ABA3-3EBC-C4A7-726A97B6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71261-AB40-6680-1621-70E6D69EC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F9078E-6E45-AA4E-5126-663D091E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7FB5C3-6315-F8CE-08F8-EA9DAC3F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EE044B-EFFD-8AC7-2698-998BF150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10E8994B-156A-A1E8-522C-57688D5BBBB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3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6A356-2BC7-E919-B966-EFAFE153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3F034D-1E23-2825-D33A-463818E9F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1A3E42-E499-CD2C-6BFC-DD265E43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A8EE79-1B78-AC15-3395-0B926647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02C300-0149-70F4-3218-42E78046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A225B8EE-1C5C-0982-BB97-B2D1AD96998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5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7BE01-C662-9B1B-C593-D1AD6E5A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ECF58-9C40-8725-9192-35F3D4302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37F396-83D7-1F29-2DDC-3CE599D52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A47D70-B30E-7908-3731-500C4447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E8D33B-17F5-538C-9E5E-C0EC16AC0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4CF526-E338-2727-AD93-810E2E6EB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42F8651B-06E8-5AD4-2825-A2635BFD71D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2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F3149-6F5B-DE62-EDBB-117C789A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DE73DB-90C3-A49F-86C6-4910089E4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8C9751-0316-2FDC-4CCD-507D6CD50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73511C-34D4-5855-BB50-9F70A267B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5BFD94-6722-CE73-7894-555D304EF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9198A2-6E4A-C871-BF95-A93C837F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BD60B1-01CD-8D34-C49E-12AD051B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AF93709-35C4-F8D6-750D-405500D4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10" name="object 12">
            <a:extLst>
              <a:ext uri="{FF2B5EF4-FFF2-40B4-BE49-F238E27FC236}">
                <a16:creationId xmlns:a16="http://schemas.microsoft.com/office/drawing/2014/main" id="{FED2E0DE-472E-BF7D-08EA-3697E2BCD2C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0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63DA9-62B6-DD0B-B3F8-E5C46D2ED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4877CE-60A9-A302-CDF2-53F75AD2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2BB4AA-5771-703C-E6A5-304C26D1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B85C5F-7986-C54E-62D6-B5619E1C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6" name="object 12">
            <a:extLst>
              <a:ext uri="{FF2B5EF4-FFF2-40B4-BE49-F238E27FC236}">
                <a16:creationId xmlns:a16="http://schemas.microsoft.com/office/drawing/2014/main" id="{AE89F467-DF80-1172-B0B9-8C7179F8540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331008-D6C0-F619-45AE-AA06DD5E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2B95EC-3155-5FCF-3A88-EFC8866C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FA56B6-9F77-3110-C07F-43BD4F7C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5" name="object 12">
            <a:extLst>
              <a:ext uri="{FF2B5EF4-FFF2-40B4-BE49-F238E27FC236}">
                <a16:creationId xmlns:a16="http://schemas.microsoft.com/office/drawing/2014/main" id="{597EEA64-9D93-2A49-3BE2-9C69479E886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4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C1967-EC0E-9C7F-393D-88A9FD54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3F0F6-B241-4CE7-0F58-77D83D381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990E86-4180-700A-B8AA-A5A23B91E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C68DB0-380F-AD7A-74DD-18E5B398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973787-39D3-F3A9-07FF-28B7FB07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EB8CF9-54E3-1F58-E2B8-27FE0303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61FE0E4D-3D8A-11BB-A17C-2035BB18E77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7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36C3D-5174-88C4-DE6A-490CE5AC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102616-ED49-5E14-4A78-45B7BE413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3B8069-D842-AA90-79CF-8825FFE1A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75B58C-534D-2BDC-3072-B70C364C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97C2C8-2F2E-70F2-999F-56D1BF6B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18322F-95CB-3503-FB09-DF8CBA82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1643391C-90F5-DA75-80D0-EE6F93446C1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57CC4-303D-D3FD-9CCF-2D799E7A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60825A-E042-8F1F-A4E2-7269961E8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AB7196-5DFE-9188-067B-755384CE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713A7-CDC0-F664-9A6A-36757A10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58184-1E13-FF50-B9CC-76C1CC9B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71CD6C1C-8022-1B8E-E8FF-093E209600A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4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70C413-074F-BE76-76DC-C9C3D59AD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2B4F1D-271C-7807-2CCE-EBF89D743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0F2FAD-5FF9-553B-E3E8-83C590ED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52F3F-6314-467C-A889-05B37D11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29C72-996A-5D20-E1C2-DE7A1823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886AF3C1-6ACF-8D78-BA02-CA86B474A7D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91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67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AR"/>
              <a:t>Lic. Gustavo E. Escandell Ing. Melinda Selles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C4E94-AC0A-44EC-9F98-B4A92EC816D2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object 12">
            <a:extLst>
              <a:ext uri="{FF2B5EF4-FFF2-40B4-BE49-F238E27FC236}">
                <a16:creationId xmlns:a16="http://schemas.microsoft.com/office/drawing/2014/main" id="{A280C336-2FCB-7E17-74B9-C4535467587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21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6470AFAE-E5A0-EEBC-0295-668EC03D7987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546C8F1E-E808-BB05-0ABD-690EA2B4960A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58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D2D3BCAE-7A75-1280-4FED-92B960DE4DA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47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2" name="object 12">
            <a:extLst>
              <a:ext uri="{FF2B5EF4-FFF2-40B4-BE49-F238E27FC236}">
                <a16:creationId xmlns:a16="http://schemas.microsoft.com/office/drawing/2014/main" id="{875E01D8-B18B-5127-8CEE-122B429B3B4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52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2" name="object 12">
            <a:extLst>
              <a:ext uri="{FF2B5EF4-FFF2-40B4-BE49-F238E27FC236}">
                <a16:creationId xmlns:a16="http://schemas.microsoft.com/office/drawing/2014/main" id="{6FB3EF2E-820F-1EA9-D407-B01BAC19CD16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16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6" name="object 12">
            <a:extLst>
              <a:ext uri="{FF2B5EF4-FFF2-40B4-BE49-F238E27FC236}">
                <a16:creationId xmlns:a16="http://schemas.microsoft.com/office/drawing/2014/main" id="{1AC8AAF3-A12E-F1BA-4F2C-479E6E7E3E8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515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5" name="object 12">
            <a:extLst>
              <a:ext uri="{FF2B5EF4-FFF2-40B4-BE49-F238E27FC236}">
                <a16:creationId xmlns:a16="http://schemas.microsoft.com/office/drawing/2014/main" id="{7CF5577E-CBBC-8F7B-4798-C12882AA36C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98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2" name="object 12">
            <a:extLst>
              <a:ext uri="{FF2B5EF4-FFF2-40B4-BE49-F238E27FC236}">
                <a16:creationId xmlns:a16="http://schemas.microsoft.com/office/drawing/2014/main" id="{0FB2FFD0-5E2F-3D6C-3EC8-414DE12DA28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4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2" name="object 12">
            <a:extLst>
              <a:ext uri="{FF2B5EF4-FFF2-40B4-BE49-F238E27FC236}">
                <a16:creationId xmlns:a16="http://schemas.microsoft.com/office/drawing/2014/main" id="{218154FF-44FB-CC5E-10EC-CB9B1878311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225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C5510C7A-196D-C3A7-52F9-C25BC90EAFC3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87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9DBB4A14-68E3-FAB3-897D-A1B6977970F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26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8641D9EE-64F9-1AE3-336E-C750FA1C494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655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648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C0909226-55AE-D39E-019D-561E5A8579DA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397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136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132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6" name="object 12">
            <a:extLst>
              <a:ext uri="{FF2B5EF4-FFF2-40B4-BE49-F238E27FC236}">
                <a16:creationId xmlns:a16="http://schemas.microsoft.com/office/drawing/2014/main" id="{9143F4A6-8D2F-6F1B-9A3E-084649B2622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761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5" name="object 12">
            <a:extLst>
              <a:ext uri="{FF2B5EF4-FFF2-40B4-BE49-F238E27FC236}">
                <a16:creationId xmlns:a16="http://schemas.microsoft.com/office/drawing/2014/main" id="{935C755C-D428-992C-0A67-8D86F3617BFA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861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7292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8" name="object 12">
            <a:extLst>
              <a:ext uri="{FF2B5EF4-FFF2-40B4-BE49-F238E27FC236}">
                <a16:creationId xmlns:a16="http://schemas.microsoft.com/office/drawing/2014/main" id="{FFBECADB-8DB2-7EDB-AEEC-043EE248C356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7593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0412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23950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3597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94119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315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8951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19765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7107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4D635-ABA3-3EBC-C4A7-726A97B6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F71261-AB40-6680-1621-70E6D69EC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F9078E-6E45-AA4E-5126-663D091E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7FB5C3-6315-F8CE-08F8-EA9DAC3F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EE044B-EFFD-8AC7-2698-998BF150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  <p:pic>
        <p:nvPicPr>
          <p:cNvPr id="7" name="object 12">
            <a:extLst>
              <a:ext uri="{FF2B5EF4-FFF2-40B4-BE49-F238E27FC236}">
                <a16:creationId xmlns:a16="http://schemas.microsoft.com/office/drawing/2014/main" id="{10E8994B-156A-A1E8-522C-57688D5BBBB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73416" cy="95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63D43B-7241-7158-6A9E-FC099A25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660011-2929-1AAC-A0CC-A20A03BF4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7CF795-796C-1D85-FA69-508CAA58D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282E39-52A7-C042-25A1-9E273DF46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6202C4-AE88-1FC4-8B7C-EC0A9E2A5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921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44600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E14FB93-A76C-4C64-8FCE-0B8DC5A226FE}" type="datetimeFigureOut">
              <a:rPr lang="es-AR" smtClean="0"/>
              <a:t>25/8/2026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A481188-C853-43C6-86D4-CFAD19DE85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948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efilosofica.com/2020/01/tipos-de-pensamientos.htm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hyperlink" Target="https://de.wikipedia.org/wiki/Udemy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elgourmeturbano.blogspot.com/2021/05/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5.xml"/><Relationship Id="rId1" Type="http://schemas.openxmlformats.org/officeDocument/2006/relationships/video" Target="https://www.youtube.com/embed/aJwMEQqwDSo?feature=oembed" TargetMode="External"/><Relationship Id="rId6" Type="http://schemas.openxmlformats.org/officeDocument/2006/relationships/image" Target="../media/image3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31969" y="0"/>
            <a:ext cx="12192000" cy="6858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18" y="952267"/>
              <a:ext cx="16230600" cy="8382634"/>
            </a:xfrm>
            <a:custGeom>
              <a:avLst/>
              <a:gdLst/>
              <a:ahLst/>
              <a:cxnLst/>
              <a:rect l="l" t="t" r="r" b="b"/>
              <a:pathLst>
                <a:path w="16230600" h="8382634">
                  <a:moveTo>
                    <a:pt x="0" y="0"/>
                  </a:moveTo>
                  <a:lnTo>
                    <a:pt x="16230561" y="0"/>
                  </a:lnTo>
                  <a:lnTo>
                    <a:pt x="16230561" y="8382445"/>
                  </a:lnTo>
                  <a:lnTo>
                    <a:pt x="0" y="8382445"/>
                  </a:lnTo>
                  <a:lnTo>
                    <a:pt x="0" y="0"/>
                  </a:lnTo>
                  <a:close/>
                </a:path>
              </a:pathLst>
            </a:custGeom>
            <a:ln w="133349">
              <a:solidFill>
                <a:srgbClr val="071B2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5" name="object 5"/>
          <p:cNvSpPr/>
          <p:nvPr/>
        </p:nvSpPr>
        <p:spPr>
          <a:xfrm>
            <a:off x="8249692" y="5995434"/>
            <a:ext cx="2856653" cy="862753"/>
          </a:xfrm>
          <a:custGeom>
            <a:avLst/>
            <a:gdLst/>
            <a:ahLst/>
            <a:cxnLst/>
            <a:rect l="l" t="t" r="r" b="b"/>
            <a:pathLst>
              <a:path w="4284980" h="1294129">
                <a:moveTo>
                  <a:pt x="4284387" y="1293849"/>
                </a:moveTo>
                <a:lnTo>
                  <a:pt x="0" y="1293849"/>
                </a:lnTo>
                <a:lnTo>
                  <a:pt x="0" y="0"/>
                </a:lnTo>
                <a:lnTo>
                  <a:pt x="4284387" y="0"/>
                </a:lnTo>
                <a:lnTo>
                  <a:pt x="4284387" y="129384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grpSp>
        <p:nvGrpSpPr>
          <p:cNvPr id="6" name="object 6"/>
          <p:cNvGrpSpPr/>
          <p:nvPr/>
        </p:nvGrpSpPr>
        <p:grpSpPr>
          <a:xfrm>
            <a:off x="8688073" y="352773"/>
            <a:ext cx="3503930" cy="6505363"/>
            <a:chOff x="13032109" y="529158"/>
            <a:chExt cx="5255895" cy="9758045"/>
          </a:xfrm>
        </p:grpSpPr>
        <p:sp>
          <p:nvSpPr>
            <p:cNvPr id="7" name="object 7"/>
            <p:cNvSpPr/>
            <p:nvPr/>
          </p:nvSpPr>
          <p:spPr>
            <a:xfrm>
              <a:off x="16720645" y="529158"/>
              <a:ext cx="1567815" cy="6985634"/>
            </a:xfrm>
            <a:custGeom>
              <a:avLst/>
              <a:gdLst/>
              <a:ahLst/>
              <a:cxnLst/>
              <a:rect l="l" t="t" r="r" b="b"/>
              <a:pathLst>
                <a:path w="1567815" h="6985634">
                  <a:moveTo>
                    <a:pt x="0" y="6985306"/>
                  </a:moveTo>
                  <a:lnTo>
                    <a:pt x="0" y="0"/>
                  </a:lnTo>
                  <a:lnTo>
                    <a:pt x="1567255" y="0"/>
                  </a:lnTo>
                  <a:lnTo>
                    <a:pt x="1567255" y="6985306"/>
                  </a:lnTo>
                  <a:lnTo>
                    <a:pt x="0" y="6985306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8" name="object 8"/>
            <p:cNvSpPr/>
            <p:nvPr/>
          </p:nvSpPr>
          <p:spPr>
            <a:xfrm>
              <a:off x="17940046" y="1781618"/>
              <a:ext cx="347980" cy="2235835"/>
            </a:xfrm>
            <a:custGeom>
              <a:avLst/>
              <a:gdLst/>
              <a:ahLst/>
              <a:cxnLst/>
              <a:rect l="l" t="t" r="r" b="b"/>
              <a:pathLst>
                <a:path w="347980" h="2235835">
                  <a:moveTo>
                    <a:pt x="347941" y="2143379"/>
                  </a:moveTo>
                  <a:lnTo>
                    <a:pt x="295148" y="2196185"/>
                  </a:lnTo>
                  <a:lnTo>
                    <a:pt x="334619" y="2235657"/>
                  </a:lnTo>
                  <a:lnTo>
                    <a:pt x="347941" y="2235657"/>
                  </a:lnTo>
                  <a:lnTo>
                    <a:pt x="347941" y="2143379"/>
                  </a:lnTo>
                  <a:close/>
                </a:path>
                <a:path w="347980" h="2235835">
                  <a:moveTo>
                    <a:pt x="347941" y="0"/>
                  </a:moveTo>
                  <a:lnTo>
                    <a:pt x="0" y="347954"/>
                  </a:lnTo>
                  <a:lnTo>
                    <a:pt x="347941" y="695896"/>
                  </a:lnTo>
                  <a:lnTo>
                    <a:pt x="347941" y="0"/>
                  </a:lnTo>
                  <a:close/>
                </a:path>
              </a:pathLst>
            </a:custGeom>
            <a:solidFill>
              <a:srgbClr val="071B2B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9" name="object 9"/>
            <p:cNvSpPr/>
            <p:nvPr/>
          </p:nvSpPr>
          <p:spPr>
            <a:xfrm>
              <a:off x="13512584" y="1156401"/>
              <a:ext cx="4775835" cy="4856480"/>
            </a:xfrm>
            <a:custGeom>
              <a:avLst/>
              <a:gdLst/>
              <a:ahLst/>
              <a:cxnLst/>
              <a:rect l="l" t="t" r="r" b="b"/>
              <a:pathLst>
                <a:path w="4775834" h="4856480">
                  <a:moveTo>
                    <a:pt x="4775414" y="161644"/>
                  </a:moveTo>
                  <a:lnTo>
                    <a:pt x="80822" y="4856236"/>
                  </a:lnTo>
                  <a:lnTo>
                    <a:pt x="0" y="4775414"/>
                  </a:lnTo>
                  <a:lnTo>
                    <a:pt x="4775414" y="0"/>
                  </a:lnTo>
                  <a:lnTo>
                    <a:pt x="4775414" y="161644"/>
                  </a:lnTo>
                  <a:close/>
                </a:path>
              </a:pathLst>
            </a:custGeom>
            <a:solidFill>
              <a:srgbClr val="071B2B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02718" y="4540798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0" y="1216427"/>
                  </a:moveTo>
                  <a:lnTo>
                    <a:pt x="1216427" y="0"/>
                  </a:lnTo>
                </a:path>
              </a:pathLst>
            </a:custGeom>
            <a:ln w="114299">
              <a:solidFill>
                <a:srgbClr val="071B2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3032105" y="7472121"/>
              <a:ext cx="2896235" cy="2814955"/>
            </a:xfrm>
            <a:custGeom>
              <a:avLst/>
              <a:gdLst/>
              <a:ahLst/>
              <a:cxnLst/>
              <a:rect l="l" t="t" r="r" b="b"/>
              <a:pathLst>
                <a:path w="2896234" h="2814954">
                  <a:moveTo>
                    <a:pt x="1424393" y="2345029"/>
                  </a:moveTo>
                  <a:lnTo>
                    <a:pt x="1343571" y="2264206"/>
                  </a:lnTo>
                  <a:lnTo>
                    <a:pt x="792886" y="2814891"/>
                  </a:lnTo>
                  <a:lnTo>
                    <a:pt x="954532" y="2814891"/>
                  </a:lnTo>
                  <a:lnTo>
                    <a:pt x="1424393" y="2345029"/>
                  </a:lnTo>
                  <a:close/>
                </a:path>
                <a:path w="2896234" h="2814954">
                  <a:moveTo>
                    <a:pt x="2895714" y="80810"/>
                  </a:moveTo>
                  <a:lnTo>
                    <a:pt x="2814891" y="0"/>
                  </a:lnTo>
                  <a:lnTo>
                    <a:pt x="0" y="2814878"/>
                  </a:lnTo>
                  <a:lnTo>
                    <a:pt x="161645" y="2814878"/>
                  </a:lnTo>
                  <a:lnTo>
                    <a:pt x="2895714" y="80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081" y="885846"/>
            <a:ext cx="1773416" cy="95377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11200" y="3007775"/>
            <a:ext cx="8526188" cy="921748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</a:pPr>
            <a:r>
              <a:rPr lang="es-AR" sz="5934" dirty="0">
                <a:latin typeface="Trebuchet MS"/>
                <a:cs typeface="Trebuchet MS"/>
              </a:rPr>
              <a:t>Tecnología e Innovación</a:t>
            </a:r>
            <a:endParaRPr sz="5934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2500" y="5206375"/>
            <a:ext cx="1789853" cy="703120"/>
          </a:xfrm>
          <a:prstGeom prst="rect">
            <a:avLst/>
          </a:prstGeom>
        </p:spPr>
        <p:txBody>
          <a:bodyPr vert="horz" wrap="square" lIns="0" tIns="41063" rIns="0" bIns="0" rtlCol="0">
            <a:spAutoFit/>
          </a:bodyPr>
          <a:lstStyle/>
          <a:p>
            <a:pPr marL="8467">
              <a:spcBef>
                <a:spcPts val="323"/>
              </a:spcBef>
            </a:pPr>
            <a:r>
              <a:rPr sz="1467" b="1" spc="76" dirty="0" err="1">
                <a:latin typeface="Trebuchet MS"/>
                <a:cs typeface="Trebuchet MS"/>
              </a:rPr>
              <a:t>Profesor</a:t>
            </a:r>
            <a:r>
              <a:rPr sz="1467" b="1" spc="76" dirty="0">
                <a:latin typeface="Trebuchet MS"/>
                <a:cs typeface="Trebuchet MS"/>
              </a:rPr>
              <a:t>:</a:t>
            </a:r>
            <a:endParaRPr sz="1467" dirty="0">
              <a:latin typeface="Trebuchet MS"/>
              <a:cs typeface="Trebuchet MS"/>
            </a:endParaRPr>
          </a:p>
          <a:p>
            <a:pPr marL="8467">
              <a:spcBef>
                <a:spcPts val="233"/>
              </a:spcBef>
            </a:pPr>
            <a:r>
              <a:rPr lang="es-AR" sz="1333" dirty="0">
                <a:latin typeface="Lucida Sans Unicode"/>
                <a:cs typeface="Lucida Sans Unicode"/>
              </a:rPr>
              <a:t>Ingeniero Mario Barrios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F7853-75D2-3938-80B3-A7F9FF963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187007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/>
              <a:t>La tecnología mejoró la vida de las personas.  Por qué?</a:t>
            </a:r>
          </a:p>
        </p:txBody>
      </p:sp>
    </p:spTree>
    <p:extLst>
      <p:ext uri="{BB962C8B-B14F-4D97-AF65-F5344CB8AC3E}">
        <p14:creationId xmlns:p14="http://schemas.microsoft.com/office/powerpoint/2010/main" val="367019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1D67B7-835E-EDDC-E376-9F1B2E5A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AR" sz="3700"/>
              <a:t>Qué podemos entender por Tecnología e Innovación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07A2FC-E6B8-29C8-4070-50D285AA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584" y="1835500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La tecnología es la aplicación del conocimiento científico para crear herramientas y procesos que resuelvan problemas, mientras que la innovación tecnológica es el proceso de introducir cambios significativos —nuevos o mejorados— en productos, servicios o métodos utilizando dicha tecnología para generar valor y satisfacer necesidades</a:t>
            </a:r>
            <a:endParaRPr lang="es-A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8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86CC8-69A1-0888-0F84-EACC0D3E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822325"/>
            <a:ext cx="10515600" cy="1325563"/>
          </a:xfrm>
        </p:spPr>
        <p:txBody>
          <a:bodyPr>
            <a:normAutofit/>
          </a:bodyPr>
          <a:lstStyle/>
          <a:p>
            <a:r>
              <a:rPr lang="es-AR" dirty="0"/>
              <a:t>Tecnología (El “Cómo”)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37D30E-381D-32F8-E25A-D7796B5FF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2654300"/>
            <a:ext cx="6657975" cy="35941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2500" dirty="0"/>
              <a:t>El conjunto de saberes, técnicas y herramientas que permiten transformar el entorno</a:t>
            </a:r>
            <a:endParaRPr lang="es-AR" sz="2500" dirty="0"/>
          </a:p>
        </p:txBody>
      </p:sp>
      <p:pic>
        <p:nvPicPr>
          <p:cNvPr id="5" name="Picture 4" descr="Protoboard electrónico">
            <a:extLst>
              <a:ext uri="{FF2B5EF4-FFF2-40B4-BE49-F238E27FC236}">
                <a16:creationId xmlns:a16="http://schemas.microsoft.com/office/drawing/2014/main" id="{1783BA8B-8507-08ED-1385-0C8F5A6D0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9" r="37983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368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418D5-01A9-DDD1-1BB9-DA208CCC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24" y="365125"/>
            <a:ext cx="9591675" cy="1368425"/>
          </a:xfrm>
        </p:spPr>
        <p:txBody>
          <a:bodyPr anchor="ctr">
            <a:normAutofit/>
          </a:bodyPr>
          <a:lstStyle/>
          <a:p>
            <a:r>
              <a:rPr lang="es-AR" dirty="0"/>
              <a:t>EJEMPLOS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B644579-61BE-1184-F1A9-2A9498532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7325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603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E7503-507F-A569-7227-9A3A90D3D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s-AR" dirty="0"/>
              <a:t>Innovación (El “Para qué”)</a:t>
            </a:r>
          </a:p>
        </p:txBody>
      </p:sp>
      <p:pic>
        <p:nvPicPr>
          <p:cNvPr id="7" name="Graphic 6" descr="Bombilla">
            <a:extLst>
              <a:ext uri="{FF2B5EF4-FFF2-40B4-BE49-F238E27FC236}">
                <a16:creationId xmlns:a16="http://schemas.microsoft.com/office/drawing/2014/main" id="{FACB7E07-528D-F866-FE8C-E56CA239E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32475" y="987425"/>
            <a:ext cx="4873625" cy="4873625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996A3D-611C-DC42-7662-A3F42D625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031" y="2971801"/>
            <a:ext cx="5423852" cy="1828800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s-MX" sz="2500" dirty="0"/>
              <a:t>Es la aplicación práctica y exitosa de nuevas ideas tecnológicas para mejorar la eficiencia o crear nuevas oportunidades</a:t>
            </a:r>
            <a:endParaRPr lang="es-AR" sz="2500" dirty="0"/>
          </a:p>
        </p:txBody>
      </p:sp>
    </p:spTree>
    <p:extLst>
      <p:ext uri="{BB962C8B-B14F-4D97-AF65-F5344CB8AC3E}">
        <p14:creationId xmlns:p14="http://schemas.microsoft.com/office/powerpoint/2010/main" val="43585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8659F-04B5-8102-5EA9-99A0321EC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965200"/>
            <a:ext cx="9872574" cy="827736"/>
          </a:xfrm>
        </p:spPr>
        <p:txBody>
          <a:bodyPr>
            <a:normAutofit/>
          </a:bodyPr>
          <a:lstStyle/>
          <a:p>
            <a:r>
              <a:rPr lang="es-AR" dirty="0"/>
              <a:t>Tipos de Innovación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FCBCA3C-4047-D674-D4A2-25C7D79B0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24971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4026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14B39-91C0-94F0-4289-8AC655CA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69" y="855676"/>
            <a:ext cx="5826531" cy="849299"/>
          </a:xfrm>
        </p:spPr>
        <p:txBody>
          <a:bodyPr/>
          <a:lstStyle/>
          <a:p>
            <a:r>
              <a:rPr lang="es-AR" dirty="0"/>
              <a:t>Importancia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1E4FDE-2010-230C-645E-70BD76BBA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179" y="2322576"/>
            <a:ext cx="10135641" cy="2587752"/>
          </a:xfrm>
        </p:spPr>
        <p:txBody>
          <a:bodyPr/>
          <a:lstStyle/>
          <a:p>
            <a:pPr marL="0" indent="0" algn="ctr">
              <a:buNone/>
            </a:pPr>
            <a:r>
              <a:rPr lang="es-MX" dirty="0"/>
              <a:t>La tecnología y la innovación son motores fundamentales para el progreso social y económico, permitiendo aumentar la productividad, reducir costos operativos y mejorar la calidad de vida mediante soluciones eficientes. Impulsan la competitividad empresarial, facilitan el acceso a la información, la educación y aceleran la transformación digital.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0565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06209-1EBF-37C4-91DE-7443CD3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Importancia en diferentes ámbitos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F15E08-2824-AC65-83CA-90B2AB5F1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MX" b="1" dirty="0"/>
              <a:t>Empresas y Economía:</a:t>
            </a:r>
            <a:r>
              <a:rPr lang="es-MX" dirty="0"/>
              <a:t> La innovación tecnológica permite la adaptación a mercados cambiantes, optimiza procesos, automatiza tareas y genera nuevas oportunidades de negocio, asegurando la competitividad y longevidad de las compañías. Herramientas como la Inteligencia Artificial, Big Data y el Internet de las Cosas (</a:t>
            </a:r>
            <a:r>
              <a:rPr lang="es-MX" dirty="0" err="1"/>
              <a:t>IoT</a:t>
            </a:r>
            <a:r>
              <a:rPr lang="es-MX" dirty="0"/>
              <a:t>) transforman los modelos de negocio tradicionales.</a:t>
            </a:r>
          </a:p>
          <a:p>
            <a:pPr algn="just"/>
            <a:r>
              <a:rPr lang="es-MX" b="1" dirty="0"/>
              <a:t>Educación y Conocimiento:</a:t>
            </a:r>
            <a:r>
              <a:rPr lang="es-MX" dirty="0"/>
              <a:t> Facilitan el acceso a la información y ofrecen nuevas formas de aprendizaje, convirtiéndose en aliados para la formación.</a:t>
            </a:r>
          </a:p>
          <a:p>
            <a:pPr algn="just"/>
            <a:r>
              <a:rPr lang="es-MX" b="1" dirty="0"/>
              <a:t>Vida Cotidiana y Sociedad:</a:t>
            </a:r>
            <a:r>
              <a:rPr lang="es-MX" dirty="0"/>
              <a:t> Mejoran la comunicación, acortan distancias, y permiten la creación de herramientas que satisfacen necesidades humanas, elevando la calidad de vida en general.</a:t>
            </a:r>
          </a:p>
          <a:p>
            <a:pPr algn="just"/>
            <a:r>
              <a:rPr lang="es-MX" b="1" dirty="0"/>
              <a:t>Gestión y Eficiencia:</a:t>
            </a:r>
            <a:r>
              <a:rPr lang="es-MX" dirty="0"/>
              <a:t> La tecnología mejora la gestión de proyectos, permitiendo la colaboración en tiempo real y la toma de decisiones basada en el análisis de datos</a:t>
            </a:r>
          </a:p>
          <a:p>
            <a:pPr marL="0" indent="0" algn="just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83926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5781E-B270-8CE5-307D-3C4D251D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814" y="567640"/>
            <a:ext cx="9925329" cy="1288592"/>
          </a:xfrm>
        </p:spPr>
        <p:txBody>
          <a:bodyPr/>
          <a:lstStyle/>
          <a:p>
            <a:r>
              <a:rPr lang="es-AR" dirty="0"/>
              <a:t>Relación Tecnología, Innovación y negocios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130B81-CE2B-D912-EF0A-1471B41E4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20" y="2615184"/>
            <a:ext cx="9925328" cy="2459736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La tecnología, la innovación y los negocios están intrínsecamente vinculados en un ciclo donde la tecnología actúa como motor, la innovación como proceso y los negocios como el campo de aplicación para generar valor, eficiencia y competitividad. La adopción tecnológica permite a las empresas automatizar procesos, analizar datos y crear modelos de negocio, siendo crucial para el éxito en la era digital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1448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B76E0-1F9D-2DBB-2B22-1F7D6E78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Relación Tripartita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4F0E2A-F579-203D-F315-1D360E8EF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Tecnología como Motor:</a:t>
            </a:r>
            <a:r>
              <a:rPr lang="es-MX" dirty="0"/>
              <a:t> Herramientas como Inteligencia Artificial (IA), Big Data y la nube optimizan la administración, producción y ventas.</a:t>
            </a:r>
          </a:p>
          <a:p>
            <a:r>
              <a:rPr lang="es-MX" b="1" dirty="0"/>
              <a:t>Innovación como Motor de Cambio:</a:t>
            </a:r>
            <a:r>
              <a:rPr lang="es-MX" dirty="0"/>
              <a:t> La innovación aplica nuevas tecnologías para mejorar procesos, productos o servicios, permitiendo a las empresas adaptarse a los cambios rápidos y superar crisis.</a:t>
            </a:r>
          </a:p>
          <a:p>
            <a:r>
              <a:rPr lang="es-MX" b="1" dirty="0"/>
              <a:t>Negocios y Competitividad:</a:t>
            </a:r>
            <a:r>
              <a:rPr lang="es-MX" dirty="0"/>
              <a:t> La integración tecnológica transforma los negocios, aumentando la productividad y ofreciendo ventajas competitivas sostenibles</a:t>
            </a:r>
          </a:p>
        </p:txBody>
      </p:sp>
    </p:spTree>
    <p:extLst>
      <p:ext uri="{BB962C8B-B14F-4D97-AF65-F5344CB8AC3E}">
        <p14:creationId xmlns:p14="http://schemas.microsoft.com/office/powerpoint/2010/main" val="193728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70A45-E793-2A25-91D3-3956E8DB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Aspectos fundamentales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1FB35D-389B-9EC0-747B-343FD8DA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Transformación de Modelos:</a:t>
            </a:r>
            <a:r>
              <a:rPr lang="es-MX" dirty="0"/>
              <a:t> La tecnología permite la creación de nuevos modelos de negocio, a menudo basados en la desmaterialización y la experiencia digital, como Uber o Airbnb.</a:t>
            </a:r>
          </a:p>
          <a:p>
            <a:r>
              <a:rPr lang="es-MX" b="1" dirty="0"/>
              <a:t>Eficiencia Operativa:</a:t>
            </a:r>
            <a:r>
              <a:rPr lang="es-MX" dirty="0"/>
              <a:t> Automatizar tareas y gestionar información en tiempo real reduce costos y agiliza la toma de decisiones.</a:t>
            </a:r>
          </a:p>
          <a:p>
            <a:r>
              <a:rPr lang="es-MX" b="1" dirty="0"/>
              <a:t>Conexión con el Cliente:</a:t>
            </a:r>
            <a:r>
              <a:rPr lang="es-MX" dirty="0"/>
              <a:t> La tecnología facilita la relación con el consumidor a través de CRM y redes sociales, permitiendo una personalización del servicio.</a:t>
            </a:r>
          </a:p>
          <a:p>
            <a:r>
              <a:rPr lang="es-MX" b="1" dirty="0"/>
              <a:t>Impacto de la I+D:</a:t>
            </a:r>
            <a:r>
              <a:rPr lang="es-MX" dirty="0"/>
              <a:t> La inversión en investigación y desarrollo tecnológico es crucial para la innovación continua y la competitividad a largo plazo</a:t>
            </a:r>
          </a:p>
        </p:txBody>
      </p:sp>
    </p:spTree>
    <p:extLst>
      <p:ext uri="{BB962C8B-B14F-4D97-AF65-F5344CB8AC3E}">
        <p14:creationId xmlns:p14="http://schemas.microsoft.com/office/powerpoint/2010/main" val="144836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21227B1-1586-4CEF-A0F1-E3C7FFBD4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176C41-C92A-496F-B716-76B2F757E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FCC2FC-7421-488E-A0AF-594DCAB14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548640"/>
            <a:ext cx="12188952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019EFB-01A0-89F4-F8C4-1F3BC714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09" y="685800"/>
            <a:ext cx="11471565" cy="17393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000" spc="150"/>
              <a:t>Pero…que impacto tendrá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C50A1EE-1C47-D293-D405-58D131EE1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189" b="17719"/>
          <a:stretch>
            <a:fillRect/>
          </a:stretch>
        </p:blipFill>
        <p:spPr>
          <a:xfrm>
            <a:off x="3171579" y="3097411"/>
            <a:ext cx="5838825" cy="329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20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22E64-F25D-EB11-2F45-4146E05A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Impactos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94928B-025C-0C86-C775-6D771BF02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562144"/>
          </a:xfrm>
        </p:spPr>
        <p:txBody>
          <a:bodyPr>
            <a:normAutofit fontScale="92500" lnSpcReduction="10000"/>
          </a:bodyPr>
          <a:lstStyle/>
          <a:p>
            <a:r>
              <a:rPr lang="es-MX" b="1" dirty="0"/>
              <a:t>Optimización y Eficiencia Operativa:</a:t>
            </a:r>
            <a:r>
              <a:rPr lang="es-MX" dirty="0"/>
              <a:t> La automatización de procesos, el uso de inteligencia artificial (IA) y herramientas como </a:t>
            </a:r>
            <a:r>
              <a:rPr lang="es-MX" dirty="0" err="1"/>
              <a:t>Copilot</a:t>
            </a:r>
            <a:r>
              <a:rPr lang="es-MX" dirty="0"/>
              <a:t> en GitHub mejoran drásticamente la productividad, reducen costos operativos y optimizan inventarios.</a:t>
            </a:r>
          </a:p>
          <a:p>
            <a:r>
              <a:rPr lang="es-MX" b="1" dirty="0"/>
              <a:t>Transformación en la Relación con el Cliente:</a:t>
            </a:r>
            <a:r>
              <a:rPr lang="es-MX" dirty="0"/>
              <a:t> El </a:t>
            </a:r>
            <a:r>
              <a:rPr lang="es-MX" i="1" dirty="0"/>
              <a:t>e-</a:t>
            </a:r>
            <a:r>
              <a:rPr lang="es-MX" i="1" dirty="0" err="1"/>
              <a:t>commerce</a:t>
            </a:r>
            <a:r>
              <a:rPr lang="es-MX" dirty="0"/>
              <a:t>, la IA para personalizar ofertas y los </a:t>
            </a:r>
            <a:r>
              <a:rPr lang="es-MX" dirty="0" err="1"/>
              <a:t>chatbots</a:t>
            </a:r>
            <a:r>
              <a:rPr lang="es-MX" dirty="0"/>
              <a:t> permiten un acercamiento directo y ágil, satisfaciendo la demanda de inmediatez y personalización.</a:t>
            </a:r>
          </a:p>
          <a:p>
            <a:r>
              <a:rPr lang="es-MX" b="1" dirty="0"/>
              <a:t>Seguridad y Gestión de Datos:</a:t>
            </a:r>
            <a:r>
              <a:rPr lang="es-MX" dirty="0"/>
              <a:t> La implementación de ciberseguridad, cifrado "</a:t>
            </a:r>
            <a:r>
              <a:rPr lang="es-MX" dirty="0" err="1"/>
              <a:t>end-to-end</a:t>
            </a:r>
            <a:r>
              <a:rPr lang="es-MX" dirty="0"/>
              <a:t>" y herramientas de control remoto protege los activos digitales, fortaleciendo la confianza del consumidor.</a:t>
            </a:r>
          </a:p>
          <a:p>
            <a:r>
              <a:rPr lang="es-MX" b="1" dirty="0"/>
              <a:t>Cambio Estructural y Nuevos Modelos:</a:t>
            </a:r>
            <a:r>
              <a:rPr lang="es-MX" dirty="0"/>
              <a:t> La adopción de tecnologías (nube, IA) obliga a las empresas a operar bajo metodologías ágiles, desdibujando la línea entre áreas como IT y marketing para un enfoque integrado.</a:t>
            </a:r>
          </a:p>
          <a:p>
            <a:r>
              <a:rPr lang="es-MX" b="1" dirty="0"/>
              <a:t>Crecimiento y Sostenibilidad:</a:t>
            </a:r>
            <a:r>
              <a:rPr lang="es-MX" dirty="0"/>
              <a:t> Las empresas que adoptan la transformación digital acceden a más mercados y presentan mayores tasas de exportación, además de poder implementar soluciones más ecológicas</a:t>
            </a:r>
          </a:p>
        </p:txBody>
      </p:sp>
    </p:spTree>
    <p:extLst>
      <p:ext uri="{BB962C8B-B14F-4D97-AF65-F5344CB8AC3E}">
        <p14:creationId xmlns:p14="http://schemas.microsoft.com/office/powerpoint/2010/main" val="772778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EA34A-F63F-A503-369C-CD834508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/>
              <a:t>Cómo impactan las innovaciones tecnológicas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4CBA73-13EF-C950-AE19-8A45D73D5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779775"/>
            <a:ext cx="9879609" cy="275424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MX" sz="3500" dirty="0"/>
              <a:t>La inversión en innovación tecnológica fortalece la defensa contra amenazas externas, ayuda a abordar riesgos internos, permite mejoras en la eficiencia operativa y la productividad, lo que se traduce en un retorno de inversión significativo a largo plazo</a:t>
            </a:r>
            <a:endParaRPr lang="es-AR" sz="3500" dirty="0"/>
          </a:p>
        </p:txBody>
      </p:sp>
    </p:spTree>
    <p:extLst>
      <p:ext uri="{BB962C8B-B14F-4D97-AF65-F5344CB8AC3E}">
        <p14:creationId xmlns:p14="http://schemas.microsoft.com/office/powerpoint/2010/main" val="3699914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7F7F5-8C6E-4BEA-50D4-B0B01415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E59E7-84D3-27CA-86B0-ADDDDD8D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/>
              <a:t>Cómo impactan las innovaciones tecnológicas en la sociedad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49A3025-A6B6-D3A5-0241-F479A578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3500" dirty="0"/>
              <a:t>La técnica, tecnología e innovación impactan profundamente la sociedad actual al aumentar la productividad, facilitar la conectividad global, transformar el trabajo remoto y mejorar diagnósticos médicos. Impulsan el aprendizaje en línea, el comercio electrónico y el acceso a la información</a:t>
            </a:r>
            <a:endParaRPr lang="es-AR" sz="3500" dirty="0"/>
          </a:p>
        </p:txBody>
      </p:sp>
    </p:spTree>
    <p:extLst>
      <p:ext uri="{BB962C8B-B14F-4D97-AF65-F5344CB8AC3E}">
        <p14:creationId xmlns:p14="http://schemas.microsoft.com/office/powerpoint/2010/main" val="1668095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44AD6-202C-2836-7233-55C5A1A8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s-AR" dirty="0"/>
              <a:t>Principales impactos en la sociedad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51D5CE-6331-2FD4-E0D0-CF7A4E7B4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11680"/>
            <a:ext cx="6923635" cy="4562144"/>
          </a:xfrm>
        </p:spPr>
        <p:txBody>
          <a:bodyPr>
            <a:normAutofit/>
          </a:bodyPr>
          <a:lstStyle/>
          <a:p>
            <a:r>
              <a:rPr lang="es-MX" sz="1800" dirty="0"/>
              <a:t>Conectividad y Comunicación: La tecnología permite la interacción inmediata y el acortamiento de distancias, cambiando cómo las personas se relacionan y acceden al entretenimiento.</a:t>
            </a:r>
          </a:p>
          <a:p>
            <a:r>
              <a:rPr lang="es-MX" sz="1800" dirty="0"/>
              <a:t>Eficiencia y Trabajo: La automatización, robótica e inteligencia artificial aumentan la productividad industrial y habilitan modalidades como el trabajo remoto.</a:t>
            </a:r>
          </a:p>
          <a:p>
            <a:r>
              <a:rPr lang="es-MX" sz="1800" dirty="0"/>
              <a:t>Educación y Salud: La innovación ha revolucionado la educación con plataformas personalizadas y la salud a través de la telemedicina y mejores herramientas de diagnóstico.</a:t>
            </a:r>
          </a:p>
          <a:p>
            <a:r>
              <a:rPr lang="es-MX" sz="1800" dirty="0"/>
              <a:t>Desafíos Sociales: El uso excesivo conlleva riesgos de aislamiento, tecnoestrés, ansiedad y adicción. Además, persisten desigualdades en el acceso a la tecnología, afectando a grupos vulnerables.</a:t>
            </a:r>
          </a:p>
          <a:p>
            <a:r>
              <a:rPr lang="es-MX" sz="1800" dirty="0"/>
              <a:t>Sostenibilidad: Aunque la innovación crea soluciones eco amigables, el mal uso de la tecnología contribuye a la contaminación y al cambio climático</a:t>
            </a:r>
            <a:endParaRPr lang="es-AR" sz="1800" dirty="0"/>
          </a:p>
        </p:txBody>
      </p:sp>
      <p:pic>
        <p:nvPicPr>
          <p:cNvPr id="5" name="Picture 4" descr="Robot operando una máquina">
            <a:extLst>
              <a:ext uri="{FF2B5EF4-FFF2-40B4-BE49-F238E27FC236}">
                <a16:creationId xmlns:a16="http://schemas.microsoft.com/office/drawing/2014/main" id="{F22CDE1C-BA0D-267C-48C4-0D8A5F97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72" r="15951" b="1"/>
          <a:stretch>
            <a:fillRect/>
          </a:stretch>
        </p:blipFill>
        <p:spPr>
          <a:xfrm>
            <a:off x="7847215" y="1822028"/>
            <a:ext cx="4342220" cy="503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18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CC74A-7078-0E69-148A-16182303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3EC245-C9B2-41DB-AC99-41DB7FC14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06CB6-41D0-433B-A9A4-C3C0695FD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0358" y="0"/>
            <a:ext cx="46516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B085380-27CE-4E71-AA77-81E6A039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0358" y="2224216"/>
            <a:ext cx="4651642" cy="1738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DE5DD6-509A-1CD2-0444-DBC22E89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3070" y="2338928"/>
            <a:ext cx="4134677" cy="1508760"/>
          </a:xfrm>
        </p:spPr>
        <p:txBody>
          <a:bodyPr>
            <a:normAutofit/>
          </a:bodyPr>
          <a:lstStyle/>
          <a:p>
            <a:r>
              <a:rPr lang="es-AR" sz="3400">
                <a:solidFill>
                  <a:schemeClr val="tx2"/>
                </a:solidFill>
              </a:rPr>
              <a:t>Principales impactos en los negocios</a:t>
            </a:r>
          </a:p>
        </p:txBody>
      </p:sp>
      <p:graphicFrame>
        <p:nvGraphicFramePr>
          <p:cNvPr id="7" name="Marcador de contenido 4">
            <a:extLst>
              <a:ext uri="{FF2B5EF4-FFF2-40B4-BE49-F238E27FC236}">
                <a16:creationId xmlns:a16="http://schemas.microsoft.com/office/drawing/2014/main" id="{BBCCC69A-B4FE-865B-DBE4-179B22C6D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601204"/>
              </p:ext>
            </p:extLst>
          </p:nvPr>
        </p:nvGraphicFramePr>
        <p:xfrm>
          <a:off x="1" y="161925"/>
          <a:ext cx="7540358" cy="659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406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17E9D-C125-F5B3-648D-B860ACAE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Impacto en las empresas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14BB46-946F-5D26-7C3D-CB5641FB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Operaciones: De la Automatización a la “IA </a:t>
            </a:r>
            <a:r>
              <a:rPr lang="es-MX" dirty="0" err="1"/>
              <a:t>Agéntica</a:t>
            </a:r>
            <a:r>
              <a:rPr lang="es-MX" dirty="0"/>
              <a:t>”</a:t>
            </a:r>
          </a:p>
          <a:p>
            <a:r>
              <a:rPr lang="es-MX" dirty="0"/>
              <a:t>Toma de Decisiones: Predicción en Tiempo Real</a:t>
            </a:r>
          </a:p>
          <a:p>
            <a:r>
              <a:rPr lang="es-AR" dirty="0"/>
              <a:t>Experiencia del Cliente (</a:t>
            </a:r>
            <a:r>
              <a:rPr lang="es-AR" dirty="0" err="1"/>
              <a:t>Hyper</a:t>
            </a:r>
            <a:r>
              <a:rPr lang="es-AR" dirty="0"/>
              <a:t>-Personalización)</a:t>
            </a:r>
          </a:p>
          <a:p>
            <a:r>
              <a:rPr lang="es-AR" dirty="0"/>
              <a:t>Sostenibilidad y Resiliencia</a:t>
            </a:r>
          </a:p>
        </p:txBody>
      </p:sp>
    </p:spTree>
    <p:extLst>
      <p:ext uri="{BB962C8B-B14F-4D97-AF65-F5344CB8AC3E}">
        <p14:creationId xmlns:p14="http://schemas.microsoft.com/office/powerpoint/2010/main" val="3579764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011D0-4DAC-3B41-F0F8-1A3B7405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175" y="342900"/>
            <a:ext cx="9205824" cy="1450036"/>
          </a:xfrm>
        </p:spPr>
        <p:txBody>
          <a:bodyPr>
            <a:normAutofit/>
          </a:bodyPr>
          <a:lstStyle/>
          <a:p>
            <a:r>
              <a:rPr lang="es-MX" dirty="0"/>
              <a:t>Operaciones: De la Automatización a la “IA </a:t>
            </a:r>
            <a:r>
              <a:rPr lang="es-MX" dirty="0" err="1"/>
              <a:t>Agéntica</a:t>
            </a:r>
            <a:r>
              <a:rPr lang="es-MX" dirty="0"/>
              <a:t>”</a:t>
            </a:r>
            <a:endParaRPr lang="es-A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D30719-A3F5-96D4-59D9-F83A39CD27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2920" y="2011680"/>
            <a:ext cx="6263640" cy="42062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Eficiencia radical: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Reducción de hasta un </a:t>
            </a:r>
            <a:r>
              <a:rPr kumimoji="0" lang="es-AR" altLang="es-A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30-50%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 los tiempos de ciclos operativos gracias a sistemas que no solo sugieren, sino que ejecutan flujos de trabajo completos (finanzas, logística, atención).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ERP Activo:</a:t>
            </a:r>
            <a:r>
              <a:rPr kumimoji="0" lang="es-AR" altLang="es-AR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Los sistemas de gestión ya no son bases de datos pasivas; ahora detectan problemas (como una falta de stock) y proponen soluciones antes de que el humano lo note.</a:t>
            </a:r>
          </a:p>
        </p:txBody>
      </p:sp>
      <p:pic>
        <p:nvPicPr>
          <p:cNvPr id="6" name="Picture 5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67049A03-8E0E-DC87-9073-7352531ECA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36" r="21914" b="-1"/>
          <a:stretch>
            <a:fillRect/>
          </a:stretch>
        </p:blipFill>
        <p:spPr>
          <a:xfrm>
            <a:off x="7847215" y="1822028"/>
            <a:ext cx="4342220" cy="503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23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3EC245-C9B2-41DB-AC99-41DB7FC14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006CB6-41D0-433B-A9A4-C3C0695FD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0358" y="0"/>
            <a:ext cx="46516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B085380-27CE-4E71-AA77-81E6A039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0358" y="2224216"/>
            <a:ext cx="4651642" cy="1738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653555-8472-3159-83E3-637B8DD1D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3070" y="2338928"/>
            <a:ext cx="4134677" cy="1508760"/>
          </a:xfrm>
        </p:spPr>
        <p:txBody>
          <a:bodyPr>
            <a:normAutofit/>
          </a:bodyPr>
          <a:lstStyle/>
          <a:p>
            <a:r>
              <a:rPr lang="es-AR" sz="3100">
                <a:solidFill>
                  <a:schemeClr val="tx2"/>
                </a:solidFill>
              </a:rPr>
              <a:t>Toma de decisiones: predicción en tiempo real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218BFDC-FE6C-A92F-F6F9-ACEF60D47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495909"/>
              </p:ext>
            </p:extLst>
          </p:nvPr>
        </p:nvGraphicFramePr>
        <p:xfrm>
          <a:off x="936624" y="923339"/>
          <a:ext cx="5606327" cy="5011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642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1D19C-0C64-1453-B93A-0B6CB1F2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775" y="219075"/>
            <a:ext cx="8977224" cy="1573861"/>
          </a:xfrm>
        </p:spPr>
        <p:txBody>
          <a:bodyPr>
            <a:normAutofit/>
          </a:bodyPr>
          <a:lstStyle/>
          <a:p>
            <a:r>
              <a:rPr lang="es-AR" dirty="0"/>
              <a:t>Experiencia del cliente </a:t>
            </a:r>
            <a:r>
              <a:rPr lang="es-AR" dirty="0" err="1"/>
              <a:t>Hyper</a:t>
            </a:r>
            <a:r>
              <a:rPr lang="es-AR" dirty="0"/>
              <a:t>-Personalización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43AF864-F203-3A4B-B580-0AF5AC36AF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81650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2622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09E20-A3C5-1A8A-E023-20B870A6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s-AR" dirty="0"/>
              <a:t>Sostenibilidad y Resiliencia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6381DB9-0657-2935-B90B-562DBB85CB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79592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2757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F5B1D-8379-05C2-0B52-7AA82F478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849" y="447674"/>
            <a:ext cx="8758149" cy="1345261"/>
          </a:xfrm>
        </p:spPr>
        <p:txBody>
          <a:bodyPr>
            <a:normAutofit/>
          </a:bodyPr>
          <a:lstStyle/>
          <a:p>
            <a:r>
              <a:rPr lang="es-AR" dirty="0"/>
              <a:t>Desafíos de la tecnología e innovación</a:t>
            </a:r>
          </a:p>
        </p:txBody>
      </p:sp>
      <p:pic>
        <p:nvPicPr>
          <p:cNvPr id="5" name="Picture 4" descr="Fondo de tecnología de bloques y redes azules">
            <a:extLst>
              <a:ext uri="{FF2B5EF4-FFF2-40B4-BE49-F238E27FC236}">
                <a16:creationId xmlns:a16="http://schemas.microsoft.com/office/drawing/2014/main" id="{3EE44037-114D-1330-67F6-BBCF76FB34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41204" b="-447"/>
          <a:stretch>
            <a:fillRect/>
          </a:stretch>
        </p:blipFill>
        <p:spPr>
          <a:xfrm>
            <a:off x="483" y="1822028"/>
            <a:ext cx="4342417" cy="5035972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D5CB18-CF96-6E1F-8921-0273251E0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0" y="1943100"/>
            <a:ext cx="7134225" cy="4179570"/>
          </a:xfrm>
        </p:spPr>
        <p:txBody>
          <a:bodyPr>
            <a:noAutofit/>
          </a:bodyPr>
          <a:lstStyle/>
          <a:p>
            <a:r>
              <a:rPr lang="es-MX" sz="1800" b="1" dirty="0"/>
              <a:t>Ciberseguridad y </a:t>
            </a:r>
            <a:r>
              <a:rPr lang="es-MX" sz="1800" b="1" dirty="0" err="1"/>
              <a:t>Ciberresiliencia</a:t>
            </a:r>
            <a:r>
              <a:rPr lang="es-MX" sz="1800" b="1" dirty="0"/>
              <a:t>:</a:t>
            </a:r>
            <a:r>
              <a:rPr lang="es-MX" sz="1800" dirty="0"/>
              <a:t> El aumento de ataques obliga a las organizaciones a pasar de la prevención a la </a:t>
            </a:r>
            <a:r>
              <a:rPr lang="es-MX" sz="1800" dirty="0" err="1"/>
              <a:t>ciberresiliencia</a:t>
            </a:r>
            <a:r>
              <a:rPr lang="es-MX" sz="1800" dirty="0"/>
              <a:t> (capacidad de recuperación).</a:t>
            </a:r>
          </a:p>
          <a:p>
            <a:r>
              <a:rPr lang="es-MX" sz="1800" b="1" dirty="0"/>
              <a:t>Inteligencia Artificial (IA) y Ética:</a:t>
            </a:r>
            <a:r>
              <a:rPr lang="es-MX" sz="1800" dirty="0"/>
              <a:t> La IA generativa trae desafíos de desinformación, sesgos éticos y la necesidad de regular su impacto laboral.</a:t>
            </a:r>
          </a:p>
          <a:p>
            <a:r>
              <a:rPr lang="es-MX" sz="1800" b="1" dirty="0"/>
              <a:t>Resistencia al Cambio y Cultura:</a:t>
            </a:r>
            <a:r>
              <a:rPr lang="es-MX" sz="1800" dirty="0"/>
              <a:t> La falta de capacitación y la reticencia de los empleados a modificar rutinas frenan la innovación.</a:t>
            </a:r>
          </a:p>
          <a:p>
            <a:r>
              <a:rPr lang="es-MX" sz="1800" b="1" dirty="0"/>
              <a:t>Sostenibilidad y Medio Ambiente:</a:t>
            </a:r>
            <a:r>
              <a:rPr lang="es-MX" sz="1800" dirty="0"/>
              <a:t> La tecnología debe alinearse con la reducción de carbono y la eficiencia energética.</a:t>
            </a:r>
          </a:p>
          <a:p>
            <a:r>
              <a:rPr lang="es-MX" sz="1800" b="1" dirty="0"/>
              <a:t>Brecha Digital y Acceso:</a:t>
            </a:r>
            <a:r>
              <a:rPr lang="es-MX" sz="1800" dirty="0"/>
              <a:t> Asegurar que la transformación tecnológica sea equitativa y no aumente la desigualdad social o de género.</a:t>
            </a:r>
          </a:p>
          <a:p>
            <a:r>
              <a:rPr lang="es-MX" sz="1800" b="1" dirty="0"/>
              <a:t>Integración de Sistemas y Costos:</a:t>
            </a:r>
            <a:r>
              <a:rPr lang="es-MX" sz="1800" dirty="0"/>
              <a:t> Dificultad para implementar nuevas tecnologías sobre sistemas antiguos y altos costos de mantenimiento</a:t>
            </a:r>
          </a:p>
          <a:p>
            <a:pPr marL="0" indent="0">
              <a:buNone/>
            </a:pPr>
            <a:endParaRPr lang="es-AR" sz="1500" dirty="0"/>
          </a:p>
        </p:txBody>
      </p:sp>
    </p:spTree>
    <p:extLst>
      <p:ext uri="{BB962C8B-B14F-4D97-AF65-F5344CB8AC3E}">
        <p14:creationId xmlns:p14="http://schemas.microsoft.com/office/powerpoint/2010/main" val="3725255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C5A2D-A768-AA35-4492-1E9EE6D7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s-AR" dirty="0"/>
              <a:t>Tecnologías disruptivas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661E7C-4F7B-0FC1-F09A-7E80F8C0D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20" y="2011680"/>
            <a:ext cx="6263640" cy="4206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Las tecnologías disruptivas son innovaciones radicales que transforman o reemplazan industrias, modelos de negocio y la vida cotidiana, desplazando soluciones tradicionales por enfoques superiores. Ejemplos clave incluyen la inteligencia artificial, la nube, el internet de las cosas (</a:t>
            </a:r>
            <a:r>
              <a:rPr lang="es-MX" dirty="0" err="1"/>
              <a:t>IoT</a:t>
            </a:r>
            <a:r>
              <a:rPr lang="es-MX" dirty="0"/>
              <a:t>), </a:t>
            </a:r>
            <a:r>
              <a:rPr lang="es-MX" dirty="0" err="1"/>
              <a:t>blockchain</a:t>
            </a:r>
            <a:r>
              <a:rPr lang="es-MX" dirty="0"/>
              <a:t>, impresión 3D, robótica avanzada, realidad aumentada y el Big Data. Estas tecnologías alteran drásticamente el mercado, creando nuevas oportunidades mientras hacen obsoletos los métodos antiguos</a:t>
            </a:r>
            <a:endParaRPr lang="es-AR" dirty="0"/>
          </a:p>
        </p:txBody>
      </p:sp>
      <p:pic>
        <p:nvPicPr>
          <p:cNvPr id="8194" name="Picture 2" descr="Tecnologías disruptivas: ejemplos en el sector legal">
            <a:extLst>
              <a:ext uri="{FF2B5EF4-FFF2-40B4-BE49-F238E27FC236}">
                <a16:creationId xmlns:a16="http://schemas.microsoft.com/office/drawing/2014/main" id="{F77FEDC5-D692-78D9-7F14-4C55A6D78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0" r="18744" b="-2"/>
          <a:stretch>
            <a:fillRect/>
          </a:stretch>
        </p:blipFill>
        <p:spPr bwMode="auto">
          <a:xfrm>
            <a:off x="7847215" y="1822028"/>
            <a:ext cx="4342220" cy="503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515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276B06-A778-1412-F82A-EF655B43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s-AR" sz="3200" dirty="0">
                <a:solidFill>
                  <a:schemeClr val="tx2"/>
                </a:solidFill>
              </a:rPr>
              <a:t>Principales tecnologías disruptivas y su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BB988F1-CF6D-7E9B-68A9-CD3332070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167" y="482600"/>
            <a:ext cx="7945797" cy="5892800"/>
          </a:xfrm>
        </p:spPr>
        <p:txBody>
          <a:bodyPr anchor="ctr">
            <a:normAutofit/>
          </a:bodyPr>
          <a:lstStyle/>
          <a:p>
            <a:r>
              <a:rPr lang="es-MX" sz="1800" dirty="0">
                <a:solidFill>
                  <a:schemeClr val="tx2"/>
                </a:solidFill>
              </a:rPr>
              <a:t>Inteligencia Artificial (IA) y Generativa: Automatiza tareas complejas, mejora la toma de decisiones y crea contenido nuevo.</a:t>
            </a:r>
          </a:p>
          <a:p>
            <a:r>
              <a:rPr lang="es-MX" sz="1800" dirty="0">
                <a:solidFill>
                  <a:schemeClr val="tx2"/>
                </a:solidFill>
              </a:rPr>
              <a:t>Internet de las Cosas (</a:t>
            </a:r>
            <a:r>
              <a:rPr lang="es-MX" sz="1800" dirty="0" err="1">
                <a:solidFill>
                  <a:schemeClr val="tx2"/>
                </a:solidFill>
              </a:rPr>
              <a:t>IoT</a:t>
            </a:r>
            <a:r>
              <a:rPr lang="es-MX" sz="1800" dirty="0">
                <a:solidFill>
                  <a:schemeClr val="tx2"/>
                </a:solidFill>
              </a:rPr>
              <a:t>): Conecta dispositivos para recopilar datos en tiempo real, optimizando procesos domésticos e industriales.</a:t>
            </a:r>
          </a:p>
          <a:p>
            <a:r>
              <a:rPr lang="es-MX" sz="1800" dirty="0">
                <a:solidFill>
                  <a:schemeClr val="tx2"/>
                </a:solidFill>
              </a:rPr>
              <a:t>Computación en la Nube (Cloud Computing): Permite el almacenamiento y acceso remoto a información, eliminando la necesidad de infraestructura física local.</a:t>
            </a:r>
          </a:p>
          <a:p>
            <a:r>
              <a:rPr lang="es-MX" sz="1800" dirty="0" err="1">
                <a:solidFill>
                  <a:schemeClr val="tx2"/>
                </a:solidFill>
              </a:rPr>
              <a:t>Blockchain</a:t>
            </a:r>
            <a:r>
              <a:rPr lang="es-MX" sz="1800" dirty="0">
                <a:solidFill>
                  <a:schemeClr val="tx2"/>
                </a:solidFill>
              </a:rPr>
              <a:t>: Ofrece seguridad y descentralización en transacciones y gestión de datos.</a:t>
            </a:r>
          </a:p>
          <a:p>
            <a:r>
              <a:rPr lang="es-MX" sz="1800" dirty="0">
                <a:solidFill>
                  <a:schemeClr val="tx2"/>
                </a:solidFill>
              </a:rPr>
              <a:t>Robótica Avanzada y Drones: Automatizan tareas peligrosas, logística y agricultura con precisión superior.</a:t>
            </a:r>
          </a:p>
          <a:p>
            <a:r>
              <a:rPr lang="es-MX" sz="1800" dirty="0">
                <a:solidFill>
                  <a:schemeClr val="tx2"/>
                </a:solidFill>
              </a:rPr>
              <a:t>Big Data: Permite analizar volúmenes masivos de datos para personalizar servicios y optimizar la estrategia empresarial.</a:t>
            </a:r>
          </a:p>
          <a:p>
            <a:r>
              <a:rPr lang="es-MX" sz="1800" dirty="0">
                <a:solidFill>
                  <a:schemeClr val="tx2"/>
                </a:solidFill>
              </a:rPr>
              <a:t>Realidad Virtual (RV) y Aumentada (RA): Transforman la educación, entretenimiento y el diseño interactuando con elementos tridimensionales.</a:t>
            </a:r>
          </a:p>
          <a:p>
            <a:r>
              <a:rPr lang="es-MX" sz="1800" dirty="0">
                <a:solidFill>
                  <a:schemeClr val="tx2"/>
                </a:solidFill>
              </a:rPr>
              <a:t>Impresión 3D y </a:t>
            </a:r>
            <a:r>
              <a:rPr lang="es-MX" sz="1800" dirty="0" err="1">
                <a:solidFill>
                  <a:schemeClr val="tx2"/>
                </a:solidFill>
              </a:rPr>
              <a:t>Bioimpresión</a:t>
            </a:r>
            <a:r>
              <a:rPr lang="es-MX" sz="1800" dirty="0">
                <a:solidFill>
                  <a:schemeClr val="tx2"/>
                </a:solidFill>
              </a:rPr>
              <a:t>: Revolucionan la fabricación de piezas y la medicina mediante la creación de tejidos u órganos</a:t>
            </a:r>
            <a:endParaRPr lang="es-AR" sz="1800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5586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3DB33-0A0F-EBE2-D892-CB786725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884" y="640080"/>
            <a:ext cx="7998231" cy="1030274"/>
          </a:xfrm>
        </p:spPr>
        <p:txBody>
          <a:bodyPr/>
          <a:lstStyle/>
          <a:p>
            <a:r>
              <a:rPr lang="es-AR" dirty="0"/>
              <a:t>Características y efectos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7D9AB3-C70A-DEF2-29D0-A20028C87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Cambio de paradigma:</a:t>
            </a:r>
            <a:r>
              <a:rPr lang="es-MX" dirty="0"/>
              <a:t> Rompen con lo establecido y cambian las reglas del juego.</a:t>
            </a:r>
          </a:p>
          <a:p>
            <a:r>
              <a:rPr lang="es-MX" b="1" dirty="0"/>
              <a:t>Empresas como Uber/Airbnb:</a:t>
            </a:r>
            <a:r>
              <a:rPr lang="es-MX" dirty="0"/>
              <a:t> Son ejemplos de cómo modelos disruptivos pueden cambiar industrias enteras.</a:t>
            </a:r>
          </a:p>
          <a:p>
            <a:r>
              <a:rPr lang="es-MX" b="1" dirty="0"/>
              <a:t>Adopción:</a:t>
            </a:r>
            <a:r>
              <a:rPr lang="es-MX" dirty="0"/>
              <a:t> Suelen comenzar sirviendo a nichos desatendidos antes de masificarse.</a:t>
            </a:r>
          </a:p>
          <a:p>
            <a:r>
              <a:rPr lang="es-MX" b="1" dirty="0"/>
              <a:t>Ventaja competitiva:</a:t>
            </a:r>
            <a:r>
              <a:rPr lang="es-MX" dirty="0"/>
              <a:t> Las empresas que las adoptan logran mayor productividad e innovación</a:t>
            </a:r>
          </a:p>
        </p:txBody>
      </p:sp>
    </p:spTree>
    <p:extLst>
      <p:ext uri="{BB962C8B-B14F-4D97-AF65-F5344CB8AC3E}">
        <p14:creationId xmlns:p14="http://schemas.microsoft.com/office/powerpoint/2010/main" val="3127449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5" name="Rectangle 9224">
            <a:extLst>
              <a:ext uri="{FF2B5EF4-FFF2-40B4-BE49-F238E27FC236}">
                <a16:creationId xmlns:a16="http://schemas.microsoft.com/office/drawing/2014/main" id="{769CA19B-3231-49F6-8B8A-77B604B43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7F459FB3-214E-436C-B3C6-3C6D0452A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229" name="Rectangle 9228">
            <a:extLst>
              <a:ext uri="{FF2B5EF4-FFF2-40B4-BE49-F238E27FC236}">
                <a16:creationId xmlns:a16="http://schemas.microsoft.com/office/drawing/2014/main" id="{47284AB4-CF5B-4810-8F2F-D23502C19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612" y="-1"/>
            <a:ext cx="4658388" cy="2062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6D6D244D-3516-4A40-BDFB-82ADE3746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719" y="4069580"/>
            <a:ext cx="3802703" cy="2559483"/>
          </a:xfrm>
          <a:prstGeom prst="rect">
            <a:avLst/>
          </a:prstGeom>
          <a:solidFill>
            <a:srgbClr val="FFFFFF"/>
          </a:solidFill>
          <a:ln w="38100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233" name="Rectangle 9232">
            <a:extLst>
              <a:ext uri="{FF2B5EF4-FFF2-40B4-BE49-F238E27FC236}">
                <a16:creationId xmlns:a16="http://schemas.microsoft.com/office/drawing/2014/main" id="{B72698AC-4253-47B8-A5E2-377EB2800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612" y="3891281"/>
            <a:ext cx="4658388" cy="2966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D4334F-7E98-EC76-9A45-58EB714F4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495" y="2194560"/>
            <a:ext cx="4001729" cy="17393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3000" spc="150"/>
              <a:t>Empresas que cambiaron un mercado Ejemplos</a:t>
            </a:r>
          </a:p>
        </p:txBody>
      </p:sp>
      <p:sp>
        <p:nvSpPr>
          <p:cNvPr id="9235" name="Rectangle 9234">
            <a:extLst>
              <a:ext uri="{FF2B5EF4-FFF2-40B4-BE49-F238E27FC236}">
                <a16:creationId xmlns:a16="http://schemas.microsoft.com/office/drawing/2014/main" id="{45340ECD-CFEA-49EC-9903-6F36BCD75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719" y="213358"/>
            <a:ext cx="3802703" cy="3682399"/>
          </a:xfrm>
          <a:prstGeom prst="rect">
            <a:avLst/>
          </a:prstGeom>
          <a:solidFill>
            <a:srgbClr val="FFFFFF"/>
          </a:solidFill>
          <a:ln w="38100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20" name="Picture 4" descr="Qué es la Línea U de Uber: cómo funciona y cuánto sale | El Destape">
            <a:extLst>
              <a:ext uri="{FF2B5EF4-FFF2-40B4-BE49-F238E27FC236}">
                <a16:creationId xmlns:a16="http://schemas.microsoft.com/office/drawing/2014/main" id="{085E816A-1D32-D5FE-E535-014511BCE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718" y="1120537"/>
            <a:ext cx="3346704" cy="188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7" name="Rectangle 9236">
            <a:extLst>
              <a:ext uri="{FF2B5EF4-FFF2-40B4-BE49-F238E27FC236}">
                <a16:creationId xmlns:a16="http://schemas.microsoft.com/office/drawing/2014/main" id="{1663A04F-B999-42E8-83F4-25EB1A0FA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2797" y="213358"/>
            <a:ext cx="3263441" cy="3677923"/>
          </a:xfrm>
          <a:prstGeom prst="rect">
            <a:avLst/>
          </a:prstGeom>
          <a:solidFill>
            <a:srgbClr val="FFFFFF"/>
          </a:solidFill>
          <a:ln w="38100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78E5FB-5613-409B-8D09-0F1802DEE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353350" y="1010294"/>
            <a:ext cx="2767117" cy="2103008"/>
          </a:xfrm>
          <a:prstGeom prst="rect">
            <a:avLst/>
          </a:prstGeom>
        </p:spPr>
      </p:pic>
      <p:sp>
        <p:nvSpPr>
          <p:cNvPr id="9239" name="Rectangle 9238">
            <a:extLst>
              <a:ext uri="{FF2B5EF4-FFF2-40B4-BE49-F238E27FC236}">
                <a16:creationId xmlns:a16="http://schemas.microsoft.com/office/drawing/2014/main" id="{2136B1A2-1F8F-4E00-88BE-30EC102D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2797" y="4069580"/>
            <a:ext cx="3263441" cy="2559483"/>
          </a:xfrm>
          <a:prstGeom prst="rect">
            <a:avLst/>
          </a:prstGeom>
          <a:solidFill>
            <a:srgbClr val="FFFFFF"/>
          </a:solidFill>
          <a:ln w="38100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Las series de Netflix más comentadas en redes sociales de Argentina - La  Brújula 24">
            <a:extLst>
              <a:ext uri="{FF2B5EF4-FFF2-40B4-BE49-F238E27FC236}">
                <a16:creationId xmlns:a16="http://schemas.microsoft.com/office/drawing/2014/main" id="{17785253-A65F-4D68-068A-ACC71A5EA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3350" y="4569972"/>
            <a:ext cx="2767117" cy="155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DF15805-AD84-E2BD-6209-B43A990EB5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00718" y="4715696"/>
            <a:ext cx="3346704" cy="125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56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2AC3D-3CE5-7033-2D5D-1F0D5B62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A2889A-9A92-6E36-D082-4A2E12E2E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La </a:t>
            </a:r>
            <a:r>
              <a:rPr lang="es-MX" b="1" dirty="0"/>
              <a:t>tecnología y la innovación</a:t>
            </a:r>
            <a:r>
              <a:rPr lang="es-MX" dirty="0"/>
              <a:t> se han convertido en elementos fundamentales para el desarrollo de las organizaciones y de la sociedad. La tecnología proporciona las herramientas y capacidades técnicas, mientras que la innovación permite aplicar esas herramientas de manera creativa para generar valor.</a:t>
            </a:r>
          </a:p>
          <a:p>
            <a:pPr marL="0" indent="0">
              <a:buNone/>
            </a:pPr>
            <a:r>
              <a:rPr lang="es-MX" dirty="0"/>
              <a:t>En el contexto actual, caracterizado por cambios acelerados, las organizaciones que logran </a:t>
            </a:r>
            <a:r>
              <a:rPr lang="es-MX" b="1" dirty="0"/>
              <a:t>adoptar nuevas tecnologías e impulsar procesos de innovación</a:t>
            </a:r>
            <a:r>
              <a:rPr lang="es-MX" dirty="0"/>
              <a:t> tienen mayores posibilidades de adaptarse, competir y crecer en el mercado.</a:t>
            </a:r>
          </a:p>
          <a:p>
            <a:pPr marL="0" indent="0">
              <a:buNone/>
            </a:pPr>
            <a:r>
              <a:rPr lang="es-MX" dirty="0"/>
              <a:t>Asimismo, las </a:t>
            </a:r>
            <a:r>
              <a:rPr lang="es-MX" b="1" dirty="0"/>
              <a:t>tecnologías disruptivas</a:t>
            </a:r>
            <a:r>
              <a:rPr lang="es-MX" dirty="0"/>
              <a:t> están transformando industrias completas, modificando la forma en que las empresas operan, se relacionan con sus clientes y desarrollan nuevos modelos de negocio.</a:t>
            </a:r>
          </a:p>
          <a:p>
            <a:pPr marL="0" indent="0">
              <a:buNone/>
            </a:pPr>
            <a:r>
              <a:rPr lang="es-MX" dirty="0"/>
              <a:t>Comprender la relación entre </a:t>
            </a:r>
            <a:r>
              <a:rPr lang="es-MX" b="1" dirty="0"/>
              <a:t>tecnología, innovación y negocios</a:t>
            </a:r>
            <a:r>
              <a:rPr lang="es-MX" dirty="0"/>
              <a:t> es clave para identificar oportunidades, enfrentar desafíos y participar activamente en la transformación digital de las organizaciones.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55656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E2731A3-6EDA-640D-E528-EE0DECE4CFE4}"/>
              </a:ext>
            </a:extLst>
          </p:cNvPr>
          <p:cNvSpPr/>
          <p:nvPr/>
        </p:nvSpPr>
        <p:spPr>
          <a:xfrm>
            <a:off x="2995632" y="2967335"/>
            <a:ext cx="62007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AR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Actividad de la clase</a:t>
            </a:r>
          </a:p>
        </p:txBody>
      </p:sp>
    </p:spTree>
    <p:extLst>
      <p:ext uri="{BB962C8B-B14F-4D97-AF65-F5344CB8AC3E}">
        <p14:creationId xmlns:p14="http://schemas.microsoft.com/office/powerpoint/2010/main" val="3750720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0F0AC6-A89F-416B-9FA4-48E66406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AA009-40AD-4098-8AE7-680CA35C6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50CAEE-CAC0-4F18-9593-F09A3338C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DA77D5-12C4-446D-AC72-A514960A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0213"/>
          <a:stretch/>
        </p:blipFill>
        <p:spPr>
          <a:xfrm>
            <a:off x="8199690" y="290557"/>
            <a:ext cx="3992310" cy="39055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E04E4F-6B32-4651-ACE0-DACABF1FC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20" r="54326" b="73832"/>
          <a:stretch/>
        </p:blipFill>
        <p:spPr>
          <a:xfrm>
            <a:off x="4581330" y="0"/>
            <a:ext cx="6762408" cy="28677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6E070CE-AE49-BE8A-D009-80E0722F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21" y="2867764"/>
            <a:ext cx="8047567" cy="227327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3400" dirty="0" err="1"/>
              <a:t>Qué</a:t>
            </a:r>
            <a:r>
              <a:rPr lang="en-US" sz="3400" dirty="0"/>
              <a:t> </a:t>
            </a:r>
            <a:r>
              <a:rPr lang="en-US" sz="3400" dirty="0" err="1"/>
              <a:t>innovación</a:t>
            </a:r>
            <a:r>
              <a:rPr lang="en-US" sz="3400" dirty="0"/>
              <a:t> </a:t>
            </a:r>
            <a:r>
              <a:rPr lang="en-US" sz="3400" dirty="0" err="1"/>
              <a:t>tecnológica</a:t>
            </a:r>
            <a:r>
              <a:rPr lang="en-US" sz="3400" dirty="0"/>
              <a:t> </a:t>
            </a:r>
            <a:r>
              <a:rPr lang="en-US" sz="3400" dirty="0" err="1"/>
              <a:t>cambió</a:t>
            </a:r>
            <a:r>
              <a:rPr lang="en-US" sz="3400" dirty="0"/>
              <a:t> sus </a:t>
            </a:r>
            <a:r>
              <a:rPr lang="en-US" sz="3400" dirty="0" err="1"/>
              <a:t>vidas</a:t>
            </a:r>
            <a:r>
              <a:rPr lang="en-US" sz="3400" dirty="0"/>
              <a:t> </a:t>
            </a:r>
            <a:r>
              <a:rPr lang="en-US" sz="3400" dirty="0" err="1"/>
              <a:t>durante</a:t>
            </a:r>
            <a:r>
              <a:rPr lang="en-US" sz="3400" dirty="0"/>
              <a:t> </a:t>
            </a:r>
            <a:r>
              <a:rPr lang="en-US" sz="3400" dirty="0" err="1"/>
              <a:t>estos</a:t>
            </a:r>
            <a:r>
              <a:rPr lang="en-US" sz="3400" dirty="0"/>
              <a:t> </a:t>
            </a:r>
            <a:r>
              <a:rPr lang="en-US" sz="3400" dirty="0" err="1"/>
              <a:t>últimos</a:t>
            </a:r>
            <a:r>
              <a:rPr lang="en-US" sz="3400" dirty="0"/>
              <a:t> 10 </a:t>
            </a:r>
            <a:r>
              <a:rPr lang="en-US" sz="3400" dirty="0" err="1"/>
              <a:t>años</a:t>
            </a:r>
            <a:r>
              <a:rPr lang="en-US" sz="3400" dirty="0"/>
              <a:t>?. Por </a:t>
            </a:r>
            <a:r>
              <a:rPr lang="en-US" sz="3400" dirty="0" err="1"/>
              <a:t>qué</a:t>
            </a:r>
            <a:r>
              <a:rPr lang="en-US" sz="3400" dirty="0"/>
              <a:t> ha </a:t>
            </a:r>
            <a:r>
              <a:rPr lang="en-US" sz="3400" dirty="0" err="1"/>
              <a:t>sido</a:t>
            </a:r>
            <a:r>
              <a:rPr lang="en-US" sz="3400" dirty="0"/>
              <a:t> </a:t>
            </a:r>
            <a:r>
              <a:rPr lang="en-US" sz="3400" dirty="0" err="1"/>
              <a:t>importante</a:t>
            </a:r>
            <a:r>
              <a:rPr lang="en-US" sz="3400" dirty="0"/>
              <a:t> para </a:t>
            </a:r>
            <a:r>
              <a:rPr lang="en-US" sz="3400" dirty="0" err="1"/>
              <a:t>usted</a:t>
            </a:r>
            <a:r>
              <a:rPr lang="en-US" sz="3400" dirty="0"/>
              <a:t> ese </a:t>
            </a:r>
            <a:r>
              <a:rPr lang="en-US" sz="3400" dirty="0" err="1"/>
              <a:t>cambio</a:t>
            </a:r>
            <a:r>
              <a:rPr lang="en-US" sz="3400" dirty="0"/>
              <a:t>? </a:t>
            </a:r>
            <a:r>
              <a:rPr lang="en-US" sz="3400" dirty="0" err="1"/>
              <a:t>Qué</a:t>
            </a:r>
            <a:r>
              <a:rPr lang="en-US" sz="3400" dirty="0"/>
              <a:t> </a:t>
            </a:r>
            <a:r>
              <a:rPr lang="en-US" sz="3400" dirty="0" err="1"/>
              <a:t>mejoras</a:t>
            </a:r>
            <a:r>
              <a:rPr lang="en-US" sz="3400" dirty="0"/>
              <a:t> ha </a:t>
            </a:r>
            <a:r>
              <a:rPr lang="en-US" sz="3400" dirty="0" err="1"/>
              <a:t>encontrado</a:t>
            </a:r>
            <a:r>
              <a:rPr lang="en-US" sz="3400" dirty="0"/>
              <a:t>? Si </a:t>
            </a:r>
            <a:r>
              <a:rPr lang="en-US" sz="3400" dirty="0" err="1"/>
              <a:t>pudiera</a:t>
            </a:r>
            <a:r>
              <a:rPr lang="en-US" sz="3400" dirty="0"/>
              <a:t> </a:t>
            </a:r>
            <a:r>
              <a:rPr lang="en-US" sz="3400" dirty="0" err="1"/>
              <a:t>mejorar</a:t>
            </a:r>
            <a:r>
              <a:rPr lang="en-US" sz="3400" dirty="0"/>
              <a:t> </a:t>
            </a:r>
            <a:r>
              <a:rPr lang="en-US" sz="3400" dirty="0" err="1"/>
              <a:t>que</a:t>
            </a:r>
            <a:r>
              <a:rPr lang="en-US" sz="3400" dirty="0"/>
              <a:t> </a:t>
            </a:r>
            <a:r>
              <a:rPr lang="en-US" sz="3400" dirty="0" err="1"/>
              <a:t>haría</a:t>
            </a:r>
            <a:r>
              <a:rPr lang="en-US" sz="3400" dirty="0"/>
              <a:t>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D4F2B0-7771-46FC-9763-240E8F55F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73" t="81531" r="19879"/>
          <a:stretch/>
        </p:blipFill>
        <p:spPr>
          <a:xfrm>
            <a:off x="10246407" y="5429242"/>
            <a:ext cx="1945594" cy="1428758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64F387-6750-4AFF-8A10-65C64D31E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66" t="75007" r="30510"/>
          <a:stretch/>
        </p:blipFill>
        <p:spPr>
          <a:xfrm>
            <a:off x="9795659" y="4064996"/>
            <a:ext cx="2716669" cy="1658803"/>
          </a:xfrm>
          <a:custGeom>
            <a:avLst/>
            <a:gdLst>
              <a:gd name="connsiteX0" fmla="*/ 2051608 w 4103216"/>
              <a:gd name="connsiteY0" fmla="*/ 0 h 1714050"/>
              <a:gd name="connsiteX1" fmla="*/ 4103216 w 4103216"/>
              <a:gd name="connsiteY1" fmla="*/ 1266738 h 1714050"/>
              <a:gd name="connsiteX2" fmla="*/ 4010980 w 4103216"/>
              <a:gd name="connsiteY2" fmla="*/ 1643427 h 1714050"/>
              <a:gd name="connsiteX3" fmla="*/ 3969116 w 4103216"/>
              <a:gd name="connsiteY3" fmla="*/ 1714050 h 1714050"/>
              <a:gd name="connsiteX4" fmla="*/ 134100 w 4103216"/>
              <a:gd name="connsiteY4" fmla="*/ 1714050 h 1714050"/>
              <a:gd name="connsiteX5" fmla="*/ 92237 w 4103216"/>
              <a:gd name="connsiteY5" fmla="*/ 1643427 h 1714050"/>
              <a:gd name="connsiteX6" fmla="*/ 0 w 4103216"/>
              <a:gd name="connsiteY6" fmla="*/ 1266738 h 1714050"/>
              <a:gd name="connsiteX7" fmla="*/ 2051608 w 4103216"/>
              <a:gd name="connsiteY7" fmla="*/ 0 h 17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3216" h="1714050">
                <a:moveTo>
                  <a:pt x="2051608" y="0"/>
                </a:moveTo>
                <a:cubicBezTo>
                  <a:pt x="3184680" y="0"/>
                  <a:pt x="4103216" y="567138"/>
                  <a:pt x="4103216" y="1266738"/>
                </a:cubicBezTo>
                <a:cubicBezTo>
                  <a:pt x="4103216" y="1397913"/>
                  <a:pt x="4070924" y="1524431"/>
                  <a:pt x="4010980" y="1643427"/>
                </a:cubicBezTo>
                <a:lnTo>
                  <a:pt x="3969116" y="1714050"/>
                </a:lnTo>
                <a:lnTo>
                  <a:pt x="134100" y="1714050"/>
                </a:lnTo>
                <a:lnTo>
                  <a:pt x="92237" y="1643427"/>
                </a:lnTo>
                <a:cubicBezTo>
                  <a:pt x="32293" y="1524431"/>
                  <a:pt x="0" y="1397913"/>
                  <a:pt x="0" y="1266738"/>
                </a:cubicBezTo>
                <a:cubicBezTo>
                  <a:pt x="0" y="567138"/>
                  <a:pt x="918536" y="0"/>
                  <a:pt x="205160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7627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05DB3-F47C-9EAC-DFCA-51EDB730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475" y="2342542"/>
            <a:ext cx="10364451" cy="1596177"/>
          </a:xfrm>
        </p:spPr>
        <p:txBody>
          <a:bodyPr/>
          <a:lstStyle/>
          <a:p>
            <a:r>
              <a:rPr lang="es-AR" dirty="0"/>
              <a:t>Elija una empresa que ha crecido durante los últimos años y detalle del por qué ha crecido exponencialmente</a:t>
            </a:r>
          </a:p>
        </p:txBody>
      </p:sp>
    </p:spTree>
    <p:extLst>
      <p:ext uri="{BB962C8B-B14F-4D97-AF65-F5344CB8AC3E}">
        <p14:creationId xmlns:p14="http://schemas.microsoft.com/office/powerpoint/2010/main" val="134912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16E6D-8F69-D0CD-56C2-75AACCEE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365125"/>
            <a:ext cx="9563100" cy="123507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s-MX" dirty="0"/>
              <a:t>¿Qué empresa tecnológica crees que desaparecerá en los próximos 10 años?</a:t>
            </a:r>
            <a:endParaRPr lang="es-AR" dirty="0"/>
          </a:p>
        </p:txBody>
      </p:sp>
      <p:pic>
        <p:nvPicPr>
          <p:cNvPr id="4" name="Vídeo 3" descr="Personas debatiendo ">
            <a:extLst>
              <a:ext uri="{FF2B5EF4-FFF2-40B4-BE49-F238E27FC236}">
                <a16:creationId xmlns:a16="http://schemas.microsoft.com/office/drawing/2014/main" id="{560D9529-1577-8FC2-6DCD-487D4CF2F08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17657" r="-1" b="8988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842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3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63FEA6-D593-AF0C-D0AF-787938AA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s-AR" sz="4400"/>
              <a:t>reflexión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6352E0C-0FCC-6225-9DC6-3C45AE9C876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66110392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443542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E559B7-FFF0-4CD8-9260-633468131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0BC9E0-1901-4FD9-90B5-82D9EE51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Elementos multimedia en línea 3" title="CES 2025: 15 Innovaciones Tecnológicas que Cambiarán el Futuro">
            <a:hlinkClick r:id="" action="ppaction://media"/>
            <a:extLst>
              <a:ext uri="{FF2B5EF4-FFF2-40B4-BE49-F238E27FC236}">
                <a16:creationId xmlns:a16="http://schemas.microsoft.com/office/drawing/2014/main" id="{E1FAF8E2-129A-7B60-DC69-A38FD24D142E}"/>
              </a:ext>
            </a:extLst>
          </p:cNvPr>
          <p:cNvPicPr>
            <a:picLocks noGrp="1" noRot="1" noChangeAspect="1"/>
          </p:cNvPicPr>
          <p:nvPr>
            <p:ph sz="quarter" idx="13"/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6095903" y="1974192"/>
            <a:ext cx="5135784" cy="2901717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E26C90-F8EC-EF12-B078-D3BC2B21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957486"/>
            <a:ext cx="4175471" cy="31319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Sitio de interés</a:t>
            </a:r>
          </a:p>
        </p:txBody>
      </p:sp>
    </p:spTree>
    <p:extLst>
      <p:ext uri="{BB962C8B-B14F-4D97-AF65-F5344CB8AC3E}">
        <p14:creationId xmlns:p14="http://schemas.microsoft.com/office/powerpoint/2010/main" val="111751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n bandas">
  <a:themeElements>
    <a:clrScheme name="Con bandas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Con banda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on bandas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3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DBA4C13E70F5418B418D8012459F21" ma:contentTypeVersion="3" ma:contentTypeDescription="Crear nuevo documento." ma:contentTypeScope="" ma:versionID="0a304ccaa1773ffe5d2b1e682fa7860d">
  <xsd:schema xmlns:xsd="http://www.w3.org/2001/XMLSchema" xmlns:xs="http://www.w3.org/2001/XMLSchema" xmlns:p="http://schemas.microsoft.com/office/2006/metadata/properties" xmlns:ns2="de7ef2da-48b3-49aa-9fec-64c55b664b94" targetNamespace="http://schemas.microsoft.com/office/2006/metadata/properties" ma:root="true" ma:fieldsID="cf8310444cf7183a730381c58d7a84d3" ns2:_="">
    <xsd:import namespace="de7ef2da-48b3-49aa-9fec-64c55b664b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ef2da-48b3-49aa-9fec-64c55b664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D4C5F1-4342-431D-AD7C-B3233046A4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17772B-78CE-478F-8B4F-581E8391CB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ef2da-48b3-49aa-9fec-64c55b664b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43C606-7EE4-4441-999C-CD1168D72D8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24576</TotalTime>
  <Words>2244</Words>
  <Application>Microsoft Office PowerPoint</Application>
  <PresentationFormat>Panorámica</PresentationFormat>
  <Paragraphs>117</Paragraphs>
  <Slides>35</Slides>
  <Notes>0</Notes>
  <HiddenSlides>0</HiddenSlides>
  <MMClips>3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35</vt:i4>
      </vt:variant>
    </vt:vector>
  </HeadingPairs>
  <TitlesOfParts>
    <vt:vector size="38" baseType="lpstr">
      <vt:lpstr>Tema de Office</vt:lpstr>
      <vt:lpstr>Con bandas</vt:lpstr>
      <vt:lpstr>Gota</vt:lpstr>
      <vt:lpstr>Tecnología e Innovación</vt:lpstr>
      <vt:lpstr>La tecnología mejoró la vida de las personas.  Por qué?</vt:lpstr>
      <vt:lpstr>Qué podemos entender por Tecnología e Innovación</vt:lpstr>
      <vt:lpstr>Tecnología (El “Cómo”)</vt:lpstr>
      <vt:lpstr>EJEMPLOS</vt:lpstr>
      <vt:lpstr>Innovación (El “Para qué”)</vt:lpstr>
      <vt:lpstr>Tipos de Innovación</vt:lpstr>
      <vt:lpstr>Importancia</vt:lpstr>
      <vt:lpstr>Importancia en diferentes ámbitos</vt:lpstr>
      <vt:lpstr>Relación Tecnología, Innovación y negocios</vt:lpstr>
      <vt:lpstr>Relación Tripartita</vt:lpstr>
      <vt:lpstr>Aspectos fundamentales</vt:lpstr>
      <vt:lpstr>Pero…que impacto tendrá</vt:lpstr>
      <vt:lpstr>Impactos</vt:lpstr>
      <vt:lpstr>Cómo impactan las innovaciones tecnológicas</vt:lpstr>
      <vt:lpstr>Cómo impactan las innovaciones tecnológicas en la sociedad</vt:lpstr>
      <vt:lpstr>Principales impactos en la sociedad</vt:lpstr>
      <vt:lpstr>Principales impactos en los negocios</vt:lpstr>
      <vt:lpstr>Impacto en las empresas</vt:lpstr>
      <vt:lpstr>Operaciones: De la Automatización a la “IA Agéntica”</vt:lpstr>
      <vt:lpstr>Toma de decisiones: predicción en tiempo real</vt:lpstr>
      <vt:lpstr>Experiencia del cliente Hyper-Personalización</vt:lpstr>
      <vt:lpstr>Sostenibilidad y Resiliencia</vt:lpstr>
      <vt:lpstr>Desafíos de la tecnología e innovación</vt:lpstr>
      <vt:lpstr>Tecnologías disruptivas</vt:lpstr>
      <vt:lpstr>Principales tecnologías disruptivas y su impacto</vt:lpstr>
      <vt:lpstr>Características y efectos</vt:lpstr>
      <vt:lpstr>Empresas que cambiaron un mercado Ejemplos</vt:lpstr>
      <vt:lpstr>Conclusión</vt:lpstr>
      <vt:lpstr>Presentación de PowerPoint</vt:lpstr>
      <vt:lpstr>Qué innovación tecnológica cambió sus vidas durante estos últimos 10 años?. Por qué ha sido importante para usted ese cambio? Qué mejoras ha encontrado? Si pudiera mejorar que haría?</vt:lpstr>
      <vt:lpstr>Elija una empresa que ha crecido durante los últimos años y detalle del por qué ha crecido exponencialmente</vt:lpstr>
      <vt:lpstr>¿Qué empresa tecnológica crees que desaparecerá en los próximos 10 años?</vt:lpstr>
      <vt:lpstr>reflexión</vt:lpstr>
      <vt:lpstr>Sitio de interés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Tecnología e Innovación</dc:title>
  <dc:creator>Escandell, Gustavo</dc:creator>
  <cp:lastModifiedBy>BARRIOS MARIO RUBEN</cp:lastModifiedBy>
  <cp:revision>16</cp:revision>
  <dcterms:created xsi:type="dcterms:W3CDTF">2026-03-13T10:22:31Z</dcterms:created>
  <dcterms:modified xsi:type="dcterms:W3CDTF">2026-08-25T12:35:38Z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0x0101008EDBA4C13E70F5418B418D8012459F21</vt:lpwstr>
  </property>
</Properties>
</file>