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4"/>
    <p:sldMasterId id="2147483687" r:id="rId5"/>
  </p:sldMasterIdLst>
  <p:notesMasterIdLst>
    <p:notesMasterId r:id="rId31"/>
  </p:notesMasterIdLst>
  <p:sldIdLst>
    <p:sldId id="256" r:id="rId6"/>
    <p:sldId id="257" r:id="rId7"/>
    <p:sldId id="258" r:id="rId8"/>
    <p:sldId id="259" r:id="rId9"/>
    <p:sldId id="260" r:id="rId10"/>
    <p:sldId id="271" r:id="rId11"/>
    <p:sldId id="261" r:id="rId12"/>
    <p:sldId id="262" r:id="rId13"/>
    <p:sldId id="263" r:id="rId14"/>
    <p:sldId id="272" r:id="rId15"/>
    <p:sldId id="264" r:id="rId16"/>
    <p:sldId id="265" r:id="rId17"/>
    <p:sldId id="266" r:id="rId18"/>
    <p:sldId id="267" r:id="rId19"/>
    <p:sldId id="268" r:id="rId20"/>
    <p:sldId id="269" r:id="rId21"/>
    <p:sldId id="273" r:id="rId22"/>
    <p:sldId id="274" r:id="rId23"/>
    <p:sldId id="275" r:id="rId24"/>
    <p:sldId id="276" r:id="rId25"/>
    <p:sldId id="280" r:id="rId26"/>
    <p:sldId id="279" r:id="rId27"/>
    <p:sldId id="270" r:id="rId28"/>
    <p:sldId id="277" r:id="rId29"/>
    <p:sldId id="278" r:id="rId30"/>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ableStyles" Target="tableStyles.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ADB08F-6C20-438A-AB78-9F85FD893333}" type="datetimeFigureOut">
              <a:rPr lang="es-AR" smtClean="0"/>
              <a:t>18/8/2026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4FA6B0-D7E9-4DB7-9BB9-9252F201E3FB}" type="slidenum">
              <a:rPr lang="es-AR" smtClean="0"/>
              <a:t>‹Nº›</a:t>
            </a:fld>
            <a:endParaRPr lang="es-AR"/>
          </a:p>
        </p:txBody>
      </p:sp>
    </p:spTree>
    <p:extLst>
      <p:ext uri="{BB962C8B-B14F-4D97-AF65-F5344CB8AC3E}">
        <p14:creationId xmlns:p14="http://schemas.microsoft.com/office/powerpoint/2010/main" val="2925818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youtube.com/watch?v=LCN_EyeWIFg"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s://innokabi.com/?p=16249"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Embudo </a:t>
            </a:r>
            <a:endParaRPr lang="es-AR" dirty="0"/>
          </a:p>
        </p:txBody>
      </p:sp>
      <p:sp>
        <p:nvSpPr>
          <p:cNvPr id="4" name="Marcador de número de diapositiva 3"/>
          <p:cNvSpPr>
            <a:spLocks noGrp="1"/>
          </p:cNvSpPr>
          <p:nvPr>
            <p:ph type="sldNum" sz="quarter" idx="5"/>
          </p:nvPr>
        </p:nvSpPr>
        <p:spPr/>
        <p:txBody>
          <a:bodyPr/>
          <a:lstStyle/>
          <a:p>
            <a:fld id="{7F4FA6B0-D7E9-4DB7-9BB9-9252F201E3FB}" type="slidenum">
              <a:rPr lang="es-AR" smtClean="0"/>
              <a:t>6</a:t>
            </a:fld>
            <a:endParaRPr lang="es-AR"/>
          </a:p>
        </p:txBody>
      </p:sp>
    </p:spTree>
    <p:extLst>
      <p:ext uri="{BB962C8B-B14F-4D97-AF65-F5344CB8AC3E}">
        <p14:creationId xmlns:p14="http://schemas.microsoft.com/office/powerpoint/2010/main" val="2388124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7F4FA6B0-D7E9-4DB7-9BB9-9252F201E3FB}" type="slidenum">
              <a:rPr lang="es-AR" smtClean="0"/>
              <a:t>13</a:t>
            </a:fld>
            <a:endParaRPr lang="es-AR"/>
          </a:p>
        </p:txBody>
      </p:sp>
    </p:spTree>
    <p:extLst>
      <p:ext uri="{BB962C8B-B14F-4D97-AF65-F5344CB8AC3E}">
        <p14:creationId xmlns:p14="http://schemas.microsoft.com/office/powerpoint/2010/main" val="1233768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r>
              <a:rPr kumimoji="0" lang="es-MX" sz="1200" b="1" i="0" u="none" strike="noStrike" kern="1200" cap="none" spc="0" normalizeH="0" baseline="0" noProof="0" dirty="0">
                <a:ln>
                  <a:noFill/>
                </a:ln>
                <a:solidFill>
                  <a:srgbClr val="0A0A0A"/>
                </a:solidFill>
                <a:effectLst/>
                <a:uLnTx/>
                <a:uFillTx/>
                <a:latin typeface="Google Sans"/>
                <a:ea typeface="+mn-ea"/>
                <a:cs typeface="+mn-cs"/>
              </a:rPr>
              <a:t>Lean Startup</a:t>
            </a:r>
            <a:r>
              <a:rPr kumimoji="0" lang="es-MX" sz="1200" b="0" i="0" u="none" strike="noStrike" kern="1200" cap="none" spc="0" normalizeH="0" baseline="0" noProof="0" dirty="0">
                <a:ln>
                  <a:noFill/>
                </a:ln>
                <a:solidFill>
                  <a:srgbClr val="0A0A0A"/>
                </a:solidFill>
                <a:effectLst/>
                <a:uLnTx/>
                <a:uFillTx/>
                <a:latin typeface="Google Sans"/>
                <a:ea typeface="+mn-ea"/>
                <a:cs typeface="+mn-cs"/>
              </a:rPr>
              <a:t> es una </a:t>
            </a:r>
            <a:r>
              <a:rPr kumimoji="0" lang="es-MX" sz="1200" b="0" i="0" u="none" strike="noStrike" kern="1200" cap="none" spc="0" normalizeH="0" baseline="0" noProof="0" dirty="0">
                <a:ln>
                  <a:noFill/>
                </a:ln>
                <a:solidFill>
                  <a:prstClr val="black"/>
                </a:solidFill>
                <a:effectLst/>
                <a:uLnTx/>
                <a:uFillTx/>
                <a:latin typeface="Calibri" panose="020F0502020204030204"/>
                <a:ea typeface="+mn-ea"/>
                <a:cs typeface="+mn-cs"/>
              </a:rPr>
              <a:t>metodología de gestión creada por </a:t>
            </a:r>
            <a:r>
              <a:rPr kumimoji="0" lang="es-MX" sz="1200" b="0" i="0" u="none" strike="noStrike" kern="1200" cap="none" spc="0" normalizeH="0" baseline="0" noProof="0" dirty="0">
                <a:ln>
                  <a:noFill/>
                </a:ln>
                <a:solidFill>
                  <a:srgbClr val="1A0DAB"/>
                </a:solidFill>
                <a:effectLst/>
                <a:uLnTx/>
                <a:uFillTx/>
                <a:latin typeface="Calibri" panose="020F0502020204030204"/>
                <a:ea typeface="+mn-ea"/>
                <a:cs typeface="+mn-cs"/>
                <a:hlinkClick r:id="rId3"/>
              </a:rPr>
              <a:t>Eric Ries</a:t>
            </a:r>
            <a:r>
              <a:rPr kumimoji="0" lang="es-MX" sz="1200" b="0" i="0" u="none" strike="noStrike" kern="1200" cap="none" spc="0" normalizeH="0" baseline="0" noProof="0" dirty="0">
                <a:ln>
                  <a:noFill/>
                </a:ln>
                <a:solidFill>
                  <a:prstClr val="black"/>
                </a:solidFill>
                <a:effectLst/>
                <a:uLnTx/>
                <a:uFillTx/>
                <a:latin typeface="Calibri" panose="020F0502020204030204"/>
                <a:ea typeface="+mn-ea"/>
                <a:cs typeface="+mn-cs"/>
              </a:rPr>
              <a:t> para desarrollar negocios y productos de forma más eficiente</a:t>
            </a:r>
            <a:r>
              <a:rPr kumimoji="0" lang="es-MX" sz="1200" b="0" i="0" u="none" strike="noStrike" kern="1200" cap="none" spc="0" normalizeH="0" baseline="0" noProof="0" dirty="0">
                <a:ln>
                  <a:noFill/>
                </a:ln>
                <a:solidFill>
                  <a:srgbClr val="0A0A0A"/>
                </a:solidFill>
                <a:effectLst/>
                <a:uLnTx/>
                <a:uFillTx/>
                <a:latin typeface="Google Sans"/>
                <a:ea typeface="+mn-ea"/>
                <a:cs typeface="+mn-cs"/>
              </a:rPr>
              <a:t>. Su objetivo es reducir el riesgo y evitar el desperdicio de tiempo y dinero mediante el lanzamiento rápido de prototipos, la experimentación con usuarios reales y el aprendizaje continuo. </a:t>
            </a: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r>
              <a:rPr lang="es-MX" b="0" i="0" dirty="0">
                <a:solidFill>
                  <a:srgbClr val="666666"/>
                </a:solidFill>
                <a:effectLst/>
                <a:latin typeface="Amiko"/>
              </a:rPr>
              <a:t>Emprendedor de </a:t>
            </a:r>
            <a:r>
              <a:rPr lang="es-MX" b="1" i="0" dirty="0">
                <a:solidFill>
                  <a:srgbClr val="666666"/>
                </a:solidFill>
                <a:effectLst/>
                <a:latin typeface="Amiko"/>
              </a:rPr>
              <a:t>Silicon Valley</a:t>
            </a:r>
            <a:r>
              <a:rPr lang="es-MX" b="0" i="0" dirty="0">
                <a:solidFill>
                  <a:srgbClr val="666666"/>
                </a:solidFill>
                <a:effectLst/>
                <a:latin typeface="Amiko"/>
              </a:rPr>
              <a:t> nacido en 1979. Es autor reconocido del movimiento </a:t>
            </a:r>
            <a:r>
              <a:rPr lang="es-MX" b="1" i="0" u="none" strike="noStrike" dirty="0">
                <a:solidFill>
                  <a:srgbClr val="993366"/>
                </a:solidFill>
                <a:effectLst/>
                <a:latin typeface="Amiko"/>
                <a:hlinkClick r:id="rId4"/>
              </a:rPr>
              <a:t>Lean </a:t>
            </a:r>
            <a:r>
              <a:rPr lang="es-MX" b="1" i="0" u="none" strike="noStrike" dirty="0" err="1">
                <a:solidFill>
                  <a:srgbClr val="993366"/>
                </a:solidFill>
                <a:effectLst/>
                <a:latin typeface="Amiko"/>
                <a:hlinkClick r:id="rId4"/>
              </a:rPr>
              <a:t>StartUp</a:t>
            </a:r>
            <a:r>
              <a:rPr lang="es-MX" b="0" i="0" dirty="0">
                <a:solidFill>
                  <a:srgbClr val="666666"/>
                </a:solidFill>
                <a:effectLst/>
                <a:latin typeface="Amiko"/>
              </a:rPr>
              <a:t>, una nueva estrategia empresarial que permite reducir el riesgo a la hora de lanzar proyectos innovadores al mercado. En 2001 se trasladó a Silicon Valley donde trabajó como ingeniero de software.</a:t>
            </a:r>
            <a:endParaRPr lang="es-AR" dirty="0"/>
          </a:p>
        </p:txBody>
      </p:sp>
      <p:sp>
        <p:nvSpPr>
          <p:cNvPr id="4" name="Marcador de número de diapositiva 3"/>
          <p:cNvSpPr>
            <a:spLocks noGrp="1"/>
          </p:cNvSpPr>
          <p:nvPr>
            <p:ph type="sldNum" sz="quarter" idx="5"/>
          </p:nvPr>
        </p:nvSpPr>
        <p:spPr/>
        <p:txBody>
          <a:bodyPr/>
          <a:lstStyle/>
          <a:p>
            <a:fld id="{7F4FA6B0-D7E9-4DB7-9BB9-9252F201E3FB}" type="slidenum">
              <a:rPr lang="es-AR" smtClean="0"/>
              <a:t>21</a:t>
            </a:fld>
            <a:endParaRPr lang="es-AR"/>
          </a:p>
        </p:txBody>
      </p:sp>
    </p:spTree>
    <p:extLst>
      <p:ext uri="{BB962C8B-B14F-4D97-AF65-F5344CB8AC3E}">
        <p14:creationId xmlns:p14="http://schemas.microsoft.com/office/powerpoint/2010/main" val="3936241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r>
              <a:rPr kumimoji="0" lang="es-MX" sz="1600" b="0" i="0" u="none" strike="noStrike" kern="1200" cap="none" spc="0" normalizeH="0" baseline="0" noProof="0" dirty="0">
                <a:ln>
                  <a:noFill/>
                </a:ln>
                <a:solidFill>
                  <a:prstClr val="white"/>
                </a:solidFill>
                <a:effectLst/>
                <a:uLnTx/>
                <a:uFillTx/>
                <a:latin typeface="BentonBook"/>
                <a:ea typeface="+mj-ea"/>
                <a:cs typeface="+mj-cs"/>
              </a:rPr>
              <a:t>En la aplicación del método 'Lean Startup' se distinguen varias etapas, desde la detección de la necesidad del cliente a la creación del producto e incluso el cambio de estrategia cuando sea necesario</a:t>
            </a:r>
          </a:p>
          <a:p>
            <a:endParaRPr lang="es-AR" dirty="0"/>
          </a:p>
        </p:txBody>
      </p:sp>
      <p:sp>
        <p:nvSpPr>
          <p:cNvPr id="4" name="Marcador de número de diapositiva 3"/>
          <p:cNvSpPr>
            <a:spLocks noGrp="1"/>
          </p:cNvSpPr>
          <p:nvPr>
            <p:ph type="sldNum" sz="quarter" idx="5"/>
          </p:nvPr>
        </p:nvSpPr>
        <p:spPr/>
        <p:txBody>
          <a:bodyPr/>
          <a:lstStyle/>
          <a:p>
            <a:fld id="{7F4FA6B0-D7E9-4DB7-9BB9-9252F201E3FB}" type="slidenum">
              <a:rPr lang="es-AR" smtClean="0"/>
              <a:t>22</a:t>
            </a:fld>
            <a:endParaRPr lang="es-AR"/>
          </a:p>
        </p:txBody>
      </p:sp>
    </p:spTree>
    <p:extLst>
      <p:ext uri="{BB962C8B-B14F-4D97-AF65-F5344CB8AC3E}">
        <p14:creationId xmlns:p14="http://schemas.microsoft.com/office/powerpoint/2010/main" val="2264560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0" i="0" dirty="0">
                <a:solidFill>
                  <a:srgbClr val="0A0A0A"/>
                </a:solidFill>
                <a:effectLst/>
                <a:latin typeface="Google Sans"/>
              </a:rPr>
              <a:t>La </a:t>
            </a:r>
            <a:r>
              <a:rPr lang="es-MX" b="1" i="0" dirty="0">
                <a:solidFill>
                  <a:srgbClr val="0A0A0A"/>
                </a:solidFill>
                <a:effectLst/>
                <a:latin typeface="Google Sans"/>
              </a:rPr>
              <a:t>innovación alineada</a:t>
            </a:r>
            <a:r>
              <a:rPr lang="es-MX" b="0" i="0" dirty="0">
                <a:solidFill>
                  <a:srgbClr val="0A0A0A"/>
                </a:solidFill>
                <a:effectLst/>
                <a:latin typeface="Google Sans"/>
              </a:rPr>
              <a:t> (o alineación estratégica de la innovación) no es un producto ni una herramienta creada por una sola persona. Es un concepto de gestión empresarial. Consiste en conectar las metas de innovación de una organización con sus objetivos de negocio generales.</a:t>
            </a:r>
            <a:br>
              <a:rPr lang="es-MX" dirty="0"/>
            </a:br>
            <a:endParaRPr lang="es-AR" dirty="0"/>
          </a:p>
        </p:txBody>
      </p:sp>
      <p:sp>
        <p:nvSpPr>
          <p:cNvPr id="4" name="Marcador de número de diapositiva 3"/>
          <p:cNvSpPr>
            <a:spLocks noGrp="1"/>
          </p:cNvSpPr>
          <p:nvPr>
            <p:ph type="sldNum" sz="quarter" idx="5"/>
          </p:nvPr>
        </p:nvSpPr>
        <p:spPr/>
        <p:txBody>
          <a:bodyPr/>
          <a:lstStyle/>
          <a:p>
            <a:fld id="{7F4FA6B0-D7E9-4DB7-9BB9-9252F201E3FB}" type="slidenum">
              <a:rPr lang="es-AR" smtClean="0"/>
              <a:t>25</a:t>
            </a:fld>
            <a:endParaRPr lang="es-AR"/>
          </a:p>
        </p:txBody>
      </p:sp>
    </p:spTree>
    <p:extLst>
      <p:ext uri="{BB962C8B-B14F-4D97-AF65-F5344CB8AC3E}">
        <p14:creationId xmlns:p14="http://schemas.microsoft.com/office/powerpoint/2010/main" val="3273838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8/18/2026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876479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8/18/2026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0669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8/18/2026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452963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8/18/2026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581058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8/18/2026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08874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8/18/2026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195923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8/18/2026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398460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8/18/2026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7724967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8/18/2026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673290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8/18/2026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38031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8/18/2026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5245058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67F45AC6-C491-4585-A584-9CE2AF7D5500}" type="datetime1">
              <a:rPr lang="en-US" smtClean="0"/>
              <a:t>8/18/2026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30269482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3"/>
          <p:cNvSpPr>
            <a:spLocks noGrp="1"/>
          </p:cNvSpPr>
          <p:nvPr>
            <p:ph type="dt" sz="half" idx="10"/>
          </p:nvPr>
        </p:nvSpPr>
        <p:spPr/>
        <p:txBody>
          <a:bodyPr/>
          <a:lstStyle/>
          <a:p>
            <a:fld id="{67F45AC6-C491-4585-A584-9CE2AF7D5500}" type="datetime1">
              <a:rPr lang="en-US" smtClean="0"/>
              <a:t>8/18/2026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428731325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7F45AC6-C491-4585-A584-9CE2AF7D5500}" type="datetime1">
              <a:rPr lang="en-US" smtClean="0"/>
              <a:t>8/18/2026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414226924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7F45AC6-C491-4585-A584-9CE2AF7D5500}" type="datetime1">
              <a:rPr lang="en-US" smtClean="0"/>
              <a:t>8/18/2026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70995854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67F45AC6-C491-4585-A584-9CE2AF7D5500}" type="datetime1">
              <a:rPr lang="en-US" smtClean="0"/>
              <a:t>8/18/2026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402193896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7" name="Date Placeholder 2"/>
          <p:cNvSpPr>
            <a:spLocks noGrp="1"/>
          </p:cNvSpPr>
          <p:nvPr>
            <p:ph type="dt" sz="half" idx="10"/>
          </p:nvPr>
        </p:nvSpPr>
        <p:spPr/>
        <p:txBody>
          <a:bodyPr/>
          <a:lstStyle/>
          <a:p>
            <a:fld id="{67F45AC6-C491-4585-A584-9CE2AF7D5500}" type="datetime1">
              <a:rPr lang="en-US" smtClean="0"/>
              <a:t>8/18/2026</a:t>
            </a:fld>
            <a:endParaRPr lang="en-US"/>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549744388"/>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7F45AC6-C491-4585-A584-9CE2AF7D5500}" type="datetime1">
              <a:rPr lang="en-US" smtClean="0"/>
              <a:t>8/18/2026</a:t>
            </a:fld>
            <a:endParaRPr lang="en-US"/>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671463001"/>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p:cNvSpPr>
            <a:spLocks noGrp="1"/>
          </p:cNvSpPr>
          <p:nvPr>
            <p:ph type="dt" sz="half" idx="10"/>
          </p:nvPr>
        </p:nvSpPr>
        <p:spPr/>
        <p:txBody>
          <a:bodyPr/>
          <a:lstStyle/>
          <a:p>
            <a:fld id="{67F45AC6-C491-4585-A584-9CE2AF7D5500}" type="datetime1">
              <a:rPr lang="en-US" smtClean="0"/>
              <a:t>8/18/2026</a:t>
            </a:fld>
            <a:endParaRPr lang="en-US"/>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4158121073"/>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7F45AC6-C491-4585-A584-9CE2AF7D5500}" type="datetime1">
              <a:rPr lang="en-US" smtClean="0"/>
              <a:t>8/18/2026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346338440"/>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7F45AC6-C491-4585-A584-9CE2AF7D5500}" type="datetime1">
              <a:rPr lang="en-US" smtClean="0"/>
              <a:t>8/18/2026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2882568"/>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7F45AC6-C491-4585-A584-9CE2AF7D5500}" type="datetime1">
              <a:rPr lang="en-US" smtClean="0"/>
              <a:t>8/18/2026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728791942"/>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a:t>Haga clic para modificar los estilos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7F45AC6-C491-4585-A584-9CE2AF7D5500}" type="datetime1">
              <a:rPr lang="en-US" smtClean="0"/>
              <a:t>8/18/2026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967847139"/>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7F45AC6-C491-4585-A584-9CE2AF7D5500}" type="datetime1">
              <a:rPr lang="en-US" smtClean="0"/>
              <a:t>8/18/2026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423921295"/>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7F45AC6-C491-4585-A584-9CE2AF7D5500}" type="datetime1">
              <a:rPr lang="en-US" smtClean="0"/>
              <a:t>8/18/2026</a:t>
            </a:fld>
            <a:endParaRPr lang="en-US"/>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246104740"/>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7F45AC6-C491-4585-A584-9CE2AF7D5500}" type="datetime1">
              <a:rPr lang="en-US" smtClean="0"/>
              <a:t>8/18/2026</a:t>
            </a:fld>
            <a:endParaRPr lang="en-US"/>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049491997"/>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7F45AC6-C491-4585-A584-9CE2AF7D5500}" type="datetime1">
              <a:rPr lang="en-US" smtClean="0"/>
              <a:t>8/18/2026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874132993"/>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7F45AC6-C491-4585-A584-9CE2AF7D5500}" type="datetime1">
              <a:rPr lang="en-US" smtClean="0"/>
              <a:t>8/18/2026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22996757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21" Type="http://schemas.openxmlformats.org/officeDocument/2006/relationships/image" Target="../media/image4.png"/><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2.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8/18/2026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‹Nº›</a:t>
            </a:fld>
            <a:endParaRPr lang="en-US"/>
          </a:p>
        </p:txBody>
      </p:sp>
    </p:spTree>
    <p:extLst>
      <p:ext uri="{BB962C8B-B14F-4D97-AF65-F5344CB8AC3E}">
        <p14:creationId xmlns:p14="http://schemas.microsoft.com/office/powerpoint/2010/main" val="3342585353"/>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7F45AC6-C491-4585-A584-9CE2AF7D5500}" type="datetime1">
              <a:rPr lang="en-US" smtClean="0"/>
              <a:t>8/18/2026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C057153-B650-4DEB-B370-79DDCFDCE934}" type="slidenum">
              <a:rPr lang="en-US" smtClean="0"/>
              <a:t>‹Nº›</a:t>
            </a:fld>
            <a:endParaRPr lang="en-US"/>
          </a:p>
        </p:txBody>
      </p:sp>
    </p:spTree>
    <p:extLst>
      <p:ext uri="{BB962C8B-B14F-4D97-AF65-F5344CB8AC3E}">
        <p14:creationId xmlns:p14="http://schemas.microsoft.com/office/powerpoint/2010/main" val="354486703"/>
      </p:ext>
    </p:extLst>
  </p:cSld>
  <p:clrMap bg1="dk1" tx1="lt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hyperlink" Target="https://economipedia.com/definiciones/metodo-lean-startup.html?nab=0"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5473D2-DD46-DFAF-84EC-264D6CE58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5C5C10C-425C-A311-AA62-B3561AAD263C}"/>
              </a:ext>
            </a:extLst>
          </p:cNvPr>
          <p:cNvSpPr>
            <a:spLocks noGrp="1"/>
          </p:cNvSpPr>
          <p:nvPr>
            <p:ph type="ctrTitle"/>
          </p:nvPr>
        </p:nvSpPr>
        <p:spPr>
          <a:xfrm>
            <a:off x="7885493" y="2760619"/>
            <a:ext cx="3788767" cy="749424"/>
          </a:xfrm>
        </p:spPr>
        <p:txBody>
          <a:bodyPr>
            <a:normAutofit/>
          </a:bodyPr>
          <a:lstStyle/>
          <a:p>
            <a:r>
              <a:rPr lang="es-AR" sz="4100" dirty="0"/>
              <a:t>Innovación </a:t>
            </a:r>
          </a:p>
        </p:txBody>
      </p:sp>
      <p:sp>
        <p:nvSpPr>
          <p:cNvPr id="3" name="Subtítulo 2">
            <a:extLst>
              <a:ext uri="{FF2B5EF4-FFF2-40B4-BE49-F238E27FC236}">
                <a16:creationId xmlns:a16="http://schemas.microsoft.com/office/drawing/2014/main" id="{79D6E94D-8660-6686-DD10-48CBD084DC09}"/>
              </a:ext>
            </a:extLst>
          </p:cNvPr>
          <p:cNvSpPr>
            <a:spLocks noGrp="1"/>
          </p:cNvSpPr>
          <p:nvPr>
            <p:ph type="subTitle" idx="1"/>
          </p:nvPr>
        </p:nvSpPr>
        <p:spPr>
          <a:xfrm>
            <a:off x="9281670" y="6057571"/>
            <a:ext cx="3614857" cy="1319951"/>
          </a:xfrm>
        </p:spPr>
        <p:txBody>
          <a:bodyPr>
            <a:normAutofit/>
          </a:bodyPr>
          <a:lstStyle/>
          <a:p>
            <a:pPr algn="l"/>
            <a:r>
              <a:rPr lang="es-AR" dirty="0"/>
              <a:t>Ing. Mario Barrios</a:t>
            </a:r>
          </a:p>
        </p:txBody>
      </p:sp>
      <p:pic>
        <p:nvPicPr>
          <p:cNvPr id="4" name="Picture 3">
            <a:extLst>
              <a:ext uri="{FF2B5EF4-FFF2-40B4-BE49-F238E27FC236}">
                <a16:creationId xmlns:a16="http://schemas.microsoft.com/office/drawing/2014/main" id="{D6A2EBF4-45F2-9246-DF35-F5C43548DCA0}"/>
              </a:ext>
            </a:extLst>
          </p:cNvPr>
          <p:cNvPicPr>
            <a:picLocks noChangeAspect="1"/>
          </p:cNvPicPr>
          <p:nvPr/>
        </p:nvPicPr>
        <p:blipFill>
          <a:blip r:embed="rId2"/>
          <a:srcRect l="17767" r="2732"/>
          <a:stretch>
            <a:fillRect/>
          </a:stretch>
        </p:blipFill>
        <p:spPr>
          <a:xfrm>
            <a:off x="2" y="10"/>
            <a:ext cx="7367752" cy="6857990"/>
          </a:xfrm>
          <a:prstGeom prst="rect">
            <a:avLst/>
          </a:prstGeom>
        </p:spPr>
      </p:pic>
    </p:spTree>
    <p:extLst>
      <p:ext uri="{BB962C8B-B14F-4D97-AF65-F5344CB8AC3E}">
        <p14:creationId xmlns:p14="http://schemas.microsoft.com/office/powerpoint/2010/main" val="3493226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76284-F2EB-ECA2-8A7B-09153CEE3472}"/>
              </a:ext>
            </a:extLst>
          </p:cNvPr>
          <p:cNvSpPr>
            <a:spLocks noGrp="1"/>
          </p:cNvSpPr>
          <p:nvPr>
            <p:ph type="title"/>
          </p:nvPr>
        </p:nvSpPr>
        <p:spPr>
          <a:xfrm>
            <a:off x="625147" y="569627"/>
            <a:ext cx="7382605" cy="2602198"/>
          </a:xfrm>
        </p:spPr>
        <p:txBody>
          <a:bodyPr vert="horz" lIns="91440" tIns="45720" rIns="91440" bIns="45720" rtlCol="0" anchor="b">
            <a:normAutofit/>
          </a:bodyPr>
          <a:lstStyle/>
          <a:p>
            <a:r>
              <a:rPr lang="en-US" sz="7200" dirty="0" err="1"/>
              <a:t>Vamos</a:t>
            </a:r>
            <a:r>
              <a:rPr lang="en-US" sz="7200" dirty="0"/>
              <a:t> a </a:t>
            </a:r>
            <a:r>
              <a:rPr lang="en-US" sz="7200" dirty="0" err="1"/>
              <a:t>reflexionar</a:t>
            </a:r>
            <a:endParaRPr lang="en-US" sz="7200" dirty="0"/>
          </a:p>
        </p:txBody>
      </p:sp>
      <p:sp>
        <p:nvSpPr>
          <p:cNvPr id="3" name="Marcador de contenido 2">
            <a:extLst>
              <a:ext uri="{FF2B5EF4-FFF2-40B4-BE49-F238E27FC236}">
                <a16:creationId xmlns:a16="http://schemas.microsoft.com/office/drawing/2014/main" id="{B99DDE8E-DD96-39F7-6DE3-4F1B9100948D}"/>
              </a:ext>
            </a:extLst>
          </p:cNvPr>
          <p:cNvSpPr>
            <a:spLocks noGrp="1"/>
          </p:cNvSpPr>
          <p:nvPr>
            <p:ph idx="1"/>
          </p:nvPr>
        </p:nvSpPr>
        <p:spPr>
          <a:xfrm>
            <a:off x="2978442" y="4024084"/>
            <a:ext cx="7353411" cy="1014107"/>
          </a:xfrm>
        </p:spPr>
        <p:txBody>
          <a:bodyPr vert="horz" lIns="91440" tIns="45720" rIns="91440" bIns="45720" rtlCol="0">
            <a:normAutofit/>
          </a:bodyPr>
          <a:lstStyle/>
          <a:p>
            <a:pPr marL="0" indent="0">
              <a:buNone/>
            </a:pPr>
            <a:r>
              <a:rPr lang="en-US" dirty="0"/>
              <a:t>“¿De </a:t>
            </a:r>
            <a:r>
              <a:rPr lang="en-US" dirty="0" err="1"/>
              <a:t>qué</a:t>
            </a:r>
            <a:r>
              <a:rPr lang="en-US" dirty="0"/>
              <a:t> </a:t>
            </a:r>
            <a:r>
              <a:rPr lang="en-US" dirty="0" err="1"/>
              <a:t>sirve</a:t>
            </a:r>
            <a:r>
              <a:rPr lang="en-US" dirty="0"/>
              <a:t> </a:t>
            </a:r>
            <a:r>
              <a:rPr lang="en-US" dirty="0" err="1"/>
              <a:t>innovar</a:t>
            </a:r>
            <a:r>
              <a:rPr lang="en-US" dirty="0"/>
              <a:t> </a:t>
            </a:r>
            <a:r>
              <a:rPr lang="en-US" dirty="0" err="1"/>
              <a:t>si</a:t>
            </a:r>
            <a:r>
              <a:rPr lang="en-US" dirty="0"/>
              <a:t> no genera valor para la </a:t>
            </a:r>
            <a:r>
              <a:rPr lang="en-US" dirty="0" err="1"/>
              <a:t>empresa</a:t>
            </a:r>
            <a:r>
              <a:rPr lang="en-US" dirty="0"/>
              <a:t>?”</a:t>
            </a:r>
          </a:p>
        </p:txBody>
      </p:sp>
    </p:spTree>
    <p:extLst>
      <p:ext uri="{BB962C8B-B14F-4D97-AF65-F5344CB8AC3E}">
        <p14:creationId xmlns:p14="http://schemas.microsoft.com/office/powerpoint/2010/main" val="2240479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3FE5E8-3D47-AB9C-9E47-C844F74B74D5}"/>
              </a:ext>
            </a:extLst>
          </p:cNvPr>
          <p:cNvSpPr>
            <a:spLocks noGrp="1"/>
          </p:cNvSpPr>
          <p:nvPr>
            <p:ph type="title"/>
          </p:nvPr>
        </p:nvSpPr>
        <p:spPr/>
        <p:txBody>
          <a:bodyPr/>
          <a:lstStyle/>
          <a:p>
            <a:r>
              <a:rPr lang="es-AR" dirty="0"/>
              <a:t>Qué es un proyecto de innovación</a:t>
            </a:r>
          </a:p>
        </p:txBody>
      </p:sp>
      <p:sp>
        <p:nvSpPr>
          <p:cNvPr id="3" name="Marcador de contenido 2">
            <a:extLst>
              <a:ext uri="{FF2B5EF4-FFF2-40B4-BE49-F238E27FC236}">
                <a16:creationId xmlns:a16="http://schemas.microsoft.com/office/drawing/2014/main" id="{C4836FE0-A9F8-D3A4-8828-E8BCAED15CAE}"/>
              </a:ext>
            </a:extLst>
          </p:cNvPr>
          <p:cNvSpPr>
            <a:spLocks noGrp="1"/>
          </p:cNvSpPr>
          <p:nvPr>
            <p:ph idx="1"/>
          </p:nvPr>
        </p:nvSpPr>
        <p:spPr/>
        <p:txBody>
          <a:bodyPr/>
          <a:lstStyle/>
          <a:p>
            <a:pPr marL="0" indent="0" algn="just">
              <a:buNone/>
            </a:pPr>
            <a:r>
              <a:rPr lang="es-AR" dirty="0"/>
              <a:t>Un proyecto de innovación es un esfuerzo planificado y estratégico para introducir cambios significativos, nuevos productos, servicios o procesos que resuelven problemas de manera creativa y mejorada. Su objetivo es generar valor, aumentar la eficiencia y transformar ideas en soluciones tangibles, ya sea a nivel tecnológico, educativo o empresarial</a:t>
            </a:r>
          </a:p>
        </p:txBody>
      </p:sp>
    </p:spTree>
    <p:extLst>
      <p:ext uri="{BB962C8B-B14F-4D97-AF65-F5344CB8AC3E}">
        <p14:creationId xmlns:p14="http://schemas.microsoft.com/office/powerpoint/2010/main" val="188303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A86B33-105A-096E-7D7E-00B44DB52D87}"/>
              </a:ext>
            </a:extLst>
          </p:cNvPr>
          <p:cNvSpPr>
            <a:spLocks noGrp="1"/>
          </p:cNvSpPr>
          <p:nvPr>
            <p:ph type="title"/>
          </p:nvPr>
        </p:nvSpPr>
        <p:spPr/>
        <p:txBody>
          <a:bodyPr/>
          <a:lstStyle/>
          <a:p>
            <a:r>
              <a:rPr lang="es-AR" dirty="0"/>
              <a:t>Características</a:t>
            </a:r>
          </a:p>
        </p:txBody>
      </p:sp>
      <p:sp>
        <p:nvSpPr>
          <p:cNvPr id="3" name="Marcador de contenido 2">
            <a:extLst>
              <a:ext uri="{FF2B5EF4-FFF2-40B4-BE49-F238E27FC236}">
                <a16:creationId xmlns:a16="http://schemas.microsoft.com/office/drawing/2014/main" id="{1EE91E58-BF41-E7E6-194D-E24FB9A4F451}"/>
              </a:ext>
            </a:extLst>
          </p:cNvPr>
          <p:cNvSpPr>
            <a:spLocks noGrp="1"/>
          </p:cNvSpPr>
          <p:nvPr>
            <p:ph idx="1"/>
          </p:nvPr>
        </p:nvSpPr>
        <p:spPr/>
        <p:txBody>
          <a:bodyPr/>
          <a:lstStyle/>
          <a:p>
            <a:r>
              <a:rPr lang="es-AR" b="1" dirty="0"/>
              <a:t>Innovación tecnológica:</a:t>
            </a:r>
            <a:r>
              <a:rPr lang="es-AR" dirty="0"/>
              <a:t> Busca generar, adaptar o dominar una tecnología nueva para una región o sector.</a:t>
            </a:r>
          </a:p>
          <a:p>
            <a:r>
              <a:rPr lang="es-AR" b="1" dirty="0"/>
              <a:t>Innovación de procesos:</a:t>
            </a:r>
            <a:r>
              <a:rPr lang="es-AR" dirty="0"/>
              <a:t> Implanta cambios significativos en la producción o gestión.</a:t>
            </a:r>
          </a:p>
          <a:p>
            <a:r>
              <a:rPr lang="es-AR" b="1" dirty="0"/>
              <a:t>Enfoque estratégico:</a:t>
            </a:r>
            <a:r>
              <a:rPr lang="es-AR" dirty="0"/>
              <a:t> Pasa por un proceso de investigación, diseño, planificación y evaluación.</a:t>
            </a:r>
          </a:p>
          <a:p>
            <a:r>
              <a:rPr lang="es-AR" b="1" dirty="0"/>
              <a:t>Impacto y valor:</a:t>
            </a:r>
            <a:r>
              <a:rPr lang="es-AR" dirty="0"/>
              <a:t> Genera cambios estructurales, alta utilidad y valor para los usuarios o consumidores.</a:t>
            </a:r>
          </a:p>
          <a:p>
            <a:r>
              <a:rPr lang="es-AR" b="1" dirty="0"/>
              <a:t>Multidisciplinario:</a:t>
            </a:r>
            <a:r>
              <a:rPr lang="es-AR" dirty="0"/>
              <a:t> Involucra la colaboración de distintos perfiles profesionales</a:t>
            </a:r>
          </a:p>
        </p:txBody>
      </p:sp>
    </p:spTree>
    <p:extLst>
      <p:ext uri="{BB962C8B-B14F-4D97-AF65-F5344CB8AC3E}">
        <p14:creationId xmlns:p14="http://schemas.microsoft.com/office/powerpoint/2010/main" val="2218403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4830CA-C1E3-0DD8-F406-02B921387703}"/>
              </a:ext>
            </a:extLst>
          </p:cNvPr>
          <p:cNvSpPr>
            <a:spLocks noGrp="1"/>
          </p:cNvSpPr>
          <p:nvPr>
            <p:ph type="title"/>
          </p:nvPr>
        </p:nvSpPr>
        <p:spPr/>
        <p:txBody>
          <a:bodyPr/>
          <a:lstStyle/>
          <a:p>
            <a:r>
              <a:rPr lang="es-AR" dirty="0"/>
              <a:t>Por qué es importante un proyecto de innovación</a:t>
            </a:r>
          </a:p>
        </p:txBody>
      </p:sp>
      <p:sp>
        <p:nvSpPr>
          <p:cNvPr id="3" name="Marcador de contenido 2">
            <a:extLst>
              <a:ext uri="{FF2B5EF4-FFF2-40B4-BE49-F238E27FC236}">
                <a16:creationId xmlns:a16="http://schemas.microsoft.com/office/drawing/2014/main" id="{1C90503A-D66B-9B69-68FE-471390C87841}"/>
              </a:ext>
            </a:extLst>
          </p:cNvPr>
          <p:cNvSpPr>
            <a:spLocks noGrp="1"/>
          </p:cNvSpPr>
          <p:nvPr>
            <p:ph idx="1"/>
          </p:nvPr>
        </p:nvSpPr>
        <p:spPr/>
        <p:txBody>
          <a:bodyPr/>
          <a:lstStyle/>
          <a:p>
            <a:pPr marL="0" indent="0" algn="just">
              <a:buNone/>
            </a:pPr>
            <a:r>
              <a:rPr lang="es-AR" dirty="0"/>
              <a:t>Un proyecto de innovación es fundamental porque transforma ideas en soluciones tangibles que mejoran procesos, crean productos novedosos y generan un cambio positivo en la sociedad. Permite a empresas mantenerse competitivas, aumenta la eficiencia (hacer más con menos) y resuelve problemas complejos, impulsando el desarrollo económico y social.</a:t>
            </a:r>
          </a:p>
        </p:txBody>
      </p:sp>
    </p:spTree>
    <p:extLst>
      <p:ext uri="{BB962C8B-B14F-4D97-AF65-F5344CB8AC3E}">
        <p14:creationId xmlns:p14="http://schemas.microsoft.com/office/powerpoint/2010/main" val="2647624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14EC48-F742-AF13-FD14-50A82203E5CF}"/>
              </a:ext>
            </a:extLst>
          </p:cNvPr>
          <p:cNvSpPr>
            <a:spLocks noGrp="1"/>
          </p:cNvSpPr>
          <p:nvPr>
            <p:ph type="title"/>
          </p:nvPr>
        </p:nvSpPr>
        <p:spPr/>
        <p:txBody>
          <a:bodyPr/>
          <a:lstStyle/>
          <a:p>
            <a:r>
              <a:rPr lang="es-AR" dirty="0"/>
              <a:t>¿cuáles son los elementos clave de un proyecto de innovación?</a:t>
            </a:r>
          </a:p>
        </p:txBody>
      </p:sp>
      <p:sp>
        <p:nvSpPr>
          <p:cNvPr id="3" name="Marcador de contenido 2">
            <a:extLst>
              <a:ext uri="{FF2B5EF4-FFF2-40B4-BE49-F238E27FC236}">
                <a16:creationId xmlns:a16="http://schemas.microsoft.com/office/drawing/2014/main" id="{904D66E0-876B-9272-1CF0-A392D48A327C}"/>
              </a:ext>
            </a:extLst>
          </p:cNvPr>
          <p:cNvSpPr>
            <a:spLocks noGrp="1"/>
          </p:cNvSpPr>
          <p:nvPr>
            <p:ph idx="1"/>
          </p:nvPr>
        </p:nvSpPr>
        <p:spPr>
          <a:xfrm>
            <a:off x="612648" y="1951506"/>
            <a:ext cx="10653579" cy="4593828"/>
          </a:xfrm>
        </p:spPr>
        <p:txBody>
          <a:bodyPr>
            <a:normAutofit fontScale="92500" lnSpcReduction="20000"/>
          </a:bodyPr>
          <a:lstStyle/>
          <a:p>
            <a:r>
              <a:rPr lang="es-AR" b="1" dirty="0"/>
              <a:t>Idea y Propósito (El "¿Qué?"):</a:t>
            </a:r>
            <a:r>
              <a:rPr lang="es-AR" dirty="0"/>
              <a:t> Definir objetivos claros, desafiantes y orientados a mejorar lo existente o crear algo nuevo, ya sea un producto, proceso o modelo de negocio.</a:t>
            </a:r>
          </a:p>
          <a:p>
            <a:r>
              <a:rPr lang="es-AR" b="1" dirty="0"/>
              <a:t>Planificación y Estrategia (El "¿Cómo?"):</a:t>
            </a:r>
            <a:r>
              <a:rPr lang="es-AR" dirty="0"/>
              <a:t> Estructurar el proyecto mediante investigación, diseño y un mapa de ruta (</a:t>
            </a:r>
            <a:r>
              <a:rPr lang="es-AR" dirty="0" err="1"/>
              <a:t>funnel</a:t>
            </a:r>
            <a:r>
              <a:rPr lang="es-AR" dirty="0"/>
              <a:t> de innovación) que permita llevar la idea a la realidad.</a:t>
            </a:r>
          </a:p>
          <a:p>
            <a:r>
              <a:rPr lang="es-AR" b="1" dirty="0"/>
              <a:t>Equipo y Liderazgo:</a:t>
            </a:r>
            <a:r>
              <a:rPr lang="es-AR" dirty="0"/>
              <a:t> Contar con personas creativas y motivadas, respaldadas por un liderazgo que fomente una cultura de innovación, pasión y asunción de riesgos.</a:t>
            </a:r>
          </a:p>
          <a:p>
            <a:r>
              <a:rPr lang="es-AR" b="1" dirty="0"/>
              <a:t>Experimentación y Validación:</a:t>
            </a:r>
            <a:r>
              <a:rPr lang="es-AR" dirty="0"/>
              <a:t> Implementar metodologías (como </a:t>
            </a:r>
            <a:r>
              <a:rPr lang="es-AR" i="1" dirty="0" err="1"/>
              <a:t>Design</a:t>
            </a:r>
            <a:r>
              <a:rPr lang="es-AR" i="1" dirty="0"/>
              <a:t> </a:t>
            </a:r>
            <a:r>
              <a:rPr lang="es-AR" i="1" dirty="0" err="1"/>
              <a:t>Thinking</a:t>
            </a:r>
            <a:r>
              <a:rPr lang="es-AR" dirty="0"/>
              <a:t> o prototipado rápido) para probar ideas, aprender del error y adaptar el proyecto al contexto real.</a:t>
            </a:r>
          </a:p>
          <a:p>
            <a:r>
              <a:rPr lang="es-AR" b="1" dirty="0"/>
              <a:t>Recursos y Gestión:</a:t>
            </a:r>
            <a:r>
              <a:rPr lang="es-AR" dirty="0"/>
              <a:t> Asignar los recursos humanos y materiales necesarios, además de una gestión de riesgos eficiente.</a:t>
            </a:r>
          </a:p>
          <a:p>
            <a:r>
              <a:rPr lang="es-AR" b="1" dirty="0"/>
              <a:t>Generación de Valor (El "¿Para qué?"):</a:t>
            </a:r>
            <a:r>
              <a:rPr lang="es-AR" dirty="0"/>
              <a:t> Asegurar que el proyecto produzca cambios significativos, medibles y sostenibles en el sector o mercado</a:t>
            </a:r>
          </a:p>
        </p:txBody>
      </p:sp>
    </p:spTree>
    <p:extLst>
      <p:ext uri="{BB962C8B-B14F-4D97-AF65-F5344CB8AC3E}">
        <p14:creationId xmlns:p14="http://schemas.microsoft.com/office/powerpoint/2010/main" val="1412132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3DF55D-F288-EF8B-120F-DDF0ED49CCF9}"/>
              </a:ext>
            </a:extLst>
          </p:cNvPr>
          <p:cNvSpPr>
            <a:spLocks noGrp="1"/>
          </p:cNvSpPr>
          <p:nvPr>
            <p:ph type="title"/>
          </p:nvPr>
        </p:nvSpPr>
        <p:spPr/>
        <p:txBody>
          <a:bodyPr/>
          <a:lstStyle/>
          <a:p>
            <a:r>
              <a:rPr lang="es-AR" dirty="0"/>
              <a:t>Puntos Clave</a:t>
            </a:r>
          </a:p>
        </p:txBody>
      </p:sp>
      <p:sp>
        <p:nvSpPr>
          <p:cNvPr id="3" name="Marcador de contenido 2">
            <a:extLst>
              <a:ext uri="{FF2B5EF4-FFF2-40B4-BE49-F238E27FC236}">
                <a16:creationId xmlns:a16="http://schemas.microsoft.com/office/drawing/2014/main" id="{D0BDECE7-E86E-52AC-FAA9-0846FBD9ACD6}"/>
              </a:ext>
            </a:extLst>
          </p:cNvPr>
          <p:cNvSpPr>
            <a:spLocks noGrp="1"/>
          </p:cNvSpPr>
          <p:nvPr>
            <p:ph idx="1"/>
          </p:nvPr>
        </p:nvSpPr>
        <p:spPr/>
        <p:txBody>
          <a:bodyPr>
            <a:normAutofit fontScale="92500" lnSpcReduction="20000"/>
          </a:bodyPr>
          <a:lstStyle/>
          <a:p>
            <a:r>
              <a:rPr lang="es-AR" b="1" dirty="0"/>
              <a:t>Competitividad y Diferenciación:</a:t>
            </a:r>
            <a:r>
              <a:rPr lang="es-AR" dirty="0"/>
              <a:t> Permite a las empresas destacarse de sus competidores al introducir productos, servicios o modelos de negocio novedosos.</a:t>
            </a:r>
          </a:p>
          <a:p>
            <a:r>
              <a:rPr lang="es-AR" b="1" dirty="0"/>
              <a:t>Optimización y Eficiencia:</a:t>
            </a:r>
            <a:r>
              <a:rPr lang="es-AR" dirty="0"/>
              <a:t> Ayuda a mejorar la manera en que se trabaja, permitiendo "hacer más con menos" recursos, lo que aumenta la productividad.</a:t>
            </a:r>
          </a:p>
          <a:p>
            <a:r>
              <a:rPr lang="es-AR" b="1" dirty="0"/>
              <a:t>Solución de Problemas:</a:t>
            </a:r>
            <a:r>
              <a:rPr lang="es-AR" dirty="0"/>
              <a:t> Aborda necesidades latentes y mejora la calidad de vida, facilitando actividades cotidianas y resolviendo retos sociales.</a:t>
            </a:r>
          </a:p>
          <a:p>
            <a:r>
              <a:rPr lang="es-AR" b="1" dirty="0"/>
              <a:t>Adaptación al Futuro:</a:t>
            </a:r>
            <a:r>
              <a:rPr lang="es-AR" dirty="0"/>
              <a:t> Prepara a las organizaciones para entornos cambiantes mediante la anticipación de tendencias y la evaluación de riesgos, evitando la obsolescencia.</a:t>
            </a:r>
          </a:p>
          <a:p>
            <a:r>
              <a:rPr lang="es-AR" b="1" dirty="0"/>
              <a:t>Desarrollo Económico:</a:t>
            </a:r>
            <a:r>
              <a:rPr lang="es-AR" dirty="0"/>
              <a:t> Impulsa la creación de empleo, incrementa los salarios y genera nuevas oportunidades de mercado, incluso para sectores vulnerables.</a:t>
            </a:r>
          </a:p>
        </p:txBody>
      </p:sp>
    </p:spTree>
    <p:extLst>
      <p:ext uri="{BB962C8B-B14F-4D97-AF65-F5344CB8AC3E}">
        <p14:creationId xmlns:p14="http://schemas.microsoft.com/office/powerpoint/2010/main" val="4210938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D0AA91-9F80-0A3F-7861-A6B7918F15E9}"/>
              </a:ext>
            </a:extLst>
          </p:cNvPr>
          <p:cNvSpPr>
            <a:spLocks noGrp="1"/>
          </p:cNvSpPr>
          <p:nvPr>
            <p:ph type="title"/>
          </p:nvPr>
        </p:nvSpPr>
        <p:spPr/>
        <p:txBody>
          <a:bodyPr/>
          <a:lstStyle/>
          <a:p>
            <a:r>
              <a:rPr lang="es-AR" dirty="0"/>
              <a:t>Beneficios que trae</a:t>
            </a:r>
          </a:p>
        </p:txBody>
      </p:sp>
      <p:sp>
        <p:nvSpPr>
          <p:cNvPr id="3" name="Marcador de contenido 2">
            <a:extLst>
              <a:ext uri="{FF2B5EF4-FFF2-40B4-BE49-F238E27FC236}">
                <a16:creationId xmlns:a16="http://schemas.microsoft.com/office/drawing/2014/main" id="{E4D0BE74-DBAC-6938-F95C-B72B5D877A36}"/>
              </a:ext>
            </a:extLst>
          </p:cNvPr>
          <p:cNvSpPr>
            <a:spLocks noGrp="1"/>
          </p:cNvSpPr>
          <p:nvPr>
            <p:ph idx="1"/>
          </p:nvPr>
        </p:nvSpPr>
        <p:spPr/>
        <p:txBody>
          <a:bodyPr>
            <a:normAutofit fontScale="85000" lnSpcReduction="10000"/>
          </a:bodyPr>
          <a:lstStyle/>
          <a:p>
            <a:r>
              <a:rPr lang="es-AR" dirty="0"/>
              <a:t>Competitividad y Crecimiento: Permite a las empresas liderar el sector, acceder a nuevos mercados y adaptarse a las necesidades del entorno.</a:t>
            </a:r>
          </a:p>
          <a:p>
            <a:r>
              <a:rPr lang="es-AR" dirty="0"/>
              <a:t>Eficiencia Operativa: Optimiza procesos y recursos, lo que reduce costos y aumenta la productividad.</a:t>
            </a:r>
          </a:p>
          <a:p>
            <a:r>
              <a:rPr lang="es-AR" dirty="0"/>
              <a:t>Innovación en Producto/Servicio: Desarrolla soluciones superiores, más atractivas y con mayor valor para los clientes.</a:t>
            </a:r>
          </a:p>
          <a:p>
            <a:r>
              <a:rPr lang="es-AR" dirty="0"/>
              <a:t>Ventajas Económicas y Fiscales: Facilita la obtención de beneficios como deducciones fiscales (que pueden llegar a un de los gastos en algunos casos) y financiamiento.</a:t>
            </a:r>
          </a:p>
          <a:p>
            <a:r>
              <a:rPr lang="es-AR" dirty="0"/>
              <a:t>Cultura y Talento: Fomenta un ambiente de trabajo creativo, ágil y colaborativo, mejorando la retención de talento.</a:t>
            </a:r>
          </a:p>
          <a:p>
            <a:r>
              <a:rPr lang="es-AR" dirty="0"/>
              <a:t>Impacto Social y Sostenibilidad: Desarrolla tecnología para mejorar la calidad de vida, reduce brechas sociales y promueve el uso responsable de recursos.</a:t>
            </a:r>
          </a:p>
        </p:txBody>
      </p:sp>
    </p:spTree>
    <p:extLst>
      <p:ext uri="{BB962C8B-B14F-4D97-AF65-F5344CB8AC3E}">
        <p14:creationId xmlns:p14="http://schemas.microsoft.com/office/powerpoint/2010/main" val="3649291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A54A69-402B-D361-6854-7E0E94C4708A}"/>
              </a:ext>
            </a:extLst>
          </p:cNvPr>
          <p:cNvSpPr>
            <a:spLocks noGrp="1"/>
          </p:cNvSpPr>
          <p:nvPr>
            <p:ph type="title"/>
          </p:nvPr>
        </p:nvSpPr>
        <p:spPr/>
        <p:txBody>
          <a:bodyPr/>
          <a:lstStyle/>
          <a:p>
            <a:r>
              <a:rPr lang="es-AR" dirty="0"/>
              <a:t>¿que tipos tiene un proyecto de innovación?</a:t>
            </a:r>
          </a:p>
        </p:txBody>
      </p:sp>
      <p:sp>
        <p:nvSpPr>
          <p:cNvPr id="3" name="Marcador de contenido 2">
            <a:extLst>
              <a:ext uri="{FF2B5EF4-FFF2-40B4-BE49-F238E27FC236}">
                <a16:creationId xmlns:a16="http://schemas.microsoft.com/office/drawing/2014/main" id="{9BABDECA-D134-12F7-841F-19B36A479620}"/>
              </a:ext>
            </a:extLst>
          </p:cNvPr>
          <p:cNvSpPr>
            <a:spLocks noGrp="1"/>
          </p:cNvSpPr>
          <p:nvPr>
            <p:ph idx="1"/>
          </p:nvPr>
        </p:nvSpPr>
        <p:spPr/>
        <p:txBody>
          <a:bodyPr/>
          <a:lstStyle/>
          <a:p>
            <a:pPr marL="0" indent="0">
              <a:buNone/>
            </a:pPr>
            <a:r>
              <a:rPr lang="es-AR" dirty="0"/>
              <a:t>Un proyecto de innovación busca implementar nuevas ideas para mejorar o transformar productos, servicios, procesos o modelos de negocio. Los tipos principales se clasifican por su impacto (incremental, radical, disruptivo) o por su área de aplicación, destacando los de producto, proceso, organizacionales, tecnológicos y sociales.</a:t>
            </a:r>
          </a:p>
          <a:p>
            <a:pPr marL="0" indent="0">
              <a:buNone/>
            </a:pPr>
            <a:endParaRPr lang="es-AR" dirty="0"/>
          </a:p>
        </p:txBody>
      </p:sp>
    </p:spTree>
    <p:extLst>
      <p:ext uri="{BB962C8B-B14F-4D97-AF65-F5344CB8AC3E}">
        <p14:creationId xmlns:p14="http://schemas.microsoft.com/office/powerpoint/2010/main" val="55462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B5A838-0A2E-A480-DD61-44BE7D9AA0DB}"/>
              </a:ext>
            </a:extLst>
          </p:cNvPr>
          <p:cNvSpPr>
            <a:spLocks noGrp="1"/>
          </p:cNvSpPr>
          <p:nvPr>
            <p:ph type="title"/>
          </p:nvPr>
        </p:nvSpPr>
        <p:spPr/>
        <p:txBody>
          <a:bodyPr/>
          <a:lstStyle/>
          <a:p>
            <a:r>
              <a:rPr lang="es-AR" dirty="0"/>
              <a:t>Cuáles son los componentes clave</a:t>
            </a:r>
          </a:p>
        </p:txBody>
      </p:sp>
      <p:sp>
        <p:nvSpPr>
          <p:cNvPr id="3" name="Marcador de contenido 2">
            <a:extLst>
              <a:ext uri="{FF2B5EF4-FFF2-40B4-BE49-F238E27FC236}">
                <a16:creationId xmlns:a16="http://schemas.microsoft.com/office/drawing/2014/main" id="{55DDF79E-9664-04BE-8B4E-1AD8035BB26C}"/>
              </a:ext>
            </a:extLst>
          </p:cNvPr>
          <p:cNvSpPr>
            <a:spLocks noGrp="1"/>
          </p:cNvSpPr>
          <p:nvPr>
            <p:ph idx="1"/>
          </p:nvPr>
        </p:nvSpPr>
        <p:spPr/>
        <p:txBody>
          <a:bodyPr/>
          <a:lstStyle/>
          <a:p>
            <a:r>
              <a:rPr lang="es-AR" b="1" dirty="0"/>
              <a:t>Estrategia:</a:t>
            </a:r>
            <a:r>
              <a:rPr lang="es-AR" dirty="0"/>
              <a:t> ¿Cuál es el propósito?</a:t>
            </a:r>
          </a:p>
          <a:p>
            <a:r>
              <a:rPr lang="es-AR" b="1" dirty="0"/>
              <a:t>Praxis:</a:t>
            </a:r>
            <a:r>
              <a:rPr lang="es-AR" dirty="0"/>
              <a:t> Métodos y herramientas a utilizar.</a:t>
            </a:r>
          </a:p>
          <a:p>
            <a:r>
              <a:rPr lang="es-AR" b="1" dirty="0"/>
              <a:t>Cultura:</a:t>
            </a:r>
            <a:r>
              <a:rPr lang="es-AR" dirty="0"/>
              <a:t> El ambiente necesario para la innovación.</a:t>
            </a:r>
          </a:p>
        </p:txBody>
      </p:sp>
    </p:spTree>
    <p:extLst>
      <p:ext uri="{BB962C8B-B14F-4D97-AF65-F5344CB8AC3E}">
        <p14:creationId xmlns:p14="http://schemas.microsoft.com/office/powerpoint/2010/main" val="58759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E3362B-8818-4959-E100-C35D831B6C88}"/>
              </a:ext>
            </a:extLst>
          </p:cNvPr>
          <p:cNvSpPr>
            <a:spLocks noGrp="1"/>
          </p:cNvSpPr>
          <p:nvPr>
            <p:ph type="title"/>
          </p:nvPr>
        </p:nvSpPr>
        <p:spPr/>
        <p:txBody>
          <a:bodyPr/>
          <a:lstStyle/>
          <a:p>
            <a:r>
              <a:rPr lang="es-AR" dirty="0"/>
              <a:t> Según el Grado de Cambio o Impacto:</a:t>
            </a:r>
          </a:p>
        </p:txBody>
      </p:sp>
      <p:sp>
        <p:nvSpPr>
          <p:cNvPr id="3" name="Marcador de contenido 2">
            <a:extLst>
              <a:ext uri="{FF2B5EF4-FFF2-40B4-BE49-F238E27FC236}">
                <a16:creationId xmlns:a16="http://schemas.microsoft.com/office/drawing/2014/main" id="{8F4B6150-C8C3-F75F-08F7-A68DE2551E16}"/>
              </a:ext>
            </a:extLst>
          </p:cNvPr>
          <p:cNvSpPr>
            <a:spLocks noGrp="1"/>
          </p:cNvSpPr>
          <p:nvPr>
            <p:ph idx="1"/>
          </p:nvPr>
        </p:nvSpPr>
        <p:spPr/>
        <p:txBody>
          <a:bodyPr/>
          <a:lstStyle/>
          <a:p>
            <a:r>
              <a:rPr lang="es-AR" b="1" dirty="0"/>
              <a:t>Innovación Incremental:</a:t>
            </a:r>
            <a:r>
              <a:rPr lang="es-AR" dirty="0"/>
              <a:t> Pequeñas mejoras continuas aplicadas a productos, servicios o procesos existentes para aumentar su eficiencia o valor.</a:t>
            </a:r>
          </a:p>
          <a:p>
            <a:r>
              <a:rPr lang="es-AR" b="1" dirty="0"/>
              <a:t>Innovación Radical:</a:t>
            </a:r>
            <a:r>
              <a:rPr lang="es-AR" dirty="0"/>
              <a:t> Introducción de un producto o proceso totalmente nuevo que rompe con los métodos anteriores.</a:t>
            </a:r>
          </a:p>
          <a:p>
            <a:r>
              <a:rPr lang="es-AR" b="1" dirty="0"/>
              <a:t>Innovación Disruptiva:</a:t>
            </a:r>
            <a:r>
              <a:rPr lang="es-AR" dirty="0"/>
              <a:t> Cambios drásticos que modifican el mercado y el comportamiento del consumidor, a menudo creando nuevos mercados (ej. </a:t>
            </a:r>
            <a:r>
              <a:rPr lang="es-AR" i="1" dirty="0" err="1"/>
              <a:t>streaming</a:t>
            </a:r>
            <a:r>
              <a:rPr lang="es-AR" dirty="0"/>
              <a:t> vs. alquiler de videos).</a:t>
            </a:r>
          </a:p>
          <a:p>
            <a:r>
              <a:rPr lang="es-AR" b="1" dirty="0"/>
              <a:t>Innovación Arquitectónica:</a:t>
            </a:r>
            <a:r>
              <a:rPr lang="es-AR" dirty="0"/>
              <a:t> Reorganiza componentes existentes de formas innovadoras para aportar valor de manera diferente.</a:t>
            </a:r>
          </a:p>
        </p:txBody>
      </p:sp>
    </p:spTree>
    <p:extLst>
      <p:ext uri="{BB962C8B-B14F-4D97-AF65-F5344CB8AC3E}">
        <p14:creationId xmlns:p14="http://schemas.microsoft.com/office/powerpoint/2010/main" val="2463010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210A45-8352-0A74-4F46-5E6BF5F8261C}"/>
              </a:ext>
            </a:extLst>
          </p:cNvPr>
          <p:cNvSpPr>
            <a:spLocks noGrp="1"/>
          </p:cNvSpPr>
          <p:nvPr>
            <p:ph type="title"/>
          </p:nvPr>
        </p:nvSpPr>
        <p:spPr/>
        <p:txBody>
          <a:bodyPr/>
          <a:lstStyle/>
          <a:p>
            <a:r>
              <a:rPr lang="es-AR" dirty="0"/>
              <a:t>Según el área de aplicación</a:t>
            </a:r>
          </a:p>
        </p:txBody>
      </p:sp>
      <p:sp>
        <p:nvSpPr>
          <p:cNvPr id="3" name="Marcador de contenido 2">
            <a:extLst>
              <a:ext uri="{FF2B5EF4-FFF2-40B4-BE49-F238E27FC236}">
                <a16:creationId xmlns:a16="http://schemas.microsoft.com/office/drawing/2014/main" id="{BE2D6BDA-99EC-F993-C58B-55632AE8550D}"/>
              </a:ext>
            </a:extLst>
          </p:cNvPr>
          <p:cNvSpPr>
            <a:spLocks noGrp="1"/>
          </p:cNvSpPr>
          <p:nvPr>
            <p:ph idx="1"/>
          </p:nvPr>
        </p:nvSpPr>
        <p:spPr/>
        <p:txBody>
          <a:bodyPr/>
          <a:lstStyle/>
          <a:p>
            <a:r>
              <a:rPr lang="es-AR" b="1" dirty="0"/>
              <a:t>Innovación de Producto/Servicio:</a:t>
            </a:r>
            <a:r>
              <a:rPr lang="es-AR" dirty="0"/>
              <a:t> Creación de bienes o servicios nuevos, o mejora significativa de los actuales.</a:t>
            </a:r>
          </a:p>
          <a:p>
            <a:r>
              <a:rPr lang="es-AR" b="1" dirty="0"/>
              <a:t>Innovación de Proceso:</a:t>
            </a:r>
            <a:r>
              <a:rPr lang="es-AR" dirty="0"/>
              <a:t> Nuevos métodos de producción o distribución (logística) para reducir costes o mejorar la calidad.</a:t>
            </a:r>
          </a:p>
          <a:p>
            <a:r>
              <a:rPr lang="es-AR" b="1" dirty="0"/>
              <a:t>Innovación en el Modelo de Negocio:</a:t>
            </a:r>
            <a:r>
              <a:rPr lang="es-AR" dirty="0"/>
              <a:t> Cambios en la forma en que una empresa crea, entrega y captura valor (ej. plataformas tipo Amazon).</a:t>
            </a:r>
          </a:p>
          <a:p>
            <a:r>
              <a:rPr lang="es-AR" b="1" dirty="0"/>
              <a:t>Innovación Organizacional:</a:t>
            </a:r>
            <a:r>
              <a:rPr lang="es-AR" dirty="0"/>
              <a:t> Nuevas estructuras, prácticas o métodos de trabajo interno.</a:t>
            </a:r>
          </a:p>
          <a:p>
            <a:r>
              <a:rPr lang="es-AR" b="1" dirty="0"/>
              <a:t>Innovación en Marketing:</a:t>
            </a:r>
            <a:r>
              <a:rPr lang="es-AR" dirty="0"/>
              <a:t> Cambios en el diseño, envasado, posicionamiento o promoción de productos. </a:t>
            </a:r>
          </a:p>
        </p:txBody>
      </p:sp>
    </p:spTree>
    <p:extLst>
      <p:ext uri="{BB962C8B-B14F-4D97-AF65-F5344CB8AC3E}">
        <p14:creationId xmlns:p14="http://schemas.microsoft.com/office/powerpoint/2010/main" val="1073766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BC9E59-66E4-4AF0-91A4-0E8CDFC0326C}"/>
              </a:ext>
            </a:extLst>
          </p:cNvPr>
          <p:cNvSpPr>
            <a:spLocks noGrp="1"/>
          </p:cNvSpPr>
          <p:nvPr>
            <p:ph type="title"/>
          </p:nvPr>
        </p:nvSpPr>
        <p:spPr/>
        <p:txBody>
          <a:bodyPr/>
          <a:lstStyle/>
          <a:p>
            <a:r>
              <a:rPr lang="es-AR" dirty="0"/>
              <a:t>Otros enfoques</a:t>
            </a:r>
          </a:p>
        </p:txBody>
      </p:sp>
      <p:sp>
        <p:nvSpPr>
          <p:cNvPr id="3" name="Marcador de contenido 2">
            <a:extLst>
              <a:ext uri="{FF2B5EF4-FFF2-40B4-BE49-F238E27FC236}">
                <a16:creationId xmlns:a16="http://schemas.microsoft.com/office/drawing/2014/main" id="{EF19AD4B-94E5-8F1A-CE2A-94EB9707E8F1}"/>
              </a:ext>
            </a:extLst>
          </p:cNvPr>
          <p:cNvSpPr>
            <a:spLocks noGrp="1"/>
          </p:cNvSpPr>
          <p:nvPr>
            <p:ph idx="1"/>
          </p:nvPr>
        </p:nvSpPr>
        <p:spPr/>
        <p:txBody>
          <a:bodyPr/>
          <a:lstStyle/>
          <a:p>
            <a:r>
              <a:rPr lang="es-AR" b="1" dirty="0"/>
              <a:t>Innovación Tecnológica:</a:t>
            </a:r>
            <a:r>
              <a:rPr lang="es-AR" dirty="0"/>
              <a:t> Aplicación de nuevas tecnologías (IA, </a:t>
            </a:r>
            <a:r>
              <a:rPr lang="es-AR" dirty="0" err="1"/>
              <a:t>IoT</a:t>
            </a:r>
            <a:r>
              <a:rPr lang="es-AR" dirty="0"/>
              <a:t>) para mejorar la competitividad.</a:t>
            </a:r>
          </a:p>
          <a:p>
            <a:r>
              <a:rPr lang="es-AR" b="1" dirty="0"/>
              <a:t>Innovación Social:</a:t>
            </a:r>
            <a:r>
              <a:rPr lang="es-AR" dirty="0"/>
              <a:t> Proyectos que buscan resolver necesidades sociales (educación, salud, pobreza) con nuevas soluciones.</a:t>
            </a:r>
          </a:p>
          <a:p>
            <a:r>
              <a:rPr lang="es-AR" b="1" dirty="0"/>
              <a:t>Innovación Abierta (Open </a:t>
            </a:r>
            <a:r>
              <a:rPr lang="es-AR" b="1" dirty="0" err="1"/>
              <a:t>Innovation</a:t>
            </a:r>
            <a:r>
              <a:rPr lang="es-AR" b="1" dirty="0"/>
              <a:t>):</a:t>
            </a:r>
            <a:r>
              <a:rPr lang="es-AR" dirty="0"/>
              <a:t> Colaboración con agentes externos (universidades, startups) para desarrollar el proyecto.</a:t>
            </a:r>
          </a:p>
        </p:txBody>
      </p:sp>
    </p:spTree>
    <p:extLst>
      <p:ext uri="{BB962C8B-B14F-4D97-AF65-F5344CB8AC3E}">
        <p14:creationId xmlns:p14="http://schemas.microsoft.com/office/powerpoint/2010/main" val="4277779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3F3160-E7FA-D46E-296C-DCF1EB048701}"/>
              </a:ext>
            </a:extLst>
          </p:cNvPr>
          <p:cNvSpPr>
            <a:spLocks noGrp="1"/>
          </p:cNvSpPr>
          <p:nvPr>
            <p:ph type="title"/>
          </p:nvPr>
        </p:nvSpPr>
        <p:spPr/>
        <p:txBody>
          <a:bodyPr/>
          <a:lstStyle/>
          <a:p>
            <a:r>
              <a:rPr lang="es-AR" dirty="0"/>
              <a:t>Qué comprendemos por estrategia??</a:t>
            </a:r>
          </a:p>
        </p:txBody>
      </p:sp>
      <p:sp>
        <p:nvSpPr>
          <p:cNvPr id="3" name="Marcador de contenido 2">
            <a:extLst>
              <a:ext uri="{FF2B5EF4-FFF2-40B4-BE49-F238E27FC236}">
                <a16:creationId xmlns:a16="http://schemas.microsoft.com/office/drawing/2014/main" id="{47682B02-E088-F517-F49D-22BA43D8CEF6}"/>
              </a:ext>
            </a:extLst>
          </p:cNvPr>
          <p:cNvSpPr>
            <a:spLocks noGrp="1"/>
          </p:cNvSpPr>
          <p:nvPr>
            <p:ph idx="1"/>
          </p:nvPr>
        </p:nvSpPr>
        <p:spPr/>
        <p:txBody>
          <a:bodyPr/>
          <a:lstStyle/>
          <a:p>
            <a:pPr marL="0" indent="0">
              <a:buNone/>
            </a:pPr>
            <a:r>
              <a:rPr lang="es-AR" dirty="0"/>
              <a:t>Una estrategia de innovación es el plan estructurado que vincula las mejoras novedosas con la estrategia comercial de la organización, definiendo objetivos, prioridades y recursos necesarios para crear valor. Actúa como una hoja de ruta para competir mejor, fomentando la experimentación, el aprendizaje y el crecimiento sostenido a largo plazo</a:t>
            </a:r>
          </a:p>
        </p:txBody>
      </p:sp>
    </p:spTree>
    <p:extLst>
      <p:ext uri="{BB962C8B-B14F-4D97-AF65-F5344CB8AC3E}">
        <p14:creationId xmlns:p14="http://schemas.microsoft.com/office/powerpoint/2010/main" val="711666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1082D3-0E9D-20BC-50E4-AE081F9BB687}"/>
              </a:ext>
            </a:extLst>
          </p:cNvPr>
          <p:cNvSpPr>
            <a:spLocks noGrp="1"/>
          </p:cNvSpPr>
          <p:nvPr>
            <p:ph type="title"/>
          </p:nvPr>
        </p:nvSpPr>
        <p:spPr/>
        <p:txBody>
          <a:bodyPr/>
          <a:lstStyle/>
          <a:p>
            <a:r>
              <a:rPr lang="es-AR" dirty="0"/>
              <a:t>Cuáles son los componentes para la elaboración de la estrategia de la innovación</a:t>
            </a:r>
          </a:p>
        </p:txBody>
      </p:sp>
      <p:sp>
        <p:nvSpPr>
          <p:cNvPr id="3" name="Marcador de contenido 2">
            <a:extLst>
              <a:ext uri="{FF2B5EF4-FFF2-40B4-BE49-F238E27FC236}">
                <a16:creationId xmlns:a16="http://schemas.microsoft.com/office/drawing/2014/main" id="{69EB42AA-7677-BA49-3ED2-3888F9DD85C9}"/>
              </a:ext>
            </a:extLst>
          </p:cNvPr>
          <p:cNvSpPr>
            <a:spLocks noGrp="1"/>
          </p:cNvSpPr>
          <p:nvPr>
            <p:ph idx="1"/>
          </p:nvPr>
        </p:nvSpPr>
        <p:spPr>
          <a:xfrm>
            <a:off x="403097" y="2458482"/>
            <a:ext cx="11579353" cy="4593828"/>
          </a:xfrm>
        </p:spPr>
        <p:txBody>
          <a:bodyPr/>
          <a:lstStyle/>
          <a:p>
            <a:r>
              <a:rPr lang="es-AR" b="1" dirty="0"/>
              <a:t>Alineación Comercial:</a:t>
            </a:r>
            <a:r>
              <a:rPr lang="es-AR" dirty="0"/>
              <a:t> Conecta las ideas de mejora con los objetivos generales de la empresa.</a:t>
            </a:r>
          </a:p>
          <a:p>
            <a:r>
              <a:rPr lang="es-AR" b="1" dirty="0"/>
              <a:t>Enfoque de Valor:</a:t>
            </a:r>
            <a:r>
              <a:rPr lang="es-AR" dirty="0"/>
              <a:t> Centrada en las necesidades del cliente y en la creación de nuevas oportunidades.</a:t>
            </a:r>
          </a:p>
          <a:p>
            <a:r>
              <a:rPr lang="es-AR" b="1" dirty="0"/>
              <a:t>Tipos de Estrategia:</a:t>
            </a:r>
            <a:r>
              <a:rPr lang="es-AR" dirty="0"/>
              <a:t> </a:t>
            </a:r>
            <a:r>
              <a:rPr lang="es-AR" dirty="0" err="1"/>
              <a:t>Puedeser</a:t>
            </a:r>
            <a:r>
              <a:rPr lang="es-AR" dirty="0"/>
              <a:t> ofensiva (liderar), defensiva (adaptarse), imitativa o disruptiva.</a:t>
            </a:r>
          </a:p>
          <a:p>
            <a:r>
              <a:rPr lang="es-AR" b="1" dirty="0"/>
              <a:t>Dirección Clara:</a:t>
            </a:r>
            <a:r>
              <a:rPr lang="es-AR" dirty="0"/>
              <a:t> Define qué áreas se explorarán (productos, procesos, servicios) y cómo se medirá el éxito, por ejemplo, mediante métricas e indicadores de rendimiento</a:t>
            </a:r>
          </a:p>
        </p:txBody>
      </p:sp>
    </p:spTree>
    <p:extLst>
      <p:ext uri="{BB962C8B-B14F-4D97-AF65-F5344CB8AC3E}">
        <p14:creationId xmlns:p14="http://schemas.microsoft.com/office/powerpoint/2010/main" val="2839742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F5CBD9-05D9-157A-A365-14D1389C3C67}"/>
              </a:ext>
            </a:extLst>
          </p:cNvPr>
          <p:cNvSpPr>
            <a:spLocks noGrp="1"/>
          </p:cNvSpPr>
          <p:nvPr>
            <p:ph type="title"/>
          </p:nvPr>
        </p:nvSpPr>
        <p:spPr/>
        <p:txBody>
          <a:bodyPr/>
          <a:lstStyle/>
          <a:p>
            <a:r>
              <a:rPr lang="es-AR" dirty="0"/>
              <a:t>Importancia</a:t>
            </a:r>
          </a:p>
        </p:txBody>
      </p:sp>
      <p:sp>
        <p:nvSpPr>
          <p:cNvPr id="3" name="Marcador de contenido 2">
            <a:extLst>
              <a:ext uri="{FF2B5EF4-FFF2-40B4-BE49-F238E27FC236}">
                <a16:creationId xmlns:a16="http://schemas.microsoft.com/office/drawing/2014/main" id="{97F96CB5-91E1-984E-FDFB-573B4E56F2CF}"/>
              </a:ext>
            </a:extLst>
          </p:cNvPr>
          <p:cNvSpPr>
            <a:spLocks noGrp="1"/>
          </p:cNvSpPr>
          <p:nvPr>
            <p:ph idx="1"/>
          </p:nvPr>
        </p:nvSpPr>
        <p:spPr/>
        <p:txBody>
          <a:bodyPr/>
          <a:lstStyle/>
          <a:p>
            <a:r>
              <a:rPr lang="es-AR" b="1" dirty="0"/>
              <a:t>Ventaja Competitiva:</a:t>
            </a:r>
            <a:r>
              <a:rPr lang="es-AR" dirty="0"/>
              <a:t> Permite a la empresa sobresalir y diferenciarse en el mercado.</a:t>
            </a:r>
          </a:p>
          <a:p>
            <a:r>
              <a:rPr lang="es-AR" b="1" dirty="0"/>
              <a:t>Gestión del Riesgo:</a:t>
            </a:r>
            <a:r>
              <a:rPr lang="es-AR" dirty="0"/>
              <a:t> Facilita la toma de riesgos calculados y la experimentación.</a:t>
            </a:r>
          </a:p>
          <a:p>
            <a:r>
              <a:rPr lang="es-AR" b="1" dirty="0"/>
              <a:t>Adaptabilidad:</a:t>
            </a:r>
            <a:r>
              <a:rPr lang="es-AR" dirty="0"/>
              <a:t> Proporciona un marco para evolucionar con el tiempo ante cambios en el entorno</a:t>
            </a:r>
          </a:p>
        </p:txBody>
      </p:sp>
    </p:spTree>
    <p:extLst>
      <p:ext uri="{BB962C8B-B14F-4D97-AF65-F5344CB8AC3E}">
        <p14:creationId xmlns:p14="http://schemas.microsoft.com/office/powerpoint/2010/main" val="2113297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763F1B-AEE9-4B6F-9E57-B729070405E1}"/>
              </a:ext>
            </a:extLst>
          </p:cNvPr>
          <p:cNvSpPr>
            <a:spLocks noGrp="1"/>
          </p:cNvSpPr>
          <p:nvPr>
            <p:ph type="title"/>
          </p:nvPr>
        </p:nvSpPr>
        <p:spPr/>
        <p:txBody>
          <a:bodyPr/>
          <a:lstStyle/>
          <a:p>
            <a:r>
              <a:rPr lang="es-AR" dirty="0"/>
              <a:t>Indicadores (</a:t>
            </a:r>
            <a:r>
              <a:rPr lang="es-AR" dirty="0" err="1"/>
              <a:t>KPIs</a:t>
            </a:r>
            <a:r>
              <a:rPr lang="es-AR" dirty="0"/>
              <a:t>)</a:t>
            </a:r>
          </a:p>
        </p:txBody>
      </p:sp>
      <p:sp>
        <p:nvSpPr>
          <p:cNvPr id="3" name="Marcador de contenido 2">
            <a:extLst>
              <a:ext uri="{FF2B5EF4-FFF2-40B4-BE49-F238E27FC236}">
                <a16:creationId xmlns:a16="http://schemas.microsoft.com/office/drawing/2014/main" id="{0A2876C9-1AFB-C73E-5F6B-E430085A6FCB}"/>
              </a:ext>
            </a:extLst>
          </p:cNvPr>
          <p:cNvSpPr>
            <a:spLocks noGrp="1"/>
          </p:cNvSpPr>
          <p:nvPr>
            <p:ph idx="1"/>
          </p:nvPr>
        </p:nvSpPr>
        <p:spPr/>
        <p:txBody>
          <a:bodyPr/>
          <a:lstStyle/>
          <a:p>
            <a:pPr marL="0" indent="0">
              <a:buNone/>
            </a:pPr>
            <a:r>
              <a:rPr lang="es-AR" dirty="0"/>
              <a:t>Los </a:t>
            </a:r>
            <a:r>
              <a:rPr lang="es-AR" dirty="0" err="1"/>
              <a:t>KPIs</a:t>
            </a:r>
            <a:r>
              <a:rPr lang="es-AR" dirty="0"/>
              <a:t> (Key Performance </a:t>
            </a:r>
            <a:r>
              <a:rPr lang="es-AR" dirty="0" err="1"/>
              <a:t>Indicators</a:t>
            </a:r>
            <a:r>
              <a:rPr lang="es-AR" dirty="0"/>
              <a:t> o Indicadores Clave de Desempeño) son métricas cuantificables utilizadas para evaluar el éxito, la eficiencia y el progreso de una organización, equipo o campaña hacia sus objetivos estratégicos. Actúan como un "GPS" empresarial, facilitando la toma de decisiones basada en datos para corregir el rumbo si es necesario</a:t>
            </a:r>
          </a:p>
        </p:txBody>
      </p:sp>
    </p:spTree>
    <p:extLst>
      <p:ext uri="{BB962C8B-B14F-4D97-AF65-F5344CB8AC3E}">
        <p14:creationId xmlns:p14="http://schemas.microsoft.com/office/powerpoint/2010/main" val="2148970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5693C3-CCAE-BDD6-7B98-7878D4644CFC}"/>
              </a:ext>
            </a:extLst>
          </p:cNvPr>
          <p:cNvSpPr>
            <a:spLocks noGrp="1"/>
          </p:cNvSpPr>
          <p:nvPr>
            <p:ph type="title"/>
          </p:nvPr>
        </p:nvSpPr>
        <p:spPr/>
        <p:txBody>
          <a:bodyPr/>
          <a:lstStyle/>
          <a:p>
            <a:r>
              <a:rPr lang="es-AR" dirty="0"/>
              <a:t>Características de un KPI Eficaz (SMART)</a:t>
            </a:r>
          </a:p>
        </p:txBody>
      </p:sp>
      <p:sp>
        <p:nvSpPr>
          <p:cNvPr id="3" name="Marcador de contenido 2">
            <a:extLst>
              <a:ext uri="{FF2B5EF4-FFF2-40B4-BE49-F238E27FC236}">
                <a16:creationId xmlns:a16="http://schemas.microsoft.com/office/drawing/2014/main" id="{2E928402-E3CF-C6D2-316C-6A36DFD0F443}"/>
              </a:ext>
            </a:extLst>
          </p:cNvPr>
          <p:cNvSpPr>
            <a:spLocks noGrp="1"/>
          </p:cNvSpPr>
          <p:nvPr>
            <p:ph idx="1"/>
          </p:nvPr>
        </p:nvSpPr>
        <p:spPr/>
        <p:txBody>
          <a:bodyPr/>
          <a:lstStyle/>
          <a:p>
            <a:r>
              <a:rPr lang="es-AR" dirty="0"/>
              <a:t>Específico (</a:t>
            </a:r>
            <a:r>
              <a:rPr lang="es-AR" dirty="0" err="1"/>
              <a:t>Specific</a:t>
            </a:r>
            <a:r>
              <a:rPr lang="es-AR" dirty="0"/>
              <a:t>): Definido claramente.</a:t>
            </a:r>
          </a:p>
          <a:p>
            <a:r>
              <a:rPr lang="es-AR" dirty="0"/>
              <a:t>Medible (</a:t>
            </a:r>
            <a:r>
              <a:rPr lang="es-AR" dirty="0" err="1"/>
              <a:t>Measurable</a:t>
            </a:r>
            <a:r>
              <a:rPr lang="es-AR" dirty="0"/>
              <a:t>): Cuantificable numéricamente.</a:t>
            </a:r>
          </a:p>
          <a:p>
            <a:r>
              <a:rPr lang="es-AR" dirty="0"/>
              <a:t>Alcanzable (</a:t>
            </a:r>
            <a:r>
              <a:rPr lang="es-AR" dirty="0" err="1"/>
              <a:t>Achievable</a:t>
            </a:r>
            <a:r>
              <a:rPr lang="es-AR" dirty="0"/>
              <a:t>): Realista respecto a los recursos.</a:t>
            </a:r>
          </a:p>
          <a:p>
            <a:r>
              <a:rPr lang="es-AR" dirty="0"/>
              <a:t>Relevante (</a:t>
            </a:r>
            <a:r>
              <a:rPr lang="es-AR" dirty="0" err="1"/>
              <a:t>Relevant</a:t>
            </a:r>
            <a:r>
              <a:rPr lang="es-AR" dirty="0"/>
              <a:t>): Importante para la estrategia central.</a:t>
            </a:r>
          </a:p>
          <a:p>
            <a:r>
              <a:rPr lang="es-AR" dirty="0"/>
              <a:t>Temporal (Time-</a:t>
            </a:r>
            <a:r>
              <a:rPr lang="es-AR" dirty="0" err="1"/>
              <a:t>bound</a:t>
            </a:r>
            <a:r>
              <a:rPr lang="es-AR" dirty="0"/>
              <a:t>): Medido en un periodo de tiempo definido.</a:t>
            </a:r>
          </a:p>
        </p:txBody>
      </p:sp>
    </p:spTree>
    <p:extLst>
      <p:ext uri="{BB962C8B-B14F-4D97-AF65-F5344CB8AC3E}">
        <p14:creationId xmlns:p14="http://schemas.microsoft.com/office/powerpoint/2010/main" val="37908712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B0D903-E444-96A1-B7C3-0F2DAC33B3C1}"/>
              </a:ext>
            </a:extLst>
          </p:cNvPr>
          <p:cNvSpPr>
            <a:spLocks noGrp="1"/>
          </p:cNvSpPr>
          <p:nvPr>
            <p:ph type="title"/>
          </p:nvPr>
        </p:nvSpPr>
        <p:spPr/>
        <p:txBody>
          <a:bodyPr/>
          <a:lstStyle/>
          <a:p>
            <a:r>
              <a:rPr lang="es-AR" dirty="0"/>
              <a:t>Ejemplos Comunes de </a:t>
            </a:r>
            <a:r>
              <a:rPr lang="es-AR" dirty="0" err="1"/>
              <a:t>KPIs</a:t>
            </a:r>
            <a:r>
              <a:rPr lang="es-AR" dirty="0"/>
              <a:t> por Área</a:t>
            </a:r>
          </a:p>
        </p:txBody>
      </p:sp>
      <p:sp>
        <p:nvSpPr>
          <p:cNvPr id="3" name="Marcador de contenido 2">
            <a:extLst>
              <a:ext uri="{FF2B5EF4-FFF2-40B4-BE49-F238E27FC236}">
                <a16:creationId xmlns:a16="http://schemas.microsoft.com/office/drawing/2014/main" id="{8336B9D5-9480-627E-C710-F0274A66B577}"/>
              </a:ext>
            </a:extLst>
          </p:cNvPr>
          <p:cNvSpPr>
            <a:spLocks noGrp="1"/>
          </p:cNvSpPr>
          <p:nvPr>
            <p:ph idx="1"/>
          </p:nvPr>
        </p:nvSpPr>
        <p:spPr/>
        <p:txBody>
          <a:bodyPr/>
          <a:lstStyle/>
          <a:p>
            <a:r>
              <a:rPr lang="es-AR" b="1" dirty="0"/>
              <a:t>Ventas:</a:t>
            </a:r>
            <a:r>
              <a:rPr lang="es-AR" dirty="0"/>
              <a:t> Tasa de conversión, crecimiento de ingresos, margen de beneficio, valor del tiempo de vida del cliente (CLV).</a:t>
            </a:r>
          </a:p>
          <a:p>
            <a:r>
              <a:rPr lang="es-AR" b="1" dirty="0"/>
              <a:t>Marketing Digital:</a:t>
            </a:r>
            <a:r>
              <a:rPr lang="es-AR" dirty="0"/>
              <a:t> Coste de adquisición de cliente (CAC), retorno de la inversión (ROI), tasa de apertura de emails, tráfico web.</a:t>
            </a:r>
          </a:p>
          <a:p>
            <a:r>
              <a:rPr lang="es-AR" b="1" dirty="0"/>
              <a:t>Servicio al Cliente:</a:t>
            </a:r>
            <a:r>
              <a:rPr lang="es-AR" dirty="0"/>
              <a:t> Tasa de retención de clientes, Net </a:t>
            </a:r>
            <a:r>
              <a:rPr lang="es-AR" dirty="0" err="1"/>
              <a:t>Promoter</a:t>
            </a:r>
            <a:r>
              <a:rPr lang="es-AR" dirty="0"/>
              <a:t> Score (NPS), tiempo de respuesta.</a:t>
            </a:r>
          </a:p>
          <a:p>
            <a:r>
              <a:rPr lang="es-AR" b="1" dirty="0"/>
              <a:t>Finanzas:</a:t>
            </a:r>
            <a:r>
              <a:rPr lang="es-AR" dirty="0"/>
              <a:t> Margen de utilidad neta, flujo de caja, EBITDA</a:t>
            </a:r>
          </a:p>
        </p:txBody>
      </p:sp>
    </p:spTree>
    <p:extLst>
      <p:ext uri="{BB962C8B-B14F-4D97-AF65-F5344CB8AC3E}">
        <p14:creationId xmlns:p14="http://schemas.microsoft.com/office/powerpoint/2010/main" val="769538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102131-6578-AC50-E6C2-CE4A20CF1D5F}"/>
              </a:ext>
            </a:extLst>
          </p:cNvPr>
          <p:cNvSpPr>
            <a:spLocks noGrp="1"/>
          </p:cNvSpPr>
          <p:nvPr>
            <p:ph type="title"/>
          </p:nvPr>
        </p:nvSpPr>
        <p:spPr/>
        <p:txBody>
          <a:bodyPr/>
          <a:lstStyle/>
          <a:p>
            <a:r>
              <a:rPr lang="es-AR" dirty="0"/>
              <a:t>Pasos para Implementar </a:t>
            </a:r>
            <a:r>
              <a:rPr lang="es-AR" dirty="0" err="1"/>
              <a:t>KPIs</a:t>
            </a:r>
            <a:endParaRPr lang="es-AR" dirty="0"/>
          </a:p>
        </p:txBody>
      </p:sp>
      <p:sp>
        <p:nvSpPr>
          <p:cNvPr id="3" name="Marcador de contenido 2">
            <a:extLst>
              <a:ext uri="{FF2B5EF4-FFF2-40B4-BE49-F238E27FC236}">
                <a16:creationId xmlns:a16="http://schemas.microsoft.com/office/drawing/2014/main" id="{834B051D-045D-8061-D4B8-1B1D3251E48D}"/>
              </a:ext>
            </a:extLst>
          </p:cNvPr>
          <p:cNvSpPr>
            <a:spLocks noGrp="1"/>
          </p:cNvSpPr>
          <p:nvPr>
            <p:ph idx="1"/>
          </p:nvPr>
        </p:nvSpPr>
        <p:spPr/>
        <p:txBody>
          <a:bodyPr/>
          <a:lstStyle/>
          <a:p>
            <a:r>
              <a:rPr lang="es-AR" b="1" dirty="0"/>
              <a:t>Definir el objetivo:</a:t>
            </a:r>
            <a:r>
              <a:rPr lang="es-AR" dirty="0"/>
              <a:t> ¿Qué queremos lograr?.</a:t>
            </a:r>
          </a:p>
          <a:p>
            <a:r>
              <a:rPr lang="es-AR" b="1" dirty="0"/>
              <a:t>Identificar la métrica clave:</a:t>
            </a:r>
            <a:r>
              <a:rPr lang="es-AR" dirty="0"/>
              <a:t> ¿Qué dato demuestra el éxito?.</a:t>
            </a:r>
          </a:p>
          <a:p>
            <a:r>
              <a:rPr lang="es-AR" b="1" dirty="0"/>
              <a:t>Establecer metas:</a:t>
            </a:r>
            <a:r>
              <a:rPr lang="es-AR" dirty="0"/>
              <a:t> ¿Cuál es la cifra objetivo (target)?.</a:t>
            </a:r>
          </a:p>
          <a:p>
            <a:r>
              <a:rPr lang="es-AR" b="1" dirty="0"/>
              <a:t>Medir y analizar:</a:t>
            </a:r>
            <a:r>
              <a:rPr lang="es-AR" dirty="0"/>
              <a:t> Revisar la evolución periódicamente (semanal, mensual)</a:t>
            </a:r>
          </a:p>
        </p:txBody>
      </p:sp>
    </p:spTree>
    <p:extLst>
      <p:ext uri="{BB962C8B-B14F-4D97-AF65-F5344CB8AC3E}">
        <p14:creationId xmlns:p14="http://schemas.microsoft.com/office/powerpoint/2010/main" val="11191386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102131-6578-AC50-E6C2-CE4A20CF1D5F}"/>
              </a:ext>
            </a:extLst>
          </p:cNvPr>
          <p:cNvSpPr>
            <a:spLocks noGrp="1"/>
          </p:cNvSpPr>
          <p:nvPr>
            <p:ph type="title"/>
          </p:nvPr>
        </p:nvSpPr>
        <p:spPr/>
        <p:txBody>
          <a:bodyPr/>
          <a:lstStyle/>
          <a:p>
            <a:r>
              <a:rPr lang="es-MX" dirty="0"/>
              <a:t>Las fases del método 'Lean Startup'</a:t>
            </a:r>
            <a:br>
              <a:rPr lang="es-MX" dirty="0"/>
            </a:br>
            <a:r>
              <a:rPr lang="es-AR" dirty="0"/>
              <a:t> </a:t>
            </a:r>
          </a:p>
        </p:txBody>
      </p:sp>
      <p:sp>
        <p:nvSpPr>
          <p:cNvPr id="3" name="Marcador de contenido 2">
            <a:extLst>
              <a:ext uri="{FF2B5EF4-FFF2-40B4-BE49-F238E27FC236}">
                <a16:creationId xmlns:a16="http://schemas.microsoft.com/office/drawing/2014/main" id="{834B051D-045D-8061-D4B8-1B1D3251E48D}"/>
              </a:ext>
            </a:extLst>
          </p:cNvPr>
          <p:cNvSpPr>
            <a:spLocks noGrp="1"/>
          </p:cNvSpPr>
          <p:nvPr>
            <p:ph idx="1"/>
          </p:nvPr>
        </p:nvSpPr>
        <p:spPr>
          <a:xfrm>
            <a:off x="741362" y="1734008"/>
            <a:ext cx="10412414" cy="4195481"/>
          </a:xfrm>
        </p:spPr>
        <p:txBody>
          <a:bodyPr>
            <a:noAutofit/>
          </a:bodyPr>
          <a:lstStyle/>
          <a:p>
            <a:pPr algn="l">
              <a:buFont typeface="Arial" panose="020B0604020202020204" pitchFamily="34" charset="0"/>
              <a:buChar char="•"/>
            </a:pPr>
            <a:r>
              <a:rPr lang="es-MX" b="1" i="0" dirty="0">
                <a:effectLst/>
                <a:latin typeface="BentonBook"/>
              </a:rPr>
              <a:t>Necesidad del cliente</a:t>
            </a:r>
            <a:r>
              <a:rPr lang="es-MX" b="0" i="0" dirty="0">
                <a:effectLst/>
                <a:latin typeface="BentonBook"/>
              </a:rPr>
              <a:t>. Estudio y análisis del público para detectar los problemas con el producto o servicio. En esta etapa, se definen las necesidades del usuario en función de la información obtenida.</a:t>
            </a:r>
          </a:p>
          <a:p>
            <a:pPr algn="l">
              <a:buFont typeface="Arial" panose="020B0604020202020204" pitchFamily="34" charset="0"/>
              <a:buChar char="•"/>
            </a:pPr>
            <a:r>
              <a:rPr lang="es-MX" b="1" i="0" dirty="0">
                <a:effectLst/>
                <a:latin typeface="BentonBook"/>
              </a:rPr>
              <a:t>Detección de oportunidad</a:t>
            </a:r>
            <a:r>
              <a:rPr lang="es-MX" b="0" i="0" dirty="0">
                <a:effectLst/>
                <a:latin typeface="BentonBook"/>
              </a:rPr>
              <a:t>. Definidas estas necesidades, detectar la oportunidad de negocio que solventará los problemas del usuario.</a:t>
            </a:r>
          </a:p>
          <a:p>
            <a:pPr algn="l">
              <a:buFont typeface="Arial" panose="020B0604020202020204" pitchFamily="34" charset="0"/>
              <a:buChar char="•"/>
            </a:pPr>
            <a:r>
              <a:rPr lang="es-MX" b="1" i="0" dirty="0">
                <a:effectLst/>
                <a:latin typeface="BentonBook"/>
              </a:rPr>
              <a:t>Ideación de soluciones</a:t>
            </a:r>
            <a:r>
              <a:rPr lang="es-MX" b="0" i="0" dirty="0">
                <a:effectLst/>
                <a:latin typeface="BentonBook"/>
              </a:rPr>
              <a:t>. Estudio de ideas y posibilidades sobre cómo abordar el problema existente en el mercado.</a:t>
            </a:r>
          </a:p>
          <a:p>
            <a:pPr algn="l">
              <a:buFont typeface="Arial" panose="020B0604020202020204" pitchFamily="34" charset="0"/>
              <a:buChar char="•"/>
            </a:pPr>
            <a:r>
              <a:rPr lang="es-MX" b="1" i="0" dirty="0">
                <a:effectLst/>
                <a:latin typeface="BentonBook"/>
              </a:rPr>
              <a:t>Priorización de la solución</a:t>
            </a:r>
            <a:r>
              <a:rPr lang="es-MX" b="0" i="0" dirty="0">
                <a:effectLst/>
                <a:latin typeface="BentonBook"/>
              </a:rPr>
              <a:t>. Tras el análisis se elige una solución y se prioriza su desarrollo con el objetivo de conseguir un producto mínimo viable.</a:t>
            </a:r>
          </a:p>
          <a:p>
            <a:pPr algn="l">
              <a:buFont typeface="Arial" panose="020B0604020202020204" pitchFamily="34" charset="0"/>
              <a:buChar char="•"/>
            </a:pPr>
            <a:r>
              <a:rPr lang="es-MX" b="1" i="0" dirty="0">
                <a:effectLst/>
                <a:latin typeface="BentonBook"/>
              </a:rPr>
              <a:t>Construcción del producto mínimo viable según hipótesis</a:t>
            </a:r>
            <a:r>
              <a:rPr lang="es-MX" b="0" i="0" dirty="0">
                <a:effectLst/>
                <a:latin typeface="BentonBook"/>
              </a:rPr>
              <a:t>. Desarrollo del producto y sus características atendiendo al aprendizaje extraído del análisis y estudio previo.</a:t>
            </a:r>
          </a:p>
        </p:txBody>
      </p:sp>
    </p:spTree>
    <p:extLst>
      <p:ext uri="{BB962C8B-B14F-4D97-AF65-F5344CB8AC3E}">
        <p14:creationId xmlns:p14="http://schemas.microsoft.com/office/powerpoint/2010/main" val="36829686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102131-6578-AC50-E6C2-CE4A20CF1D5F}"/>
              </a:ext>
            </a:extLst>
          </p:cNvPr>
          <p:cNvSpPr>
            <a:spLocks noGrp="1"/>
          </p:cNvSpPr>
          <p:nvPr>
            <p:ph type="title"/>
          </p:nvPr>
        </p:nvSpPr>
        <p:spPr/>
        <p:txBody>
          <a:bodyPr/>
          <a:lstStyle/>
          <a:p>
            <a:r>
              <a:rPr lang="es-MX" dirty="0"/>
              <a:t>Las fases del método 'Lean Startup'</a:t>
            </a:r>
            <a:br>
              <a:rPr lang="es-MX" dirty="0"/>
            </a:br>
            <a:r>
              <a:rPr lang="es-AR" dirty="0"/>
              <a:t> </a:t>
            </a:r>
          </a:p>
        </p:txBody>
      </p:sp>
      <p:sp>
        <p:nvSpPr>
          <p:cNvPr id="3" name="Marcador de contenido 2">
            <a:extLst>
              <a:ext uri="{FF2B5EF4-FFF2-40B4-BE49-F238E27FC236}">
                <a16:creationId xmlns:a16="http://schemas.microsoft.com/office/drawing/2014/main" id="{834B051D-045D-8061-D4B8-1B1D3251E48D}"/>
              </a:ext>
            </a:extLst>
          </p:cNvPr>
          <p:cNvSpPr>
            <a:spLocks noGrp="1"/>
          </p:cNvSpPr>
          <p:nvPr>
            <p:ph idx="1"/>
          </p:nvPr>
        </p:nvSpPr>
        <p:spPr>
          <a:xfrm>
            <a:off x="742950" y="1331259"/>
            <a:ext cx="9991726" cy="4195481"/>
          </a:xfrm>
        </p:spPr>
        <p:txBody>
          <a:bodyPr>
            <a:noAutofit/>
          </a:bodyPr>
          <a:lstStyle/>
          <a:p>
            <a:pPr algn="l">
              <a:buFont typeface="Arial" panose="020B0604020202020204" pitchFamily="34" charset="0"/>
              <a:buChar char="•"/>
            </a:pPr>
            <a:r>
              <a:rPr lang="es-MX" b="1" i="0" dirty="0">
                <a:effectLst/>
                <a:latin typeface="BentonBook"/>
              </a:rPr>
              <a:t>Medición de resultados</a:t>
            </a:r>
            <a:r>
              <a:rPr lang="es-MX" b="0" i="0" dirty="0">
                <a:effectLst/>
                <a:latin typeface="BentonBook"/>
              </a:rPr>
              <a:t>. Tras el lanzamiento al mercado del producto mínimo para testarlo, se recopila y analiza el '</a:t>
            </a:r>
            <a:r>
              <a:rPr lang="es-MX" b="0" i="0" dirty="0" err="1">
                <a:effectLst/>
                <a:latin typeface="BentonBook"/>
              </a:rPr>
              <a:t>feedback</a:t>
            </a:r>
            <a:r>
              <a:rPr lang="es-MX" b="0" i="0" dirty="0">
                <a:effectLst/>
                <a:latin typeface="BentonBook"/>
              </a:rPr>
              <a:t>' aportado por los usuarios. Después, se adapta el producto al mismo, mejorando sus características.</a:t>
            </a:r>
          </a:p>
          <a:p>
            <a:pPr algn="l">
              <a:buFont typeface="Arial" panose="020B0604020202020204" pitchFamily="34" charset="0"/>
              <a:buChar char="•"/>
            </a:pPr>
            <a:r>
              <a:rPr lang="es-MX" b="1" i="0" dirty="0">
                <a:effectLst/>
                <a:latin typeface="BentonBook"/>
              </a:rPr>
              <a:t>Aprendizaje de errores y detección de fortalezas</a:t>
            </a:r>
            <a:r>
              <a:rPr lang="es-MX" b="0" i="0" dirty="0">
                <a:effectLst/>
                <a:latin typeface="BentonBook"/>
              </a:rPr>
              <a:t>. El análisis y el estudio continuo de todas las fases del proceso de desarrollo del método 'Lean Startup' aportará información sobre los fallos a evitar y también sobre los aspectos positivos que incluir en otros.</a:t>
            </a:r>
          </a:p>
          <a:p>
            <a:pPr algn="l">
              <a:buFont typeface="Arial" panose="020B0604020202020204" pitchFamily="34" charset="0"/>
              <a:buChar char="•"/>
            </a:pPr>
            <a:r>
              <a:rPr lang="es-MX" b="1" i="0" dirty="0">
                <a:effectLst/>
                <a:latin typeface="BentonBook"/>
              </a:rPr>
              <a:t>Validación</a:t>
            </a:r>
            <a:r>
              <a:rPr lang="es-MX" b="0" i="0" dirty="0">
                <a:effectLst/>
                <a:latin typeface="BentonBook"/>
              </a:rPr>
              <a:t>. Cuando se llega al producto final, en función de los análisis obtenidos, se decide si este cumple con las expectativas de mercado.</a:t>
            </a:r>
          </a:p>
          <a:p>
            <a:pPr algn="l">
              <a:buFont typeface="Arial" panose="020B0604020202020204" pitchFamily="34" charset="0"/>
              <a:buChar char="•"/>
            </a:pPr>
            <a:r>
              <a:rPr lang="es-MX" b="1" i="0" dirty="0">
                <a:effectLst/>
                <a:latin typeface="BentonBook"/>
              </a:rPr>
              <a:t>Iteración</a:t>
            </a:r>
            <a:r>
              <a:rPr lang="es-MX" b="0" i="0" dirty="0">
                <a:effectLst/>
                <a:latin typeface="BentonBook"/>
              </a:rPr>
              <a:t>. Repetir el proceso de mejora tantas veces como sea necesario para afinar el producto final.</a:t>
            </a:r>
          </a:p>
          <a:p>
            <a:pPr algn="l">
              <a:buFont typeface="Arial" panose="020B0604020202020204" pitchFamily="34" charset="0"/>
              <a:buChar char="•"/>
            </a:pPr>
            <a:r>
              <a:rPr lang="es-MX" b="1" i="0" dirty="0">
                <a:effectLst/>
                <a:latin typeface="BentonBook"/>
              </a:rPr>
              <a:t>Decisión de pivotar</a:t>
            </a:r>
            <a:r>
              <a:rPr lang="es-MX" b="0" i="0" dirty="0">
                <a:effectLst/>
                <a:latin typeface="BentonBook"/>
              </a:rPr>
              <a:t>. Si, cumplidas estas etapas, se detecta que el producto o servicio no cumple los objetivos que demanda el mercado, la opción más conveniente es </a:t>
            </a:r>
            <a:r>
              <a:rPr lang="es-MX" b="0" i="0" u="none" strike="noStrike" dirty="0">
                <a:effectLst/>
                <a:latin typeface="BentonBook"/>
                <a:hlinkClick r:id="rId3">
                  <a:extLst>
                    <a:ext uri="{A12FA001-AC4F-418D-AE19-62706E023703}">
                      <ahyp:hlinkClr xmlns:ahyp="http://schemas.microsoft.com/office/drawing/2018/hyperlinkcolor" val="tx"/>
                    </a:ext>
                  </a:extLst>
                </a:hlinkClick>
              </a:rPr>
              <a:t>pivotar</a:t>
            </a:r>
            <a:r>
              <a:rPr lang="es-MX" b="0" i="0" dirty="0">
                <a:effectLst/>
                <a:latin typeface="BentonBook"/>
              </a:rPr>
              <a:t>, es decir, cambiar aspectos claves del negocio para que encaje en el mercado.</a:t>
            </a:r>
          </a:p>
        </p:txBody>
      </p:sp>
    </p:spTree>
    <p:extLst>
      <p:ext uri="{BB962C8B-B14F-4D97-AF65-F5344CB8AC3E}">
        <p14:creationId xmlns:p14="http://schemas.microsoft.com/office/powerpoint/2010/main" val="1380970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A77E7D-7AA0-C2B8-CA86-ECCDEC7BD248}"/>
              </a:ext>
            </a:extLst>
          </p:cNvPr>
          <p:cNvSpPr>
            <a:spLocks noGrp="1"/>
          </p:cNvSpPr>
          <p:nvPr>
            <p:ph type="title"/>
          </p:nvPr>
        </p:nvSpPr>
        <p:spPr/>
        <p:txBody>
          <a:bodyPr/>
          <a:lstStyle/>
          <a:p>
            <a:r>
              <a:rPr lang="es-AR" dirty="0"/>
              <a:t>Ejemplo</a:t>
            </a:r>
          </a:p>
        </p:txBody>
      </p:sp>
      <p:sp>
        <p:nvSpPr>
          <p:cNvPr id="3" name="Marcador de contenido 2">
            <a:extLst>
              <a:ext uri="{FF2B5EF4-FFF2-40B4-BE49-F238E27FC236}">
                <a16:creationId xmlns:a16="http://schemas.microsoft.com/office/drawing/2014/main" id="{6AE8973C-2406-CA95-6C9C-C166E9200E4E}"/>
              </a:ext>
            </a:extLst>
          </p:cNvPr>
          <p:cNvSpPr>
            <a:spLocks noGrp="1"/>
          </p:cNvSpPr>
          <p:nvPr>
            <p:ph idx="1"/>
          </p:nvPr>
        </p:nvSpPr>
        <p:spPr>
          <a:xfrm>
            <a:off x="523876" y="1331259"/>
            <a:ext cx="11268074" cy="4195481"/>
          </a:xfrm>
        </p:spPr>
        <p:txBody>
          <a:bodyPr>
            <a:noAutofit/>
          </a:bodyPr>
          <a:lstStyle/>
          <a:p>
            <a:r>
              <a:rPr lang="es-AR" sz="1800" b="1" dirty="0"/>
              <a:t>Innovación Disruptiva (Tesla):</a:t>
            </a:r>
            <a:r>
              <a:rPr lang="es-AR" sz="1800" dirty="0"/>
              <a:t> Cambió las reglas del mercado automotriz al introducir vehículos eléctricos de alto rendimiento, desafiando a los fabricantes tradicionales y diversificándose hacia el almacenamiento de energía.</a:t>
            </a:r>
          </a:p>
          <a:p>
            <a:r>
              <a:rPr lang="es-AR" sz="1800" b="1" dirty="0"/>
              <a:t>Innovación en Modelo de Negocio (Netflix/Spotify):</a:t>
            </a:r>
            <a:r>
              <a:rPr lang="es-AR" sz="1800" dirty="0"/>
              <a:t> Cambiaron el formato de compra/alquiler físico por un modelo de suscripción digital, transformando el consumo de entretenimiento.</a:t>
            </a:r>
          </a:p>
          <a:p>
            <a:r>
              <a:rPr lang="es-AR" sz="1800" b="1" dirty="0"/>
              <a:t>Innovación de Ecosistema (Apple):</a:t>
            </a:r>
            <a:r>
              <a:rPr lang="es-AR" sz="1800" dirty="0"/>
              <a:t> Estrategia centrada en la interconexión de dispositivos (iPhone, iPad, Mac) y servicios (Apple </a:t>
            </a:r>
            <a:r>
              <a:rPr lang="es-AR" sz="1800" dirty="0" err="1"/>
              <a:t>Pay</a:t>
            </a:r>
            <a:r>
              <a:rPr lang="es-AR" sz="1800" dirty="0"/>
              <a:t>, iCloud), logrando una alta fidelización del cliente.</a:t>
            </a:r>
          </a:p>
          <a:p>
            <a:r>
              <a:rPr lang="es-AR" sz="1800" b="1" dirty="0"/>
              <a:t>Innovación Abierta (Procter &amp; Gamble):</a:t>
            </a:r>
            <a:r>
              <a:rPr lang="es-AR" sz="1800" dirty="0"/>
              <a:t> Con su programa </a:t>
            </a:r>
            <a:r>
              <a:rPr lang="es-AR" sz="1800" i="1" dirty="0" err="1"/>
              <a:t>Connect+Develop</a:t>
            </a:r>
            <a:r>
              <a:rPr lang="es-AR" sz="1800" dirty="0"/>
              <a:t>, P&amp;G aceleró la creación de productos colaborando con socios externos en lugar de depender solo de su I+D interno.</a:t>
            </a:r>
          </a:p>
          <a:p>
            <a:r>
              <a:rPr lang="es-AR" sz="1800" b="1" dirty="0"/>
              <a:t>Innovación de Valor/Marketing (</a:t>
            </a:r>
            <a:r>
              <a:rPr lang="es-AR" sz="1800" b="1" dirty="0" err="1"/>
              <a:t>Beyond</a:t>
            </a:r>
            <a:r>
              <a:rPr lang="es-AR" sz="1800" b="1" dirty="0"/>
              <a:t> </a:t>
            </a:r>
            <a:r>
              <a:rPr lang="es-AR" sz="1800" b="1" dirty="0" err="1"/>
              <a:t>Meat</a:t>
            </a:r>
            <a:r>
              <a:rPr lang="es-AR" sz="1800" b="1" dirty="0"/>
              <a:t>):</a:t>
            </a:r>
            <a:r>
              <a:rPr lang="es-AR" sz="1800" dirty="0"/>
              <a:t> Revolucionó la industria alimentaria al ofrecer productos vegetales con un sabor idéntico al de la carne, enfocado en la salud y sostenibilidad.</a:t>
            </a:r>
          </a:p>
          <a:p>
            <a:r>
              <a:rPr lang="es-AR" sz="1800" b="1" dirty="0"/>
              <a:t>Innovación en Procesos (</a:t>
            </a:r>
            <a:r>
              <a:rPr lang="es-AR" sz="1800" b="1" dirty="0" err="1"/>
              <a:t>Singapore</a:t>
            </a:r>
            <a:r>
              <a:rPr lang="es-AR" sz="1800" b="1" dirty="0"/>
              <a:t> Airlines):</a:t>
            </a:r>
            <a:r>
              <a:rPr lang="es-AR" sz="1800" dirty="0"/>
              <a:t> Se diferenciaron no solo por el producto, sino por una estrategia de servicio al cliente superior, redefiniendo la experiencia de vuelo.</a:t>
            </a:r>
          </a:p>
        </p:txBody>
      </p:sp>
    </p:spTree>
    <p:extLst>
      <p:ext uri="{BB962C8B-B14F-4D97-AF65-F5344CB8AC3E}">
        <p14:creationId xmlns:p14="http://schemas.microsoft.com/office/powerpoint/2010/main" val="28877727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43B4FD-561E-1379-7392-EE461DFE7B9F}"/>
              </a:ext>
            </a:extLst>
          </p:cNvPr>
          <p:cNvSpPr>
            <a:spLocks noGrp="1"/>
          </p:cNvSpPr>
          <p:nvPr>
            <p:ph type="title"/>
          </p:nvPr>
        </p:nvSpPr>
        <p:spPr/>
        <p:txBody>
          <a:bodyPr/>
          <a:lstStyle/>
          <a:p>
            <a:r>
              <a:rPr lang="es-AR" dirty="0"/>
              <a:t>Caso práctico</a:t>
            </a:r>
          </a:p>
        </p:txBody>
      </p:sp>
      <p:sp>
        <p:nvSpPr>
          <p:cNvPr id="3" name="Marcador de contenido 2">
            <a:extLst>
              <a:ext uri="{FF2B5EF4-FFF2-40B4-BE49-F238E27FC236}">
                <a16:creationId xmlns:a16="http://schemas.microsoft.com/office/drawing/2014/main" id="{B6459B0E-14E3-4BEE-029D-F55127F5AAC1}"/>
              </a:ext>
            </a:extLst>
          </p:cNvPr>
          <p:cNvSpPr>
            <a:spLocks noGrp="1"/>
          </p:cNvSpPr>
          <p:nvPr>
            <p:ph idx="1"/>
          </p:nvPr>
        </p:nvSpPr>
        <p:spPr/>
        <p:txBody>
          <a:bodyPr/>
          <a:lstStyle/>
          <a:p>
            <a:pPr marL="0" indent="0">
              <a:buNone/>
            </a:pPr>
            <a:r>
              <a:rPr lang="es-AR" dirty="0"/>
              <a:t>“Una empresa de </a:t>
            </a:r>
            <a:r>
              <a:rPr lang="es-AR" dirty="0" err="1"/>
              <a:t>retail</a:t>
            </a:r>
            <a:r>
              <a:rPr lang="es-AR" dirty="0"/>
              <a:t> pierde clientes porque la competencia vende online.”</a:t>
            </a:r>
          </a:p>
          <a:p>
            <a:pPr marL="0" indent="0">
              <a:buNone/>
            </a:pPr>
            <a:r>
              <a:rPr lang="es-AR" dirty="0"/>
              <a:t>Realizar lo siguiente:</a:t>
            </a:r>
          </a:p>
          <a:p>
            <a:pPr marL="457200" indent="-457200">
              <a:buFont typeface="+mj-lt"/>
              <a:buAutoNum type="arabicPeriod"/>
            </a:pPr>
            <a:r>
              <a:rPr lang="es-AR" dirty="0"/>
              <a:t>Definir estrategia</a:t>
            </a:r>
          </a:p>
          <a:p>
            <a:pPr marL="457200" indent="-457200">
              <a:buFont typeface="+mj-lt"/>
              <a:buAutoNum type="arabicPeriod"/>
            </a:pPr>
            <a:r>
              <a:rPr lang="es-AR" dirty="0"/>
              <a:t>Proponer 1 innovación</a:t>
            </a:r>
          </a:p>
          <a:p>
            <a:pPr marL="457200" indent="-457200">
              <a:buFont typeface="+mj-lt"/>
              <a:buAutoNum type="arabicPeriod"/>
            </a:pPr>
            <a:r>
              <a:rPr lang="es-AR" dirty="0"/>
              <a:t>Explicar por qué está alineada</a:t>
            </a:r>
          </a:p>
        </p:txBody>
      </p:sp>
    </p:spTree>
    <p:extLst>
      <p:ext uri="{BB962C8B-B14F-4D97-AF65-F5344CB8AC3E}">
        <p14:creationId xmlns:p14="http://schemas.microsoft.com/office/powerpoint/2010/main" val="3751049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FDDBAF-61C0-C306-D4EF-D1CFAC9EC4A4}"/>
              </a:ext>
            </a:extLst>
          </p:cNvPr>
          <p:cNvSpPr>
            <a:spLocks noGrp="1"/>
          </p:cNvSpPr>
          <p:nvPr>
            <p:ph type="title"/>
          </p:nvPr>
        </p:nvSpPr>
        <p:spPr/>
        <p:txBody>
          <a:bodyPr/>
          <a:lstStyle/>
          <a:p>
            <a:r>
              <a:rPr lang="es-AR" dirty="0"/>
              <a:t>Antes del recreo veamos las siguientes preguntas</a:t>
            </a:r>
          </a:p>
        </p:txBody>
      </p:sp>
      <p:sp>
        <p:nvSpPr>
          <p:cNvPr id="5" name="Rectangle 2">
            <a:extLst>
              <a:ext uri="{FF2B5EF4-FFF2-40B4-BE49-F238E27FC236}">
                <a16:creationId xmlns:a16="http://schemas.microsoft.com/office/drawing/2014/main" id="{5CF58398-E6AC-66CB-5A0D-EE476742F199}"/>
              </a:ext>
            </a:extLst>
          </p:cNvPr>
          <p:cNvSpPr>
            <a:spLocks noGrp="1" noChangeArrowheads="1"/>
          </p:cNvSpPr>
          <p:nvPr>
            <p:ph idx="1"/>
          </p:nvPr>
        </p:nvSpPr>
        <p:spPr bwMode="auto">
          <a:xfrm>
            <a:off x="1734341" y="1811021"/>
            <a:ext cx="7228261" cy="4473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s-AR" altLang="es-AR" sz="1800" b="0" i="0" u="none" strike="noStrike" cap="none" normalizeH="0" baseline="0" dirty="0">
                <a:ln>
                  <a:noFill/>
                </a:ln>
                <a:solidFill>
                  <a:schemeClr val="tx1"/>
                </a:solidFill>
                <a:effectLst/>
                <a:latin typeface="Arial" panose="020B0604020202020204" pitchFamily="34" charset="0"/>
              </a:rPr>
              <a:t>Defina proyecto de innovación.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s-AR" altLang="es-AR" sz="1800" b="0" i="0" u="none" strike="noStrike" cap="none" normalizeH="0" baseline="0" dirty="0">
                <a:ln>
                  <a:noFill/>
                </a:ln>
                <a:solidFill>
                  <a:schemeClr val="tx1"/>
                </a:solidFill>
                <a:effectLst/>
                <a:latin typeface="Arial" panose="020B0604020202020204" pitchFamily="34" charset="0"/>
              </a:rPr>
              <a:t>Explique los tipos de innovación.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s-AR" altLang="es-AR" sz="1800" b="0" i="0" u="none" strike="noStrike" cap="none" normalizeH="0" baseline="0" dirty="0">
                <a:ln>
                  <a:noFill/>
                </a:ln>
                <a:solidFill>
                  <a:schemeClr val="tx1"/>
                </a:solidFill>
                <a:effectLst/>
                <a:latin typeface="Arial" panose="020B0604020202020204" pitchFamily="34" charset="0"/>
              </a:rPr>
              <a:t>¿Qué es la estrategia del negocio?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s-AR" altLang="es-AR" sz="1800" b="0" i="0" u="none" strike="noStrike" cap="none" normalizeH="0" baseline="0" dirty="0">
                <a:ln>
                  <a:noFill/>
                </a:ln>
                <a:solidFill>
                  <a:schemeClr val="tx1"/>
                </a:solidFill>
                <a:effectLst/>
                <a:latin typeface="Arial" panose="020B0604020202020204" pitchFamily="34" charset="0"/>
              </a:rPr>
              <a:t>¿Por qué es importante la alineación entre innovación y estrategia?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s-AR" altLang="es-AR" sz="1800" b="0" i="0" u="none" strike="noStrike" cap="none" normalizeH="0" baseline="0" dirty="0">
                <a:ln>
                  <a:noFill/>
                </a:ln>
                <a:solidFill>
                  <a:schemeClr val="tx1"/>
                </a:solidFill>
                <a:effectLst/>
                <a:latin typeface="Arial" panose="020B0604020202020204" pitchFamily="34" charset="0"/>
              </a:rPr>
              <a:t>Analice las consecuencias de innovar sin estrategia.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s-AR" altLang="es-AR" sz="1800" b="0" i="0" u="none" strike="noStrike" cap="none" normalizeH="0" baseline="0" dirty="0">
                <a:ln>
                  <a:noFill/>
                </a:ln>
                <a:solidFill>
                  <a:schemeClr val="tx1"/>
                </a:solidFill>
                <a:effectLst/>
                <a:latin typeface="Arial" panose="020B0604020202020204" pitchFamily="34" charset="0"/>
              </a:rPr>
              <a:t>Describa un ejemplo de innovación alineada.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s-AR" altLang="es-AR" sz="1800" b="0" i="0" u="none" strike="noStrike" cap="none" normalizeH="0" baseline="0" dirty="0">
                <a:ln>
                  <a:noFill/>
                </a:ln>
                <a:solidFill>
                  <a:schemeClr val="tx1"/>
                </a:solidFill>
                <a:effectLst/>
                <a:latin typeface="Arial" panose="020B0604020202020204" pitchFamily="34" charset="0"/>
              </a:rPr>
              <a:t>¿Qué indicadores se pueden usar para medir innovación?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s-AR" altLang="es-AR" sz="1800" b="0" i="0" u="none" strike="noStrike" cap="none" normalizeH="0" baseline="0" dirty="0">
                <a:ln>
                  <a:noFill/>
                </a:ln>
                <a:solidFill>
                  <a:schemeClr val="tx1"/>
                </a:solidFill>
                <a:effectLst/>
                <a:latin typeface="Arial" panose="020B0604020202020204" pitchFamily="34" charset="0"/>
              </a:rPr>
              <a:t>Relacione Lean Startup con proyectos de innovación.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s-AR" altLang="es-AR" sz="1800" b="0" i="0" u="none" strike="noStrike" cap="none" normalizeH="0" baseline="0" dirty="0">
                <a:ln>
                  <a:noFill/>
                </a:ln>
                <a:solidFill>
                  <a:schemeClr val="tx1"/>
                </a:solidFill>
                <a:effectLst/>
                <a:latin typeface="Arial" panose="020B0604020202020204" pitchFamily="34" charset="0"/>
              </a:rPr>
              <a:t>Desarrolle el concepto de ventaja competitiva.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s-AR" altLang="es-AR" sz="1800" b="0" i="0" u="none" strike="noStrike" cap="none" normalizeH="0" baseline="0" dirty="0">
                <a:ln>
                  <a:noFill/>
                </a:ln>
                <a:solidFill>
                  <a:schemeClr val="tx1"/>
                </a:solidFill>
                <a:effectLst/>
                <a:latin typeface="Arial" panose="020B0604020202020204" pitchFamily="34" charset="0"/>
              </a:rPr>
              <a:t>Analice un caso donde la innovación no generó valor. </a:t>
            </a:r>
          </a:p>
        </p:txBody>
      </p:sp>
    </p:spTree>
    <p:extLst>
      <p:ext uri="{BB962C8B-B14F-4D97-AF65-F5344CB8AC3E}">
        <p14:creationId xmlns:p14="http://schemas.microsoft.com/office/powerpoint/2010/main" val="2363781704"/>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8EDBA4C13E70F5418B418D8012459F21" ma:contentTypeVersion="3" ma:contentTypeDescription="Crear nuevo documento." ma:contentTypeScope="" ma:versionID="0a304ccaa1773ffe5d2b1e682fa7860d">
  <xsd:schema xmlns:xsd="http://www.w3.org/2001/XMLSchema" xmlns:xs="http://www.w3.org/2001/XMLSchema" xmlns:p="http://schemas.microsoft.com/office/2006/metadata/properties" xmlns:ns2="de7ef2da-48b3-49aa-9fec-64c55b664b94" targetNamespace="http://schemas.microsoft.com/office/2006/metadata/properties" ma:root="true" ma:fieldsID="cf8310444cf7183a730381c58d7a84d3" ns2:_="">
    <xsd:import namespace="de7ef2da-48b3-49aa-9fec-64c55b664b9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7ef2da-48b3-49aa-9fec-64c55b664b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D77F1C-A545-4914-8F0A-6E1B1BF1A588}">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466C317-DCBF-4904-B9E9-A9021994CDE2}">
  <ds:schemaRefs>
    <ds:schemaRef ds:uri="http://schemas.microsoft.com/sharepoint/v3/contenttype/forms"/>
  </ds:schemaRefs>
</ds:datastoreItem>
</file>

<file path=customXml/itemProps3.xml><?xml version="1.0" encoding="utf-8"?>
<ds:datastoreItem xmlns:ds="http://schemas.openxmlformats.org/officeDocument/2006/customXml" ds:itemID="{AE7FE5EF-D9D2-41BD-B5FA-E30D412072F8}"/>
</file>

<file path=docProps/app.xml><?xml version="1.0" encoding="utf-8"?>
<Properties xmlns="http://schemas.openxmlformats.org/officeDocument/2006/extended-properties" xmlns:vt="http://schemas.openxmlformats.org/officeDocument/2006/docPropsVTypes">
  <TotalTime>260</TotalTime>
  <Words>2309</Words>
  <Application>Microsoft Office PowerPoint</Application>
  <PresentationFormat>Panorámica</PresentationFormat>
  <Paragraphs>131</Paragraphs>
  <Slides>25</Slides>
  <Notes>5</Notes>
  <HiddenSlides>0</HiddenSlides>
  <MMClips>0</MMClips>
  <ScaleCrop>false</ScaleCrop>
  <HeadingPairs>
    <vt:vector size="6" baseType="variant">
      <vt:variant>
        <vt:lpstr>Fuentes usadas</vt:lpstr>
      </vt:variant>
      <vt:variant>
        <vt:i4>8</vt:i4>
      </vt:variant>
      <vt:variant>
        <vt:lpstr>Tema</vt:lpstr>
      </vt:variant>
      <vt:variant>
        <vt:i4>2</vt:i4>
      </vt:variant>
      <vt:variant>
        <vt:lpstr>Títulos de diapositiva</vt:lpstr>
      </vt:variant>
      <vt:variant>
        <vt:i4>25</vt:i4>
      </vt:variant>
    </vt:vector>
  </HeadingPairs>
  <TitlesOfParts>
    <vt:vector size="35" baseType="lpstr">
      <vt:lpstr>Amiko</vt:lpstr>
      <vt:lpstr>Arial</vt:lpstr>
      <vt:lpstr>BentonBook</vt:lpstr>
      <vt:lpstr>Calibri</vt:lpstr>
      <vt:lpstr>Century Gothic</vt:lpstr>
      <vt:lpstr>Google Sans</vt:lpstr>
      <vt:lpstr>Neue Haas Grotesk Text Pro</vt:lpstr>
      <vt:lpstr>Wingdings 3</vt:lpstr>
      <vt:lpstr>VanillaVTI</vt:lpstr>
      <vt:lpstr>Ion</vt:lpstr>
      <vt:lpstr>Innovación </vt:lpstr>
      <vt:lpstr>Vamos a reflexionar</vt:lpstr>
      <vt:lpstr>Qué es un proyecto de innovación</vt:lpstr>
      <vt:lpstr>Características</vt:lpstr>
      <vt:lpstr>Por qué es importante un proyecto de innovación</vt:lpstr>
      <vt:lpstr>¿cuáles son los elementos clave de un proyecto de innovación?</vt:lpstr>
      <vt:lpstr>Puntos Clave</vt:lpstr>
      <vt:lpstr>Beneficios que trae</vt:lpstr>
      <vt:lpstr>¿que tipos tiene un proyecto de innovación?</vt:lpstr>
      <vt:lpstr>Cuáles son los componentes clave</vt:lpstr>
      <vt:lpstr> Según el Grado de Cambio o Impacto:</vt:lpstr>
      <vt:lpstr>Según el área de aplicación</vt:lpstr>
      <vt:lpstr>Otros enfoques</vt:lpstr>
      <vt:lpstr>Qué comprendemos por estrategia??</vt:lpstr>
      <vt:lpstr>Cuáles son los componentes para la elaboración de la estrategia de la innovación</vt:lpstr>
      <vt:lpstr>Importancia</vt:lpstr>
      <vt:lpstr>Indicadores (KPIs)</vt:lpstr>
      <vt:lpstr>Características de un KPI Eficaz (SMART)</vt:lpstr>
      <vt:lpstr>Ejemplos Comunes de KPIs por Área</vt:lpstr>
      <vt:lpstr>Pasos para Implementar KPIs</vt:lpstr>
      <vt:lpstr>Las fases del método 'Lean Startup'  </vt:lpstr>
      <vt:lpstr>Las fases del método 'Lean Startup'  </vt:lpstr>
      <vt:lpstr>Ejemplo</vt:lpstr>
      <vt:lpstr>Caso práctico</vt:lpstr>
      <vt:lpstr>Antes del recreo veamos las siguientes preguntas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nro 3 Innovacion</dc:title>
  <dc:creator>ESCANDELL GUSTAVO EMANUEL</dc:creator>
  <cp:lastModifiedBy>BARRIOS MARIO RUBEN</cp:lastModifiedBy>
  <cp:revision>14</cp:revision>
  <dcterms:created xsi:type="dcterms:W3CDTF">2026-03-24T20:05:42Z</dcterms:created>
  <dcterms:modified xsi:type="dcterms:W3CDTF">2026-08-18T18:04:24Z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0x0101008EDBA4C13E70F5418B418D8012459F21</vt:lpwstr>
  </property>
</Properties>
</file>